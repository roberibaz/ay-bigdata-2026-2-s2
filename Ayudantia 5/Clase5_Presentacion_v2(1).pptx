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71" r:id="rId10"/>
    <p:sldId id="272" r:id="rId11"/>
    <p:sldId id="273" r:id="rId12"/>
    <p:sldId id="274" r:id="rId13"/>
    <p:sldId id="275" r:id="rId14"/>
    <p:sldId id="276" r:id="rId15"/>
    <p:sldId id="277" r:id="rId16"/>
    <p:sldId id="278" r:id="rId17"/>
    <p:sldId id="279" r:id="rId18"/>
    <p:sldId id="280" r:id="rId19"/>
    <p:sldId id="281" r:id="rId20"/>
    <p:sldId id="282" r:id="rId21"/>
    <p:sldId id="283" r:id="rId22"/>
    <p:sldId id="284" r:id="rId23"/>
    <p:sldId id="285" r:id="rId24"/>
    <p:sldId id="286"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9BA594-8990-4BBA-BCD0-37ECEF813DE9}" v="318" dt="2026-09-22T19:34:57.8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3B5C03D6-5FED-4901-926A-6002F70D3CF0}" type="datetimeFigureOut">
              <a:t>22/09/2026</a:t>
            </a:fld>
            <a:endParaRPr lang="es-ES"/>
          </a:p>
        </p:txBody>
      </p:sp>
      <p:sp>
        <p:nvSpPr>
          <p:cNvPr id="4" name="Marcador de imagen de diapositiva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EA330C90-CBF4-4B3E-982B-EF11797D5F16}" type="slidenum">
              <a:t>‹Nº›</a:t>
            </a:fld>
            <a:endParaRPr lang="es-ES"/>
          </a:p>
        </p:txBody>
      </p:sp>
    </p:spTree>
    <p:extLst>
      <p:ext uri="{BB962C8B-B14F-4D97-AF65-F5344CB8AC3E}">
        <p14:creationId xmlns:p14="http://schemas.microsoft.com/office/powerpoint/2010/main" val="2961146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Presentacion: repaso de toda la Unidad 2. Aviso: no hay calculadora en la prueba.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de la clase. La Unidad 1 ya se evaluo en el control 1: indices va al final como repaso rapido.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 anoten los seis atajos en la esquina de la hoja.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capas: HDFS guarda, YARN reparte recursos, MapReduce procesa.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Ejercicio corto, 4 minutos. Lo hacen ellos.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Recalcar que el ultimo bloque ocupa lo que mide, no 128 MB.</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Ellos hacen a, b y c. La d queda para el bloque de Spark.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Trampa: alguien va a responder 194.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 es obligatoria; la eleccion real es C o 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Votacion a mano alzada, 3 minutos.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la regla practica.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tipos y un ejemplo de motor cada uno.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Votacion a mano alzada.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Justificar con el patron de acceso.</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parece a NoSQL solo en la escala horizontal.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Raft: mayoria. PACELC agrega que pasa sin particion.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Ellos, 4 minutos.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Numeros impares.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reglas en dos minutos.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Calcado de la pregunta 1 del ano pasado.</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150.000 accesos a 8.</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 las lean ellos en voz alta.</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el numero sale feo, revisen.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3C8BD"/>
        </a:solidFill>
        <a:effectLst/>
      </p:bgPr>
    </p:bg>
    <p:spTree>
      <p:nvGrpSpPr>
        <p:cNvPr id="1" name=""/>
        <p:cNvGrpSpPr/>
        <p:nvPr/>
      </p:nvGrpSpPr>
      <p:grpSpPr>
        <a:xfrm>
          <a:off x="0" y="0"/>
          <a:ext cx="0" cy="0"/>
          <a:chOff x="0" y="0"/>
          <a:chExt cx="0" cy="0"/>
        </a:xfrm>
      </p:grpSpPr>
      <p:sp>
        <p:nvSpPr>
          <p:cNvPr id="2" name="Shape 0"/>
          <p:cNvSpPr/>
          <p:nvPr/>
        </p:nvSpPr>
        <p:spPr>
          <a:xfrm>
            <a:off x="292608" y="201168"/>
            <a:ext cx="11603736" cy="6455664"/>
          </a:xfrm>
          <a:prstGeom prst="roundRect">
            <a:avLst>
              <a:gd name="adj" fmla="val 850"/>
            </a:avLst>
          </a:prstGeom>
          <a:solidFill>
            <a:srgbClr val="FFFFFF"/>
          </a:solidFill>
          <a:ln w="50800">
            <a:solidFill>
              <a:srgbClr val="5A99D1"/>
            </a:solidFill>
            <a:prstDash val="solid"/>
          </a:ln>
        </p:spPr>
      </p:sp>
      <p:sp>
        <p:nvSpPr>
          <p:cNvPr id="3" name="Text 1"/>
          <p:cNvSpPr txBox="1"/>
          <p:nvPr/>
        </p:nvSpPr>
        <p:spPr>
          <a:xfrm>
            <a:off x="914400" y="1783080"/>
            <a:ext cx="10360152" cy="365760"/>
          </a:xfrm>
          <a:prstGeom prst="rect">
            <a:avLst/>
          </a:prstGeom>
          <a:noFill/>
          <a:ln/>
        </p:spPr>
        <p:txBody>
          <a:bodyPr wrap="square" lIns="0" tIns="0" rIns="0" bIns="0" rtlCol="0" anchor="t"/>
          <a:lstStyle/>
          <a:p>
            <a:pPr marL="0" indent="0" algn="ctr">
              <a:buNone/>
            </a:pPr>
            <a:r>
              <a:rPr lang="en-US" sz="1700" b="1" kern="0" spc="400" dirty="0">
                <a:solidFill>
                  <a:srgbClr val="4BABA0"/>
                </a:solidFill>
                <a:latin typeface="Arial" pitchFamily="34" charset="0"/>
                <a:ea typeface="Arial" pitchFamily="34" charset="-122"/>
                <a:cs typeface="Arial" pitchFamily="34" charset="-120"/>
              </a:rPr>
              <a:t>AYUDANTÍA · BIG DATA</a:t>
            </a:r>
            <a:endParaRPr lang="en-US" sz="1700" dirty="0"/>
          </a:p>
        </p:txBody>
      </p:sp>
      <p:sp>
        <p:nvSpPr>
          <p:cNvPr id="4" name="Text 2"/>
          <p:cNvSpPr txBox="1"/>
          <p:nvPr/>
        </p:nvSpPr>
        <p:spPr>
          <a:xfrm>
            <a:off x="914400" y="2148840"/>
            <a:ext cx="10360152" cy="868680"/>
          </a:xfrm>
          <a:prstGeom prst="rect">
            <a:avLst/>
          </a:prstGeom>
          <a:noFill/>
          <a:ln/>
        </p:spPr>
        <p:txBody>
          <a:bodyPr wrap="square" lIns="0" tIns="0" rIns="0" bIns="0" rtlCol="0" anchor="t"/>
          <a:lstStyle/>
          <a:p>
            <a:pPr marL="0" indent="0" algn="ctr">
              <a:buNone/>
            </a:pPr>
            <a:r>
              <a:rPr lang="en-US" sz="6400" b="1" dirty="0">
                <a:solidFill>
                  <a:srgbClr val="DE6B12"/>
                </a:solidFill>
                <a:latin typeface="Arial" pitchFamily="34" charset="0"/>
                <a:ea typeface="Arial" pitchFamily="34" charset="-122"/>
                <a:cs typeface="Arial" pitchFamily="34" charset="-120"/>
              </a:rPr>
              <a:t>REPASO</a:t>
            </a:r>
            <a:endParaRPr lang="en-US" sz="6400" dirty="0"/>
          </a:p>
        </p:txBody>
      </p:sp>
      <p:sp>
        <p:nvSpPr>
          <p:cNvPr id="5" name="Text 3"/>
          <p:cNvSpPr txBox="1"/>
          <p:nvPr/>
        </p:nvSpPr>
        <p:spPr>
          <a:xfrm>
            <a:off x="914400" y="2971800"/>
            <a:ext cx="10360152" cy="868680"/>
          </a:xfrm>
          <a:prstGeom prst="rect">
            <a:avLst/>
          </a:prstGeom>
          <a:noFill/>
          <a:ln/>
        </p:spPr>
        <p:txBody>
          <a:bodyPr wrap="square" lIns="0" tIns="0" rIns="0" bIns="0" rtlCol="0" anchor="t"/>
          <a:lstStyle/>
          <a:p>
            <a:pPr marL="0" indent="0" algn="ctr">
              <a:buNone/>
            </a:pPr>
            <a:r>
              <a:rPr lang="en-US" sz="6400" b="1" dirty="0">
                <a:solidFill>
                  <a:srgbClr val="355D64"/>
                </a:solidFill>
                <a:latin typeface="Arial" pitchFamily="34" charset="0"/>
                <a:ea typeface="Arial" pitchFamily="34" charset="-122"/>
                <a:cs typeface="Arial" pitchFamily="34" charset="-120"/>
              </a:rPr>
              <a:t>SOLEMNE 1</a:t>
            </a:r>
            <a:endParaRPr lang="en-US" sz="6400" dirty="0"/>
          </a:p>
        </p:txBody>
      </p:sp>
      <p:sp>
        <p:nvSpPr>
          <p:cNvPr id="6" name="Shape 4"/>
          <p:cNvSpPr/>
          <p:nvPr/>
        </p:nvSpPr>
        <p:spPr>
          <a:xfrm>
            <a:off x="4434840" y="4114800"/>
            <a:ext cx="3319272" cy="438912"/>
          </a:xfrm>
          <a:prstGeom prst="rect">
            <a:avLst/>
          </a:prstGeom>
          <a:solidFill>
            <a:srgbClr val="4BABA0"/>
          </a:solidFill>
          <a:ln/>
        </p:spPr>
      </p:sp>
      <p:sp>
        <p:nvSpPr>
          <p:cNvPr id="7" name="Text 5"/>
          <p:cNvSpPr txBox="1"/>
          <p:nvPr/>
        </p:nvSpPr>
        <p:spPr>
          <a:xfrm>
            <a:off x="4434840" y="4224528"/>
            <a:ext cx="3319272" cy="274320"/>
          </a:xfrm>
          <a:prstGeom prst="rect">
            <a:avLst/>
          </a:prstGeom>
          <a:noFill/>
          <a:ln/>
        </p:spPr>
        <p:txBody>
          <a:bodyPr wrap="square" lIns="0" tIns="0" rIns="0" bIns="0" rtlCol="0" anchor="t"/>
          <a:lstStyle/>
          <a:p>
            <a:pPr marL="0" indent="0" algn="ctr">
              <a:buNone/>
            </a:pPr>
            <a:r>
              <a:rPr lang="en-US" sz="1400" b="1" dirty="0">
                <a:solidFill>
                  <a:srgbClr val="FFFFFF"/>
                </a:solidFill>
                <a:latin typeface="Arial" pitchFamily="34" charset="0"/>
                <a:ea typeface="Arial" pitchFamily="34" charset="-122"/>
                <a:cs typeface="Arial" pitchFamily="34" charset="-120"/>
              </a:rPr>
              <a:t>Roberto Ibaceta Cisternas</a:t>
            </a:r>
            <a:endParaRPr lang="en-US" sz="1400" dirty="0"/>
          </a:p>
        </p:txBody>
      </p:sp>
      <p:sp>
        <p:nvSpPr>
          <p:cNvPr id="8" name="Text 6"/>
          <p:cNvSpPr txBox="1"/>
          <p:nvPr/>
        </p:nvSpPr>
        <p:spPr>
          <a:xfrm>
            <a:off x="914400" y="4709160"/>
            <a:ext cx="10360152" cy="274320"/>
          </a:xfrm>
          <a:prstGeom prst="rect">
            <a:avLst/>
          </a:prstGeom>
          <a:noFill/>
          <a:ln/>
        </p:spPr>
        <p:txBody>
          <a:bodyPr wrap="square" lIns="0" tIns="0" rIns="0" bIns="0" rtlCol="0" anchor="t"/>
          <a:lstStyle/>
          <a:p>
            <a:pPr marL="0" indent="0" algn="ctr">
              <a:buNone/>
            </a:pPr>
            <a:r>
              <a:rPr lang="en-US" sz="1150" b="1" kern="0" spc="100" dirty="0">
                <a:solidFill>
                  <a:srgbClr val="355D64"/>
                </a:solidFill>
                <a:latin typeface="Arial" pitchFamily="34" charset="0"/>
                <a:ea typeface="Arial" pitchFamily="34" charset="-122"/>
                <a:cs typeface="Arial" pitchFamily="34" charset="-120"/>
              </a:rPr>
              <a:t>HADOOP · SPARK · CAP · NOSQL · NEWSQL</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83C8BD"/>
        </a:solidFill>
        <a:effectLst/>
      </p:bgPr>
    </p:bg>
    <p:spTree>
      <p:nvGrpSpPr>
        <p:cNvPr id="1" name=""/>
        <p:cNvGrpSpPr/>
        <p:nvPr/>
      </p:nvGrpSpPr>
      <p:grpSpPr>
        <a:xfrm>
          <a:off x="0" y="0"/>
          <a:ext cx="0" cy="0"/>
          <a:chOff x="0" y="0"/>
          <a:chExt cx="0" cy="0"/>
        </a:xfrm>
      </p:grpSpPr>
      <p:sp>
        <p:nvSpPr>
          <p:cNvPr id="2" name="Shape 0"/>
          <p:cNvSpPr/>
          <p:nvPr/>
        </p:nvSpPr>
        <p:spPr>
          <a:xfrm>
            <a:off x="292608" y="201168"/>
            <a:ext cx="11603736" cy="6455664"/>
          </a:xfrm>
          <a:prstGeom prst="roundRect">
            <a:avLst>
              <a:gd name="adj" fmla="val 779"/>
            </a:avLst>
          </a:prstGeom>
          <a:solidFill>
            <a:srgbClr val="FFFFFF"/>
          </a:solidFill>
          <a:ln w="50800">
            <a:solidFill>
              <a:srgbClr val="5A99D1"/>
            </a:solidFill>
            <a:prstDash val="solid"/>
          </a:ln>
        </p:spPr>
      </p:sp>
      <p:sp>
        <p:nvSpPr>
          <p:cNvPr id="3" name="Text 1"/>
          <p:cNvSpPr txBox="1"/>
          <p:nvPr/>
        </p:nvSpPr>
        <p:spPr>
          <a:xfrm>
            <a:off x="777240" y="420624"/>
            <a:ext cx="10634472" cy="502920"/>
          </a:xfrm>
          <a:prstGeom prst="rect">
            <a:avLst/>
          </a:prstGeom>
          <a:noFill/>
          <a:ln/>
        </p:spPr>
        <p:txBody>
          <a:bodyPr wrap="square" lIns="0" tIns="0" rIns="0" bIns="0" rtlCol="0" anchor="t"/>
          <a:lstStyle/>
          <a:p>
            <a:pPr marL="0" indent="0">
              <a:buNone/>
            </a:pPr>
            <a:r>
              <a:rPr lang="en-US" sz="3000" b="1" dirty="0">
                <a:solidFill>
                  <a:srgbClr val="DE6B12"/>
                </a:solidFill>
                <a:latin typeface="Arial" pitchFamily="34" charset="0"/>
                <a:ea typeface="Arial" pitchFamily="34" charset="-122"/>
                <a:cs typeface="Arial" pitchFamily="34" charset="-120"/>
              </a:rPr>
              <a:t>¿Qué veremos hoy?</a:t>
            </a:r>
            <a:endParaRPr lang="en-US" sz="3000" dirty="0"/>
          </a:p>
        </p:txBody>
      </p:sp>
      <p:sp>
        <p:nvSpPr>
          <p:cNvPr id="4" name="Text 2"/>
          <p:cNvSpPr txBox="1"/>
          <p:nvPr/>
        </p:nvSpPr>
        <p:spPr>
          <a:xfrm>
            <a:off x="777240" y="941832"/>
            <a:ext cx="10634472" cy="274320"/>
          </a:xfrm>
          <a:prstGeom prst="rect">
            <a:avLst/>
          </a:prstGeom>
          <a:noFill/>
          <a:ln/>
        </p:spPr>
        <p:txBody>
          <a:bodyPr wrap="square" lIns="0" tIns="0" rIns="0" bIns="0" rtlCol="0" anchor="t"/>
          <a:lstStyle/>
          <a:p>
            <a:pPr marL="0" indent="0">
              <a:buNone/>
            </a:pPr>
            <a:r>
              <a:rPr lang="en-US" sz="1200" b="1" dirty="0">
                <a:solidFill>
                  <a:srgbClr val="355D64"/>
                </a:solidFill>
                <a:latin typeface="Arial" pitchFamily="34" charset="0"/>
                <a:ea typeface="Arial" pitchFamily="34" charset="-122"/>
                <a:cs typeface="Arial" pitchFamily="34" charset="-120"/>
              </a:rPr>
              <a:t>Todo el temario de la Unidad 2, con ejercicios</a:t>
            </a:r>
            <a:endParaRPr lang="en-US" sz="1200" dirty="0"/>
          </a:p>
        </p:txBody>
      </p:sp>
      <p:sp>
        <p:nvSpPr>
          <p:cNvPr id="5" name="Text 3"/>
          <p:cNvSpPr txBox="1"/>
          <p:nvPr/>
        </p:nvSpPr>
        <p:spPr>
          <a:xfrm>
            <a:off x="777240" y="1600200"/>
            <a:ext cx="502920" cy="274320"/>
          </a:xfrm>
          <a:prstGeom prst="rect">
            <a:avLst/>
          </a:prstGeom>
          <a:noFill/>
          <a:ln/>
        </p:spPr>
        <p:txBody>
          <a:bodyPr wrap="square" lIns="0" tIns="0" rIns="0" bIns="0" rtlCol="0" anchor="t"/>
          <a:lstStyle/>
          <a:p>
            <a:pPr marL="0" indent="0">
              <a:buNone/>
            </a:pPr>
            <a:r>
              <a:rPr lang="en-US" sz="1600" b="1" dirty="0">
                <a:solidFill>
                  <a:srgbClr val="DE6B12"/>
                </a:solidFill>
                <a:latin typeface="Arial" pitchFamily="34" charset="0"/>
                <a:ea typeface="Arial" pitchFamily="34" charset="-122"/>
                <a:cs typeface="Arial" pitchFamily="34" charset="-120"/>
              </a:rPr>
              <a:t>01</a:t>
            </a:r>
            <a:endParaRPr lang="en-US" sz="1600" dirty="0"/>
          </a:p>
        </p:txBody>
      </p:sp>
      <p:sp>
        <p:nvSpPr>
          <p:cNvPr id="6" name="Text 4"/>
          <p:cNvSpPr txBox="1"/>
          <p:nvPr/>
        </p:nvSpPr>
        <p:spPr>
          <a:xfrm>
            <a:off x="1344168" y="1618488"/>
            <a:ext cx="3200400" cy="274320"/>
          </a:xfrm>
          <a:prstGeom prst="rect">
            <a:avLst/>
          </a:prstGeom>
          <a:noFill/>
          <a:ln/>
        </p:spPr>
        <p:txBody>
          <a:bodyPr wrap="square" lIns="0" tIns="0" rIns="0" bIns="0" rtlCol="0" anchor="t"/>
          <a:lstStyle/>
          <a:p>
            <a:pPr marL="0" indent="0">
              <a:buNone/>
            </a:pPr>
            <a:r>
              <a:rPr lang="en-US" sz="1400" b="1" dirty="0">
                <a:solidFill>
                  <a:srgbClr val="355D64"/>
                </a:solidFill>
                <a:latin typeface="Arial" pitchFamily="34" charset="0"/>
                <a:ea typeface="Arial" pitchFamily="34" charset="-122"/>
                <a:cs typeface="Arial" pitchFamily="34" charset="-120"/>
              </a:rPr>
              <a:t>Consejos para calcular</a:t>
            </a:r>
            <a:endParaRPr lang="en-US" sz="1400" dirty="0"/>
          </a:p>
        </p:txBody>
      </p:sp>
      <p:sp>
        <p:nvSpPr>
          <p:cNvPr id="8" name="Shape 6"/>
          <p:cNvSpPr/>
          <p:nvPr/>
        </p:nvSpPr>
        <p:spPr>
          <a:xfrm>
            <a:off x="777240" y="1929384"/>
            <a:ext cx="5029200" cy="0"/>
          </a:xfrm>
          <a:prstGeom prst="line">
            <a:avLst/>
          </a:prstGeom>
          <a:noFill/>
          <a:ln w="15875">
            <a:solidFill>
              <a:srgbClr val="355D64"/>
            </a:solidFill>
            <a:prstDash val="solid"/>
          </a:ln>
        </p:spPr>
      </p:sp>
      <p:sp>
        <p:nvSpPr>
          <p:cNvPr id="9" name="Text 7"/>
          <p:cNvSpPr txBox="1"/>
          <p:nvPr/>
        </p:nvSpPr>
        <p:spPr>
          <a:xfrm>
            <a:off x="777240" y="2203704"/>
            <a:ext cx="502920" cy="274320"/>
          </a:xfrm>
          <a:prstGeom prst="rect">
            <a:avLst/>
          </a:prstGeom>
          <a:noFill/>
          <a:ln/>
        </p:spPr>
        <p:txBody>
          <a:bodyPr wrap="square" lIns="0" tIns="0" rIns="0" bIns="0" rtlCol="0" anchor="t"/>
          <a:lstStyle/>
          <a:p>
            <a:pPr marL="0" indent="0">
              <a:buNone/>
            </a:pPr>
            <a:r>
              <a:rPr lang="en-US" sz="1600" b="1" dirty="0">
                <a:solidFill>
                  <a:srgbClr val="DE6B12"/>
                </a:solidFill>
                <a:latin typeface="Arial" pitchFamily="34" charset="0"/>
                <a:ea typeface="Arial" pitchFamily="34" charset="-122"/>
                <a:cs typeface="Arial" pitchFamily="34" charset="-120"/>
              </a:rPr>
              <a:t>02</a:t>
            </a:r>
            <a:endParaRPr lang="en-US" sz="1600" dirty="0"/>
          </a:p>
        </p:txBody>
      </p:sp>
      <p:sp>
        <p:nvSpPr>
          <p:cNvPr id="10" name="Text 8"/>
          <p:cNvSpPr txBox="1"/>
          <p:nvPr/>
        </p:nvSpPr>
        <p:spPr>
          <a:xfrm>
            <a:off x="1344168" y="2221992"/>
            <a:ext cx="3200400" cy="274320"/>
          </a:xfrm>
          <a:prstGeom prst="rect">
            <a:avLst/>
          </a:prstGeom>
          <a:noFill/>
          <a:ln/>
        </p:spPr>
        <p:txBody>
          <a:bodyPr wrap="square" lIns="0" tIns="0" rIns="0" bIns="0" rtlCol="0" anchor="t"/>
          <a:lstStyle/>
          <a:p>
            <a:pPr marL="0" indent="0">
              <a:buNone/>
            </a:pPr>
            <a:r>
              <a:rPr lang="en-US" sz="1400" b="1" dirty="0">
                <a:solidFill>
                  <a:srgbClr val="355D64"/>
                </a:solidFill>
                <a:latin typeface="Arial" pitchFamily="34" charset="0"/>
                <a:ea typeface="Arial" pitchFamily="34" charset="-122"/>
                <a:cs typeface="Arial" pitchFamily="34" charset="-120"/>
              </a:rPr>
              <a:t>Hadoop · HDFS y YARN</a:t>
            </a:r>
            <a:endParaRPr lang="en-US" sz="1400" dirty="0"/>
          </a:p>
        </p:txBody>
      </p:sp>
      <p:sp>
        <p:nvSpPr>
          <p:cNvPr id="12" name="Shape 10"/>
          <p:cNvSpPr/>
          <p:nvPr/>
        </p:nvSpPr>
        <p:spPr>
          <a:xfrm>
            <a:off x="777240" y="2532888"/>
            <a:ext cx="5029200" cy="0"/>
          </a:xfrm>
          <a:prstGeom prst="line">
            <a:avLst/>
          </a:prstGeom>
          <a:noFill/>
          <a:ln w="15875">
            <a:solidFill>
              <a:srgbClr val="355D64"/>
            </a:solidFill>
            <a:prstDash val="solid"/>
          </a:ln>
        </p:spPr>
      </p:sp>
      <p:sp>
        <p:nvSpPr>
          <p:cNvPr id="13" name="Text 11"/>
          <p:cNvSpPr txBox="1"/>
          <p:nvPr/>
        </p:nvSpPr>
        <p:spPr>
          <a:xfrm>
            <a:off x="777240" y="2807208"/>
            <a:ext cx="502920" cy="274320"/>
          </a:xfrm>
          <a:prstGeom prst="rect">
            <a:avLst/>
          </a:prstGeom>
          <a:noFill/>
          <a:ln/>
        </p:spPr>
        <p:txBody>
          <a:bodyPr wrap="square" lIns="0" tIns="0" rIns="0" bIns="0" rtlCol="0" anchor="t"/>
          <a:lstStyle/>
          <a:p>
            <a:pPr marL="0" indent="0">
              <a:buNone/>
            </a:pPr>
            <a:r>
              <a:rPr lang="en-US" sz="1600" b="1" dirty="0">
                <a:solidFill>
                  <a:srgbClr val="DE6B12"/>
                </a:solidFill>
                <a:latin typeface="Arial" pitchFamily="34" charset="0"/>
                <a:ea typeface="Arial" pitchFamily="34" charset="-122"/>
                <a:cs typeface="Arial" pitchFamily="34" charset="-120"/>
              </a:rPr>
              <a:t>03</a:t>
            </a:r>
            <a:endParaRPr lang="en-US" sz="1600" dirty="0"/>
          </a:p>
        </p:txBody>
      </p:sp>
      <p:sp>
        <p:nvSpPr>
          <p:cNvPr id="14" name="Text 12"/>
          <p:cNvSpPr txBox="1"/>
          <p:nvPr/>
        </p:nvSpPr>
        <p:spPr>
          <a:xfrm>
            <a:off x="1344168" y="2825496"/>
            <a:ext cx="3200400" cy="274320"/>
          </a:xfrm>
          <a:prstGeom prst="rect">
            <a:avLst/>
          </a:prstGeom>
          <a:noFill/>
          <a:ln/>
        </p:spPr>
        <p:txBody>
          <a:bodyPr wrap="square" lIns="0" tIns="0" rIns="0" bIns="0" rtlCol="0" anchor="t"/>
          <a:lstStyle/>
          <a:p>
            <a:pPr marL="0" indent="0">
              <a:buNone/>
            </a:pPr>
            <a:r>
              <a:rPr lang="en-US" sz="1400" b="1" dirty="0">
                <a:solidFill>
                  <a:srgbClr val="355D64"/>
                </a:solidFill>
                <a:latin typeface="Arial" pitchFamily="34" charset="0"/>
                <a:ea typeface="Arial" pitchFamily="34" charset="-122"/>
                <a:cs typeface="Arial" pitchFamily="34" charset="-120"/>
              </a:rPr>
              <a:t>Spark</a:t>
            </a:r>
            <a:endParaRPr lang="en-US" sz="1400" dirty="0"/>
          </a:p>
        </p:txBody>
      </p:sp>
      <p:sp>
        <p:nvSpPr>
          <p:cNvPr id="16" name="Shape 14"/>
          <p:cNvSpPr/>
          <p:nvPr/>
        </p:nvSpPr>
        <p:spPr>
          <a:xfrm>
            <a:off x="777240" y="3136392"/>
            <a:ext cx="5029200" cy="0"/>
          </a:xfrm>
          <a:prstGeom prst="line">
            <a:avLst/>
          </a:prstGeom>
          <a:noFill/>
          <a:ln w="15875">
            <a:solidFill>
              <a:srgbClr val="355D64"/>
            </a:solidFill>
            <a:prstDash val="solid"/>
          </a:ln>
        </p:spPr>
      </p:sp>
      <p:sp>
        <p:nvSpPr>
          <p:cNvPr id="17" name="Text 15"/>
          <p:cNvSpPr txBox="1"/>
          <p:nvPr/>
        </p:nvSpPr>
        <p:spPr>
          <a:xfrm>
            <a:off x="777240" y="3410712"/>
            <a:ext cx="502920" cy="274320"/>
          </a:xfrm>
          <a:prstGeom prst="rect">
            <a:avLst/>
          </a:prstGeom>
          <a:noFill/>
          <a:ln/>
        </p:spPr>
        <p:txBody>
          <a:bodyPr wrap="square" lIns="0" tIns="0" rIns="0" bIns="0" rtlCol="0" anchor="t"/>
          <a:lstStyle/>
          <a:p>
            <a:pPr marL="0" indent="0">
              <a:buNone/>
            </a:pPr>
            <a:r>
              <a:rPr lang="en-US" sz="1600" b="1" dirty="0">
                <a:solidFill>
                  <a:srgbClr val="DE6B12"/>
                </a:solidFill>
                <a:latin typeface="Arial" pitchFamily="34" charset="0"/>
                <a:ea typeface="Arial" pitchFamily="34" charset="-122"/>
                <a:cs typeface="Arial" pitchFamily="34" charset="-120"/>
              </a:rPr>
              <a:t>04</a:t>
            </a:r>
            <a:endParaRPr lang="en-US" sz="1600" dirty="0"/>
          </a:p>
        </p:txBody>
      </p:sp>
      <p:sp>
        <p:nvSpPr>
          <p:cNvPr id="18" name="Text 16"/>
          <p:cNvSpPr txBox="1"/>
          <p:nvPr/>
        </p:nvSpPr>
        <p:spPr>
          <a:xfrm>
            <a:off x="1344168" y="3429000"/>
            <a:ext cx="3200400" cy="274320"/>
          </a:xfrm>
          <a:prstGeom prst="rect">
            <a:avLst/>
          </a:prstGeom>
          <a:noFill/>
          <a:ln/>
        </p:spPr>
        <p:txBody>
          <a:bodyPr wrap="square" lIns="0" tIns="0" rIns="0" bIns="0" rtlCol="0" anchor="t"/>
          <a:lstStyle/>
          <a:p>
            <a:pPr marL="0" indent="0">
              <a:buNone/>
            </a:pPr>
            <a:r>
              <a:rPr lang="en-US" sz="1400" b="1" dirty="0">
                <a:solidFill>
                  <a:srgbClr val="355D64"/>
                </a:solidFill>
                <a:latin typeface="Arial" pitchFamily="34" charset="0"/>
                <a:ea typeface="Arial" pitchFamily="34" charset="-122"/>
                <a:cs typeface="Arial" pitchFamily="34" charset="-120"/>
              </a:rPr>
              <a:t>Teorema CAP</a:t>
            </a:r>
            <a:endParaRPr lang="en-US" sz="1400" dirty="0"/>
          </a:p>
        </p:txBody>
      </p:sp>
      <p:sp>
        <p:nvSpPr>
          <p:cNvPr id="20" name="Shape 18"/>
          <p:cNvSpPr/>
          <p:nvPr/>
        </p:nvSpPr>
        <p:spPr>
          <a:xfrm>
            <a:off x="777240" y="3739896"/>
            <a:ext cx="5029200" cy="0"/>
          </a:xfrm>
          <a:prstGeom prst="line">
            <a:avLst/>
          </a:prstGeom>
          <a:noFill/>
          <a:ln w="15875">
            <a:solidFill>
              <a:srgbClr val="355D64"/>
            </a:solidFill>
            <a:prstDash val="solid"/>
          </a:ln>
        </p:spPr>
      </p:sp>
      <p:sp>
        <p:nvSpPr>
          <p:cNvPr id="21" name="Text 19"/>
          <p:cNvSpPr txBox="1"/>
          <p:nvPr/>
        </p:nvSpPr>
        <p:spPr>
          <a:xfrm>
            <a:off x="6172200" y="1600200"/>
            <a:ext cx="502920" cy="274320"/>
          </a:xfrm>
          <a:prstGeom prst="rect">
            <a:avLst/>
          </a:prstGeom>
          <a:noFill/>
          <a:ln/>
        </p:spPr>
        <p:txBody>
          <a:bodyPr wrap="square" lIns="0" tIns="0" rIns="0" bIns="0" rtlCol="0" anchor="t"/>
          <a:lstStyle/>
          <a:p>
            <a:pPr marL="0" indent="0">
              <a:buNone/>
            </a:pPr>
            <a:r>
              <a:rPr lang="en-US" sz="1600" b="1" dirty="0">
                <a:solidFill>
                  <a:srgbClr val="DE6B12"/>
                </a:solidFill>
                <a:latin typeface="Arial" pitchFamily="34" charset="0"/>
                <a:ea typeface="Arial" pitchFamily="34" charset="-122"/>
                <a:cs typeface="Arial" pitchFamily="34" charset="-120"/>
              </a:rPr>
              <a:t>05</a:t>
            </a:r>
            <a:endParaRPr lang="en-US" sz="1600" dirty="0"/>
          </a:p>
        </p:txBody>
      </p:sp>
      <p:sp>
        <p:nvSpPr>
          <p:cNvPr id="22" name="Text 20"/>
          <p:cNvSpPr txBox="1"/>
          <p:nvPr/>
        </p:nvSpPr>
        <p:spPr>
          <a:xfrm>
            <a:off x="6739128" y="1618488"/>
            <a:ext cx="3200400" cy="274320"/>
          </a:xfrm>
          <a:prstGeom prst="rect">
            <a:avLst/>
          </a:prstGeom>
          <a:noFill/>
          <a:ln/>
        </p:spPr>
        <p:txBody>
          <a:bodyPr wrap="square" lIns="0" tIns="0" rIns="0" bIns="0" rtlCol="0" anchor="t"/>
          <a:lstStyle/>
          <a:p>
            <a:pPr marL="0" indent="0">
              <a:buNone/>
            </a:pPr>
            <a:r>
              <a:rPr lang="en-US" sz="1400" b="1" dirty="0">
                <a:solidFill>
                  <a:srgbClr val="355D64"/>
                </a:solidFill>
                <a:latin typeface="Arial" pitchFamily="34" charset="0"/>
                <a:ea typeface="Arial" pitchFamily="34" charset="-122"/>
                <a:cs typeface="Arial" pitchFamily="34" charset="-120"/>
              </a:rPr>
              <a:t>NoSQL</a:t>
            </a:r>
            <a:endParaRPr lang="en-US" sz="1400" dirty="0"/>
          </a:p>
        </p:txBody>
      </p:sp>
      <p:sp>
        <p:nvSpPr>
          <p:cNvPr id="24" name="Shape 22"/>
          <p:cNvSpPr/>
          <p:nvPr/>
        </p:nvSpPr>
        <p:spPr>
          <a:xfrm>
            <a:off x="6172200" y="1929384"/>
            <a:ext cx="5029200" cy="0"/>
          </a:xfrm>
          <a:prstGeom prst="line">
            <a:avLst/>
          </a:prstGeom>
          <a:noFill/>
          <a:ln w="15875">
            <a:solidFill>
              <a:srgbClr val="355D64"/>
            </a:solidFill>
            <a:prstDash val="solid"/>
          </a:ln>
        </p:spPr>
      </p:sp>
      <p:sp>
        <p:nvSpPr>
          <p:cNvPr id="25" name="Text 23"/>
          <p:cNvSpPr txBox="1"/>
          <p:nvPr/>
        </p:nvSpPr>
        <p:spPr>
          <a:xfrm>
            <a:off x="6172200" y="2203704"/>
            <a:ext cx="502920" cy="274320"/>
          </a:xfrm>
          <a:prstGeom prst="rect">
            <a:avLst/>
          </a:prstGeom>
          <a:noFill/>
          <a:ln/>
        </p:spPr>
        <p:txBody>
          <a:bodyPr wrap="square" lIns="0" tIns="0" rIns="0" bIns="0" rtlCol="0" anchor="t"/>
          <a:lstStyle/>
          <a:p>
            <a:pPr marL="0" indent="0">
              <a:buNone/>
            </a:pPr>
            <a:r>
              <a:rPr lang="en-US" sz="1600" b="1" dirty="0">
                <a:solidFill>
                  <a:srgbClr val="DE6B12"/>
                </a:solidFill>
                <a:latin typeface="Arial" pitchFamily="34" charset="0"/>
                <a:ea typeface="Arial" pitchFamily="34" charset="-122"/>
                <a:cs typeface="Arial" pitchFamily="34" charset="-120"/>
              </a:rPr>
              <a:t>06</a:t>
            </a:r>
            <a:endParaRPr lang="en-US" sz="1600" dirty="0"/>
          </a:p>
        </p:txBody>
      </p:sp>
      <p:sp>
        <p:nvSpPr>
          <p:cNvPr id="26" name="Text 24"/>
          <p:cNvSpPr txBox="1"/>
          <p:nvPr/>
        </p:nvSpPr>
        <p:spPr>
          <a:xfrm>
            <a:off x="6739128" y="2221992"/>
            <a:ext cx="3200400" cy="274320"/>
          </a:xfrm>
          <a:prstGeom prst="rect">
            <a:avLst/>
          </a:prstGeom>
          <a:noFill/>
          <a:ln/>
        </p:spPr>
        <p:txBody>
          <a:bodyPr wrap="square" lIns="0" tIns="0" rIns="0" bIns="0" rtlCol="0" anchor="t"/>
          <a:lstStyle/>
          <a:p>
            <a:pPr marL="0" indent="0">
              <a:buNone/>
            </a:pPr>
            <a:r>
              <a:rPr lang="en-US" sz="1400" b="1" dirty="0">
                <a:solidFill>
                  <a:srgbClr val="355D64"/>
                </a:solidFill>
                <a:latin typeface="Arial" pitchFamily="34" charset="0"/>
                <a:ea typeface="Arial" pitchFamily="34" charset="-122"/>
                <a:cs typeface="Arial" pitchFamily="34" charset="-120"/>
              </a:rPr>
              <a:t>NewSQL</a:t>
            </a:r>
            <a:endParaRPr lang="en-US" sz="1400" dirty="0"/>
          </a:p>
        </p:txBody>
      </p:sp>
      <p:sp>
        <p:nvSpPr>
          <p:cNvPr id="28" name="Shape 26"/>
          <p:cNvSpPr/>
          <p:nvPr/>
        </p:nvSpPr>
        <p:spPr>
          <a:xfrm>
            <a:off x="6172200" y="2532888"/>
            <a:ext cx="5029200" cy="0"/>
          </a:xfrm>
          <a:prstGeom prst="line">
            <a:avLst/>
          </a:prstGeom>
          <a:noFill/>
          <a:ln w="15875">
            <a:solidFill>
              <a:srgbClr val="355D64"/>
            </a:solidFill>
            <a:prstDash val="solid"/>
          </a:ln>
        </p:spPr>
      </p:sp>
      <p:sp>
        <p:nvSpPr>
          <p:cNvPr id="29" name="Text 27"/>
          <p:cNvSpPr txBox="1"/>
          <p:nvPr/>
        </p:nvSpPr>
        <p:spPr>
          <a:xfrm>
            <a:off x="6172200" y="2807208"/>
            <a:ext cx="502920" cy="274320"/>
          </a:xfrm>
          <a:prstGeom prst="rect">
            <a:avLst/>
          </a:prstGeom>
          <a:noFill/>
          <a:ln/>
        </p:spPr>
        <p:txBody>
          <a:bodyPr wrap="square" lIns="0" tIns="0" rIns="0" bIns="0" rtlCol="0" anchor="t"/>
          <a:lstStyle/>
          <a:p>
            <a:pPr marL="0" indent="0">
              <a:buNone/>
            </a:pPr>
            <a:r>
              <a:rPr lang="en-US" sz="1600" b="1" dirty="0">
                <a:solidFill>
                  <a:srgbClr val="DE6B12"/>
                </a:solidFill>
                <a:latin typeface="Arial" pitchFamily="34" charset="0"/>
                <a:ea typeface="Arial" pitchFamily="34" charset="-122"/>
                <a:cs typeface="Arial" pitchFamily="34" charset="-120"/>
              </a:rPr>
              <a:t>07</a:t>
            </a:r>
            <a:endParaRPr lang="en-US" sz="1600" dirty="0"/>
          </a:p>
        </p:txBody>
      </p:sp>
      <p:sp>
        <p:nvSpPr>
          <p:cNvPr id="30" name="Text 28"/>
          <p:cNvSpPr txBox="1"/>
          <p:nvPr/>
        </p:nvSpPr>
        <p:spPr>
          <a:xfrm>
            <a:off x="6739128" y="2825496"/>
            <a:ext cx="3200400" cy="274320"/>
          </a:xfrm>
          <a:prstGeom prst="rect">
            <a:avLst/>
          </a:prstGeom>
          <a:noFill/>
          <a:ln/>
        </p:spPr>
        <p:txBody>
          <a:bodyPr wrap="square" lIns="0" tIns="0" rIns="0" bIns="0" rtlCol="0" anchor="t"/>
          <a:lstStyle/>
          <a:p>
            <a:pPr marL="0" indent="0">
              <a:buNone/>
            </a:pPr>
            <a:r>
              <a:rPr lang="en-US" sz="1400" b="1" dirty="0">
                <a:solidFill>
                  <a:srgbClr val="355D64"/>
                </a:solidFill>
                <a:latin typeface="Arial" pitchFamily="34" charset="0"/>
                <a:ea typeface="Arial" pitchFamily="34" charset="-122"/>
                <a:cs typeface="Arial" pitchFamily="34" charset="-120"/>
              </a:rPr>
              <a:t>Índices (repaso Unidad 1)</a:t>
            </a:r>
            <a:endParaRPr lang="en-US" sz="1400" dirty="0"/>
          </a:p>
        </p:txBody>
      </p:sp>
      <p:sp>
        <p:nvSpPr>
          <p:cNvPr id="32" name="Shape 30"/>
          <p:cNvSpPr/>
          <p:nvPr/>
        </p:nvSpPr>
        <p:spPr>
          <a:xfrm>
            <a:off x="6172200" y="3136392"/>
            <a:ext cx="5029200" cy="0"/>
          </a:xfrm>
          <a:prstGeom prst="line">
            <a:avLst/>
          </a:prstGeom>
          <a:noFill/>
          <a:ln w="15875">
            <a:solidFill>
              <a:srgbClr val="355D64"/>
            </a:solidFill>
            <a:prstDash val="solid"/>
          </a:ln>
        </p:spPr>
      </p:sp>
      <p:sp>
        <p:nvSpPr>
          <p:cNvPr id="33" name="Text 31"/>
          <p:cNvSpPr txBox="1"/>
          <p:nvPr/>
        </p:nvSpPr>
        <p:spPr>
          <a:xfrm>
            <a:off x="6172200" y="3410712"/>
            <a:ext cx="502920" cy="274320"/>
          </a:xfrm>
          <a:prstGeom prst="rect">
            <a:avLst/>
          </a:prstGeom>
          <a:noFill/>
          <a:ln/>
        </p:spPr>
        <p:txBody>
          <a:bodyPr wrap="square" lIns="0" tIns="0" rIns="0" bIns="0" rtlCol="0" anchor="t"/>
          <a:lstStyle/>
          <a:p>
            <a:pPr marL="0" indent="0">
              <a:buNone/>
            </a:pPr>
            <a:r>
              <a:rPr lang="en-US" sz="1600" b="1" dirty="0">
                <a:solidFill>
                  <a:srgbClr val="DE6B12"/>
                </a:solidFill>
                <a:latin typeface="Arial" pitchFamily="34" charset="0"/>
                <a:ea typeface="Arial" pitchFamily="34" charset="-122"/>
                <a:cs typeface="Arial" pitchFamily="34" charset="-120"/>
              </a:rPr>
              <a:t>08</a:t>
            </a:r>
            <a:endParaRPr lang="en-US" sz="1600" dirty="0"/>
          </a:p>
        </p:txBody>
      </p:sp>
      <p:sp>
        <p:nvSpPr>
          <p:cNvPr id="34" name="Text 32"/>
          <p:cNvSpPr txBox="1"/>
          <p:nvPr/>
        </p:nvSpPr>
        <p:spPr>
          <a:xfrm>
            <a:off x="6739128" y="3429000"/>
            <a:ext cx="3200400" cy="274320"/>
          </a:xfrm>
          <a:prstGeom prst="rect">
            <a:avLst/>
          </a:prstGeom>
          <a:noFill/>
          <a:ln/>
        </p:spPr>
        <p:txBody>
          <a:bodyPr wrap="square" lIns="0" tIns="0" rIns="0" bIns="0" rtlCol="0" anchor="t"/>
          <a:lstStyle/>
          <a:p>
            <a:pPr marL="0" indent="0">
              <a:buNone/>
            </a:pPr>
            <a:r>
              <a:rPr lang="en-US" sz="1400" b="1" dirty="0">
                <a:solidFill>
                  <a:srgbClr val="355D64"/>
                </a:solidFill>
                <a:latin typeface="Arial" pitchFamily="34" charset="0"/>
                <a:ea typeface="Arial" pitchFamily="34" charset="-122"/>
                <a:cs typeface="Arial" pitchFamily="34" charset="-120"/>
              </a:rPr>
              <a:t>Consejos finales</a:t>
            </a:r>
            <a:endParaRPr lang="en-US" sz="1400" dirty="0"/>
          </a:p>
        </p:txBody>
      </p:sp>
      <p:sp>
        <p:nvSpPr>
          <p:cNvPr id="36" name="Shape 34"/>
          <p:cNvSpPr/>
          <p:nvPr/>
        </p:nvSpPr>
        <p:spPr>
          <a:xfrm>
            <a:off x="6172200" y="3739896"/>
            <a:ext cx="5029200" cy="0"/>
          </a:xfrm>
          <a:prstGeom prst="line">
            <a:avLst/>
          </a:prstGeom>
          <a:noFill/>
          <a:ln w="15875">
            <a:solidFill>
              <a:srgbClr val="355D64"/>
            </a:solidFill>
            <a:prstDash val="solid"/>
          </a:ln>
        </p:spPr>
      </p:sp>
      <p:pic>
        <p:nvPicPr>
          <p:cNvPr id="37" name="Image 0" descr="/home/claude/memes/gato_lentes.png"/>
          <p:cNvPicPr>
            <a:picLocks noChangeAspect="1"/>
          </p:cNvPicPr>
          <p:nvPr/>
        </p:nvPicPr>
        <p:blipFill>
          <a:blip r:embed="rId3"/>
          <a:stretch>
            <a:fillRect/>
          </a:stretch>
        </p:blipFill>
        <p:spPr>
          <a:xfrm>
            <a:off x="9646920" y="3977640"/>
            <a:ext cx="1298448" cy="1691640"/>
          </a:xfrm>
          <a:prstGeom prst="rect">
            <a:avLst/>
          </a:prstGeom>
        </p:spPr>
      </p:pic>
      <p:sp>
        <p:nvSpPr>
          <p:cNvPr id="38" name="Shape 35"/>
          <p:cNvSpPr/>
          <p:nvPr/>
        </p:nvSpPr>
        <p:spPr>
          <a:xfrm>
            <a:off x="777240" y="5742432"/>
            <a:ext cx="10634472" cy="621792"/>
          </a:xfrm>
          <a:prstGeom prst="rect">
            <a:avLst/>
          </a:prstGeom>
          <a:solidFill>
            <a:srgbClr val="EDEDED"/>
          </a:solidFill>
          <a:ln/>
        </p:spPr>
      </p:sp>
      <p:sp>
        <p:nvSpPr>
          <p:cNvPr id="39" name="Text 36"/>
          <p:cNvSpPr txBox="1"/>
          <p:nvPr/>
        </p:nvSpPr>
        <p:spPr>
          <a:xfrm>
            <a:off x="978408" y="5815584"/>
            <a:ext cx="10232136" cy="475488"/>
          </a:xfrm>
          <a:prstGeom prst="rect">
            <a:avLst/>
          </a:prstGeom>
          <a:noFill/>
          <a:ln/>
        </p:spPr>
        <p:txBody>
          <a:bodyPr wrap="square" lIns="0" tIns="0" rIns="0" bIns="0" rtlCol="0" anchor="ctr"/>
          <a:lstStyle/>
          <a:p>
            <a:pPr marL="0" indent="0">
              <a:buNone/>
            </a:pPr>
            <a:r>
              <a:rPr lang="en-US" sz="1350" b="1" dirty="0">
                <a:solidFill>
                  <a:srgbClr val="1A1A1A"/>
                </a:solidFill>
                <a:latin typeface="Arial" pitchFamily="34" charset="0"/>
                <a:ea typeface="Arial" pitchFamily="34" charset="-122"/>
                <a:cs typeface="Arial" pitchFamily="34" charset="-120"/>
              </a:rPr>
              <a:t>Cada ejercicio va seguido de su </a:t>
            </a:r>
            <a:r>
              <a:rPr lang="en-US" sz="1350" b="1" dirty="0">
                <a:solidFill>
                  <a:srgbClr val="DE6B12"/>
                </a:solidFill>
                <a:latin typeface="Arial" pitchFamily="34" charset="0"/>
                <a:ea typeface="Arial" pitchFamily="34" charset="-122"/>
                <a:cs typeface="Arial" pitchFamily="34" charset="-120"/>
              </a:rPr>
              <a:t>paso a paso</a:t>
            </a:r>
            <a:r>
              <a:rPr lang="en-US" sz="1350" b="1" dirty="0">
                <a:solidFill>
                  <a:srgbClr val="1A1A1A"/>
                </a:solidFill>
                <a:latin typeface="Arial" pitchFamily="34" charset="0"/>
                <a:ea typeface="Arial" pitchFamily="34" charset="-122"/>
                <a:cs typeface="Arial" pitchFamily="34" charset="-120"/>
              </a:rPr>
              <a:t>. Primero lo intentan ustedes.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83C8BD"/>
        </a:solidFill>
        <a:effectLst/>
      </p:bgPr>
    </p:bg>
    <p:spTree>
      <p:nvGrpSpPr>
        <p:cNvPr id="1" name=""/>
        <p:cNvGrpSpPr/>
        <p:nvPr/>
      </p:nvGrpSpPr>
      <p:grpSpPr>
        <a:xfrm>
          <a:off x="0" y="0"/>
          <a:ext cx="0" cy="0"/>
          <a:chOff x="0" y="0"/>
          <a:chExt cx="0" cy="0"/>
        </a:xfrm>
      </p:grpSpPr>
      <p:sp>
        <p:nvSpPr>
          <p:cNvPr id="2" name="Shape 0"/>
          <p:cNvSpPr/>
          <p:nvPr/>
        </p:nvSpPr>
        <p:spPr>
          <a:xfrm>
            <a:off x="292608" y="201168"/>
            <a:ext cx="11603736" cy="6455664"/>
          </a:xfrm>
          <a:prstGeom prst="roundRect">
            <a:avLst>
              <a:gd name="adj" fmla="val 779"/>
            </a:avLst>
          </a:prstGeom>
          <a:solidFill>
            <a:srgbClr val="FFFFFF"/>
          </a:solidFill>
          <a:ln w="50800">
            <a:solidFill>
              <a:srgbClr val="5A99D1"/>
            </a:solidFill>
            <a:prstDash val="solid"/>
          </a:ln>
        </p:spPr>
      </p:sp>
      <p:sp>
        <p:nvSpPr>
          <p:cNvPr id="3" name="Text 1"/>
          <p:cNvSpPr txBox="1"/>
          <p:nvPr/>
        </p:nvSpPr>
        <p:spPr>
          <a:xfrm>
            <a:off x="777240" y="420624"/>
            <a:ext cx="10634472" cy="502920"/>
          </a:xfrm>
          <a:prstGeom prst="rect">
            <a:avLst/>
          </a:prstGeom>
          <a:noFill/>
          <a:ln/>
        </p:spPr>
        <p:txBody>
          <a:bodyPr wrap="square" lIns="0" tIns="0" rIns="0" bIns="0" rtlCol="0" anchor="t"/>
          <a:lstStyle/>
          <a:p>
            <a:pPr marL="0" indent="0">
              <a:buNone/>
            </a:pPr>
            <a:r>
              <a:rPr lang="en-US" sz="3000" b="1" dirty="0">
                <a:solidFill>
                  <a:srgbClr val="DE6B12"/>
                </a:solidFill>
                <a:latin typeface="Arial" pitchFamily="34" charset="0"/>
                <a:ea typeface="Arial" pitchFamily="34" charset="-122"/>
                <a:cs typeface="Arial" pitchFamily="34" charset="-120"/>
              </a:rPr>
              <a:t>Consejos sin Calculadora</a:t>
            </a:r>
            <a:endParaRPr lang="en-US" sz="3000" dirty="0"/>
          </a:p>
        </p:txBody>
      </p:sp>
      <p:sp>
        <p:nvSpPr>
          <p:cNvPr id="4" name="Text 2"/>
          <p:cNvSpPr txBox="1"/>
          <p:nvPr/>
        </p:nvSpPr>
        <p:spPr>
          <a:xfrm>
            <a:off x="777240" y="941832"/>
            <a:ext cx="10634472" cy="274320"/>
          </a:xfrm>
          <a:prstGeom prst="rect">
            <a:avLst/>
          </a:prstGeom>
          <a:noFill/>
          <a:ln/>
        </p:spPr>
        <p:txBody>
          <a:bodyPr wrap="square" lIns="0" tIns="0" rIns="0" bIns="0" rtlCol="0" anchor="t"/>
          <a:lstStyle/>
          <a:p>
            <a:pPr marL="0" indent="0">
              <a:buNone/>
            </a:pPr>
            <a:r>
              <a:rPr lang="en-US" sz="1200" b="1" dirty="0">
                <a:solidFill>
                  <a:srgbClr val="355D64"/>
                </a:solidFill>
                <a:latin typeface="Arial" pitchFamily="34" charset="0"/>
                <a:ea typeface="Arial" pitchFamily="34" charset="-122"/>
                <a:cs typeface="Arial" pitchFamily="34" charset="-120"/>
              </a:rPr>
              <a:t>Atajos que les sirven en toda la prueba</a:t>
            </a:r>
            <a:endParaRPr lang="en-US" sz="1200" dirty="0"/>
          </a:p>
        </p:txBody>
      </p:sp>
      <p:sp>
        <p:nvSpPr>
          <p:cNvPr id="5" name="Shape 3"/>
          <p:cNvSpPr/>
          <p:nvPr/>
        </p:nvSpPr>
        <p:spPr>
          <a:xfrm>
            <a:off x="777240" y="1481328"/>
            <a:ext cx="5239512" cy="1261872"/>
          </a:xfrm>
          <a:prstGeom prst="rect">
            <a:avLst/>
          </a:prstGeom>
          <a:solidFill>
            <a:srgbClr val="EDEDED"/>
          </a:solidFill>
          <a:ln/>
        </p:spPr>
      </p:sp>
      <p:sp>
        <p:nvSpPr>
          <p:cNvPr id="6" name="Shape 4"/>
          <p:cNvSpPr/>
          <p:nvPr/>
        </p:nvSpPr>
        <p:spPr>
          <a:xfrm>
            <a:off x="777240" y="1481328"/>
            <a:ext cx="68580" cy="1261872"/>
          </a:xfrm>
          <a:prstGeom prst="rect">
            <a:avLst/>
          </a:prstGeom>
          <a:solidFill>
            <a:srgbClr val="4BABA0"/>
          </a:solidFill>
          <a:ln/>
        </p:spPr>
      </p:sp>
      <p:sp>
        <p:nvSpPr>
          <p:cNvPr id="7" name="Text 5"/>
          <p:cNvSpPr txBox="1"/>
          <p:nvPr/>
        </p:nvSpPr>
        <p:spPr>
          <a:xfrm>
            <a:off x="996696" y="1618488"/>
            <a:ext cx="485546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1 · Los segundos del día</a:t>
            </a:r>
            <a:endParaRPr lang="en-US" sz="1500" dirty="0"/>
          </a:p>
        </p:txBody>
      </p:sp>
      <p:sp>
        <p:nvSpPr>
          <p:cNvPr id="8" name="Text 6"/>
          <p:cNvSpPr txBox="1"/>
          <p:nvPr/>
        </p:nvSpPr>
        <p:spPr>
          <a:xfrm>
            <a:off x="996696" y="1965960"/>
            <a:ext cx="4855464" cy="667512"/>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86.400 = 864 × 100</a:t>
            </a:r>
            <a:endParaRPr lang="en-US" sz="1250" dirty="0"/>
          </a:p>
          <a:p>
            <a:pPr marL="0" indent="0">
              <a:lnSpc>
                <a:spcPct val="116000"/>
              </a:lnSpc>
              <a:buNone/>
            </a:pPr>
            <a:r>
              <a:rPr lang="en-US" sz="1250" dirty="0">
                <a:solidFill>
                  <a:srgbClr val="1A1A1A"/>
                </a:solidFill>
                <a:latin typeface="Arial" pitchFamily="34" charset="0"/>
                <a:ea typeface="Arial" pitchFamily="34" charset="-122"/>
                <a:cs typeface="Arial" pitchFamily="34" charset="-120"/>
              </a:rPr>
              <a:t>1,5 MB/s → 864 × 1,5 = 1.296</a:t>
            </a:r>
            <a:endParaRPr lang="en-US" sz="1250" dirty="0"/>
          </a:p>
        </p:txBody>
      </p:sp>
      <p:sp>
        <p:nvSpPr>
          <p:cNvPr id="9" name="Shape 7"/>
          <p:cNvSpPr/>
          <p:nvPr/>
        </p:nvSpPr>
        <p:spPr>
          <a:xfrm>
            <a:off x="6172200" y="1481328"/>
            <a:ext cx="5239512" cy="1261872"/>
          </a:xfrm>
          <a:prstGeom prst="rect">
            <a:avLst/>
          </a:prstGeom>
          <a:solidFill>
            <a:srgbClr val="EDEDED"/>
          </a:solidFill>
          <a:ln/>
        </p:spPr>
      </p:sp>
      <p:sp>
        <p:nvSpPr>
          <p:cNvPr id="10" name="Shape 8"/>
          <p:cNvSpPr/>
          <p:nvPr/>
        </p:nvSpPr>
        <p:spPr>
          <a:xfrm>
            <a:off x="6172200" y="1481328"/>
            <a:ext cx="68580" cy="1261872"/>
          </a:xfrm>
          <a:prstGeom prst="rect">
            <a:avLst/>
          </a:prstGeom>
          <a:solidFill>
            <a:srgbClr val="4BABA0"/>
          </a:solidFill>
          <a:ln/>
        </p:spPr>
      </p:sp>
      <p:sp>
        <p:nvSpPr>
          <p:cNvPr id="11" name="Text 9"/>
          <p:cNvSpPr txBox="1"/>
          <p:nvPr/>
        </p:nvSpPr>
        <p:spPr>
          <a:xfrm>
            <a:off x="6391656" y="1618488"/>
            <a:ext cx="4855464" cy="292608"/>
          </a:xfrm>
          <a:prstGeom prst="rect">
            <a:avLst/>
          </a:prstGeom>
          <a:noFill/>
          <a:ln/>
        </p:spPr>
        <p:txBody>
          <a:bodyPr wrap="square" lIns="0" tIns="0" rIns="0" bIns="0" rtlCol="0" anchor="t"/>
          <a:lstStyle/>
          <a:p>
            <a:pPr marL="0" indent="0">
              <a:buNone/>
            </a:pPr>
            <a:r>
              <a:rPr lang="en-US" sz="1500" b="1" dirty="0">
                <a:solidFill>
                  <a:srgbClr val="DE6B12"/>
                </a:solidFill>
                <a:latin typeface="Arial"/>
                <a:ea typeface="Arial" pitchFamily="34" charset="-122"/>
                <a:cs typeface="Arial"/>
              </a:rPr>
              <a:t>2 · </a:t>
            </a:r>
            <a:r>
              <a:rPr lang="en-US" sz="1500" b="1" dirty="0" err="1">
                <a:solidFill>
                  <a:srgbClr val="DE6B12"/>
                </a:solidFill>
                <a:latin typeface="Arial"/>
                <a:ea typeface="Arial" pitchFamily="34" charset="-122"/>
                <a:cs typeface="Arial"/>
              </a:rPr>
              <a:t>Logaritmos</a:t>
            </a:r>
            <a:endParaRPr lang="en-US" sz="1500" dirty="0" err="1">
              <a:latin typeface="Arial"/>
              <a:cs typeface="Arial"/>
            </a:endParaRPr>
          </a:p>
        </p:txBody>
      </p:sp>
      <p:sp>
        <p:nvSpPr>
          <p:cNvPr id="12" name="Text 10"/>
          <p:cNvSpPr txBox="1"/>
          <p:nvPr/>
        </p:nvSpPr>
        <p:spPr>
          <a:xfrm>
            <a:off x="6391656" y="1965960"/>
            <a:ext cx="4855464" cy="667512"/>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10⁷ &lt; 30.000.000 &lt; 10⁸ → h = 8</a:t>
            </a:r>
            <a:endParaRPr lang="en-US" sz="1250" dirty="0"/>
          </a:p>
          <a:p>
            <a:pPr marL="0" indent="0">
              <a:lnSpc>
                <a:spcPct val="116000"/>
              </a:lnSpc>
              <a:buNone/>
            </a:pPr>
            <a:r>
              <a:rPr lang="en-US" sz="1250" dirty="0">
                <a:solidFill>
                  <a:srgbClr val="1A1A1A"/>
                </a:solidFill>
                <a:latin typeface="Arial" pitchFamily="34" charset="0"/>
                <a:ea typeface="Arial" pitchFamily="34" charset="-122"/>
                <a:cs typeface="Arial" pitchFamily="34" charset="-120"/>
              </a:rPr>
              <a:t>orden 10 → h = nº de dígitos</a:t>
            </a:r>
            <a:endParaRPr lang="en-US" sz="1250" dirty="0"/>
          </a:p>
        </p:txBody>
      </p:sp>
      <p:sp>
        <p:nvSpPr>
          <p:cNvPr id="13" name="Shape 11"/>
          <p:cNvSpPr/>
          <p:nvPr/>
        </p:nvSpPr>
        <p:spPr>
          <a:xfrm>
            <a:off x="777240" y="2898648"/>
            <a:ext cx="5239512" cy="1261872"/>
          </a:xfrm>
          <a:prstGeom prst="rect">
            <a:avLst/>
          </a:prstGeom>
          <a:solidFill>
            <a:srgbClr val="EDEDED"/>
          </a:solidFill>
          <a:ln/>
        </p:spPr>
      </p:sp>
      <p:sp>
        <p:nvSpPr>
          <p:cNvPr id="14" name="Shape 12"/>
          <p:cNvSpPr/>
          <p:nvPr/>
        </p:nvSpPr>
        <p:spPr>
          <a:xfrm>
            <a:off x="777240" y="2898648"/>
            <a:ext cx="68580" cy="1261872"/>
          </a:xfrm>
          <a:prstGeom prst="rect">
            <a:avLst/>
          </a:prstGeom>
          <a:solidFill>
            <a:srgbClr val="4BABA0"/>
          </a:solidFill>
          <a:ln/>
        </p:spPr>
      </p:sp>
      <p:sp>
        <p:nvSpPr>
          <p:cNvPr id="15" name="Text 13"/>
          <p:cNvSpPr txBox="1"/>
          <p:nvPr/>
        </p:nvSpPr>
        <p:spPr>
          <a:xfrm>
            <a:off x="996696" y="3035808"/>
            <a:ext cx="485546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3 · Divisiones con atajo</a:t>
            </a:r>
            <a:endParaRPr lang="en-US" sz="1500" dirty="0"/>
          </a:p>
        </p:txBody>
      </p:sp>
      <p:sp>
        <p:nvSpPr>
          <p:cNvPr id="16" name="Text 14"/>
          <p:cNvSpPr txBox="1"/>
          <p:nvPr/>
        </p:nvSpPr>
        <p:spPr>
          <a:xfrm>
            <a:off x="996696" y="3383280"/>
            <a:ext cx="4855464" cy="667512"/>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÷200 = ÷2 y ÷100 · ÷20 = ÷2 y ÷10</a:t>
            </a:r>
            <a:endParaRPr lang="en-US" sz="1250" dirty="0"/>
          </a:p>
          <a:p>
            <a:pPr marL="0" indent="0">
              <a:lnSpc>
                <a:spcPct val="116000"/>
              </a:lnSpc>
              <a:buNone/>
            </a:pPr>
            <a:r>
              <a:rPr lang="en-US" sz="1250" dirty="0">
                <a:solidFill>
                  <a:srgbClr val="1A1A1A"/>
                </a:solidFill>
                <a:latin typeface="Arial" pitchFamily="34" charset="0"/>
                <a:ea typeface="Arial" pitchFamily="34" charset="-122"/>
                <a:cs typeface="Arial" pitchFamily="34" charset="-120"/>
              </a:rPr>
              <a:t>×0,75 = ÷4 y ×3</a:t>
            </a:r>
            <a:endParaRPr lang="en-US" sz="1250" dirty="0"/>
          </a:p>
        </p:txBody>
      </p:sp>
      <p:sp>
        <p:nvSpPr>
          <p:cNvPr id="17" name="Shape 15"/>
          <p:cNvSpPr/>
          <p:nvPr/>
        </p:nvSpPr>
        <p:spPr>
          <a:xfrm>
            <a:off x="6172200" y="2898648"/>
            <a:ext cx="5239512" cy="1261872"/>
          </a:xfrm>
          <a:prstGeom prst="rect">
            <a:avLst/>
          </a:prstGeom>
          <a:solidFill>
            <a:srgbClr val="EDEDED"/>
          </a:solidFill>
          <a:ln/>
        </p:spPr>
      </p:sp>
      <p:sp>
        <p:nvSpPr>
          <p:cNvPr id="18" name="Shape 16"/>
          <p:cNvSpPr/>
          <p:nvPr/>
        </p:nvSpPr>
        <p:spPr>
          <a:xfrm>
            <a:off x="6172200" y="2898648"/>
            <a:ext cx="68580" cy="1261872"/>
          </a:xfrm>
          <a:prstGeom prst="rect">
            <a:avLst/>
          </a:prstGeom>
          <a:solidFill>
            <a:srgbClr val="4BABA0"/>
          </a:solidFill>
          <a:ln/>
        </p:spPr>
      </p:sp>
      <p:sp>
        <p:nvSpPr>
          <p:cNvPr id="19" name="Text 17"/>
          <p:cNvSpPr txBox="1"/>
          <p:nvPr/>
        </p:nvSpPr>
        <p:spPr>
          <a:xfrm>
            <a:off x="6391656" y="3035808"/>
            <a:ext cx="485546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4 · Unidades</a:t>
            </a:r>
            <a:endParaRPr lang="en-US" sz="1500" dirty="0"/>
          </a:p>
        </p:txBody>
      </p:sp>
      <p:sp>
        <p:nvSpPr>
          <p:cNvPr id="20" name="Text 18"/>
          <p:cNvSpPr txBox="1"/>
          <p:nvPr/>
        </p:nvSpPr>
        <p:spPr>
          <a:xfrm>
            <a:off x="6391656" y="3383280"/>
            <a:ext cx="4855464" cy="667512"/>
          </a:xfrm>
          <a:prstGeom prst="rect">
            <a:avLst/>
          </a:prstGeom>
          <a:noFill/>
          <a:ln/>
        </p:spPr>
        <p:txBody>
          <a:bodyPr wrap="square" lIns="0" tIns="0" rIns="0" bIns="0" rtlCol="0" anchor="t"/>
          <a:lstStyle/>
          <a:p>
            <a:pPr marL="0" indent="0">
              <a:lnSpc>
                <a:spcPct val="116000"/>
              </a:lnSpc>
              <a:buNone/>
            </a:pPr>
            <a:r>
              <a:rPr lang="en-US" sz="1250" dirty="0" err="1">
                <a:solidFill>
                  <a:srgbClr val="1A1A1A"/>
                </a:solidFill>
                <a:latin typeface="Arial"/>
                <a:ea typeface="Arial" pitchFamily="34" charset="-122"/>
                <a:cs typeface="Arial"/>
              </a:rPr>
              <a:t>Calculen</a:t>
            </a:r>
            <a:r>
              <a:rPr lang="en-US" sz="1250" dirty="0">
                <a:solidFill>
                  <a:srgbClr val="1A1A1A"/>
                </a:solidFill>
                <a:latin typeface="Arial"/>
                <a:ea typeface="Arial" pitchFamily="34" charset="-122"/>
                <a:cs typeface="Arial"/>
              </a:rPr>
              <a:t> con 1 GB = 1.000 MB</a:t>
            </a:r>
            <a:endParaRPr lang="en-US" sz="1250" dirty="0">
              <a:solidFill>
                <a:srgbClr val="000000"/>
              </a:solidFill>
              <a:latin typeface="Arial"/>
              <a:ea typeface="Arial" pitchFamily="34" charset="-122"/>
              <a:cs typeface="Arial"/>
            </a:endParaRPr>
          </a:p>
          <a:p>
            <a:pPr>
              <a:lnSpc>
                <a:spcPct val="115999"/>
              </a:lnSpc>
            </a:pPr>
            <a:r>
              <a:rPr lang="en-US" sz="1250" dirty="0">
                <a:solidFill>
                  <a:srgbClr val="1A1A1A"/>
                </a:solidFill>
                <a:latin typeface="Arial"/>
                <a:cs typeface="Arial"/>
              </a:rPr>
              <a:t>1 TB = 1.000 GB</a:t>
            </a:r>
          </a:p>
        </p:txBody>
      </p:sp>
      <p:sp>
        <p:nvSpPr>
          <p:cNvPr id="21" name="Shape 19"/>
          <p:cNvSpPr/>
          <p:nvPr/>
        </p:nvSpPr>
        <p:spPr>
          <a:xfrm>
            <a:off x="777240" y="4315968"/>
            <a:ext cx="5239512" cy="1261872"/>
          </a:xfrm>
          <a:prstGeom prst="rect">
            <a:avLst/>
          </a:prstGeom>
          <a:solidFill>
            <a:srgbClr val="EDEDED"/>
          </a:solidFill>
          <a:ln/>
        </p:spPr>
      </p:sp>
      <p:sp>
        <p:nvSpPr>
          <p:cNvPr id="22" name="Shape 20"/>
          <p:cNvSpPr/>
          <p:nvPr/>
        </p:nvSpPr>
        <p:spPr>
          <a:xfrm>
            <a:off x="777240" y="4315968"/>
            <a:ext cx="68580" cy="1261872"/>
          </a:xfrm>
          <a:prstGeom prst="rect">
            <a:avLst/>
          </a:prstGeom>
          <a:solidFill>
            <a:srgbClr val="4BABA0"/>
          </a:solidFill>
          <a:ln/>
        </p:spPr>
      </p:sp>
      <p:sp>
        <p:nvSpPr>
          <p:cNvPr id="23" name="Text 21"/>
          <p:cNvSpPr txBox="1"/>
          <p:nvPr/>
        </p:nvSpPr>
        <p:spPr>
          <a:xfrm>
            <a:off x="996696" y="4453128"/>
            <a:ext cx="485546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5 · Potencias: al cuadrado</a:t>
            </a:r>
            <a:endParaRPr lang="en-US" sz="1500" dirty="0"/>
          </a:p>
        </p:txBody>
      </p:sp>
      <p:sp>
        <p:nvSpPr>
          <p:cNvPr id="24" name="Text 22"/>
          <p:cNvSpPr txBox="1"/>
          <p:nvPr/>
        </p:nvSpPr>
        <p:spPr>
          <a:xfrm>
            <a:off x="996696" y="4800600"/>
            <a:ext cx="4855464" cy="667512"/>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0,9² = 0,81 → 0,9⁴ = 0,6561</a:t>
            </a:r>
            <a:endParaRPr lang="en-US" sz="1250" dirty="0"/>
          </a:p>
          <a:p>
            <a:pPr marL="0" indent="0">
              <a:lnSpc>
                <a:spcPct val="116000"/>
              </a:lnSpc>
              <a:buNone/>
            </a:pPr>
            <a:r>
              <a:rPr lang="en-US" sz="1250" dirty="0">
                <a:solidFill>
                  <a:srgbClr val="1A1A1A"/>
                </a:solidFill>
                <a:latin typeface="Arial" pitchFamily="34" charset="0"/>
                <a:ea typeface="Arial" pitchFamily="34" charset="-122"/>
                <a:cs typeface="Arial" pitchFamily="34" charset="-120"/>
              </a:rPr>
              <a:t>0,9⁸ ≈ 0,4305 → 0,9¹⁰ ≈ 0,349</a:t>
            </a:r>
            <a:endParaRPr lang="en-US" sz="1250" dirty="0"/>
          </a:p>
        </p:txBody>
      </p:sp>
      <p:sp>
        <p:nvSpPr>
          <p:cNvPr id="25" name="Shape 23"/>
          <p:cNvSpPr/>
          <p:nvPr/>
        </p:nvSpPr>
        <p:spPr>
          <a:xfrm>
            <a:off x="6172200" y="4315968"/>
            <a:ext cx="5239512" cy="1261872"/>
          </a:xfrm>
          <a:prstGeom prst="rect">
            <a:avLst/>
          </a:prstGeom>
          <a:solidFill>
            <a:srgbClr val="EDEDED"/>
          </a:solidFill>
          <a:ln/>
        </p:spPr>
      </p:sp>
      <p:sp>
        <p:nvSpPr>
          <p:cNvPr id="26" name="Shape 24"/>
          <p:cNvSpPr/>
          <p:nvPr/>
        </p:nvSpPr>
        <p:spPr>
          <a:xfrm>
            <a:off x="6172200" y="4315968"/>
            <a:ext cx="68580" cy="1261872"/>
          </a:xfrm>
          <a:prstGeom prst="rect">
            <a:avLst/>
          </a:prstGeom>
          <a:solidFill>
            <a:srgbClr val="4BABA0"/>
          </a:solidFill>
          <a:ln/>
        </p:spPr>
      </p:sp>
      <p:sp>
        <p:nvSpPr>
          <p:cNvPr id="27" name="Text 25"/>
          <p:cNvSpPr txBox="1"/>
          <p:nvPr/>
        </p:nvSpPr>
        <p:spPr>
          <a:xfrm>
            <a:off x="6391656" y="4453128"/>
            <a:ext cx="485546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6 · Redondeo</a:t>
            </a:r>
            <a:endParaRPr lang="en-US" sz="1500" dirty="0"/>
          </a:p>
        </p:txBody>
      </p:sp>
      <p:sp>
        <p:nvSpPr>
          <p:cNvPr id="28" name="Text 26"/>
          <p:cNvSpPr txBox="1"/>
          <p:nvPr/>
        </p:nvSpPr>
        <p:spPr>
          <a:xfrm>
            <a:off x="6391656" y="4800600"/>
            <a:ext cx="4855464" cy="667512"/>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Nodos, bloques y altura del árbol:</a:t>
            </a:r>
            <a:endParaRPr lang="en-US" sz="1250" dirty="0"/>
          </a:p>
          <a:p>
            <a:pPr marL="0" indent="0">
              <a:lnSpc>
                <a:spcPct val="116000"/>
              </a:lnSpc>
              <a:buNone/>
            </a:pPr>
            <a:r>
              <a:rPr lang="en-US" sz="1250" dirty="0">
                <a:solidFill>
                  <a:srgbClr val="1A1A1A"/>
                </a:solidFill>
                <a:latin typeface="Arial" pitchFamily="34" charset="0"/>
                <a:ea typeface="Arial" pitchFamily="34" charset="-122"/>
                <a:cs typeface="Arial" pitchFamily="34" charset="-120"/>
              </a:rPr>
              <a:t>SIEMPRE hacia arriba</a:t>
            </a:r>
            <a:endParaRPr lang="en-US" sz="1250" dirty="0"/>
          </a:p>
        </p:txBody>
      </p:sp>
      <p:sp>
        <p:nvSpPr>
          <p:cNvPr id="29" name="Shape 27"/>
          <p:cNvSpPr/>
          <p:nvPr/>
        </p:nvSpPr>
        <p:spPr>
          <a:xfrm>
            <a:off x="777240" y="5742432"/>
            <a:ext cx="10634472" cy="621792"/>
          </a:xfrm>
          <a:prstGeom prst="rect">
            <a:avLst/>
          </a:prstGeom>
          <a:solidFill>
            <a:srgbClr val="4BABA0"/>
          </a:solidFill>
          <a:ln/>
        </p:spPr>
      </p:sp>
      <p:sp>
        <p:nvSpPr>
          <p:cNvPr id="30" name="Text 28"/>
          <p:cNvSpPr txBox="1"/>
          <p:nvPr/>
        </p:nvSpPr>
        <p:spPr>
          <a:xfrm>
            <a:off x="978408" y="5815584"/>
            <a:ext cx="10232136" cy="475488"/>
          </a:xfrm>
          <a:prstGeom prst="rect">
            <a:avLst/>
          </a:prstGeom>
          <a:noFill/>
          <a:ln/>
        </p:spPr>
        <p:txBody>
          <a:bodyPr wrap="square" lIns="0" tIns="0" rIns="0" bIns="0" rtlCol="0" anchor="ctr"/>
          <a:lstStyle/>
          <a:p>
            <a:r>
              <a:rPr lang="en-US" sz="1350" b="1" dirty="0">
                <a:solidFill>
                  <a:srgbClr val="FFFFFF"/>
                </a:solidFill>
                <a:latin typeface="Arial"/>
                <a:ea typeface="Arial" pitchFamily="34" charset="-122"/>
                <a:cs typeface="Arial"/>
              </a:rPr>
              <a:t>Si un </a:t>
            </a:r>
            <a:r>
              <a:rPr lang="en-US" sz="1350" b="1" dirty="0" err="1">
                <a:solidFill>
                  <a:srgbClr val="FFFFFF"/>
                </a:solidFill>
                <a:latin typeface="Arial"/>
                <a:ea typeface="Arial" pitchFamily="34" charset="-122"/>
                <a:cs typeface="Arial"/>
              </a:rPr>
              <a:t>número</a:t>
            </a:r>
            <a:r>
              <a:rPr lang="en-US" sz="1350" b="1" dirty="0">
                <a:solidFill>
                  <a:srgbClr val="FFFFFF"/>
                </a:solidFill>
                <a:latin typeface="Arial"/>
                <a:ea typeface="Arial" pitchFamily="34" charset="-122"/>
                <a:cs typeface="Arial"/>
              </a:rPr>
              <a:t> les sale </a:t>
            </a:r>
            <a:r>
              <a:rPr lang="en-US" sz="1350" b="1" dirty="0" err="1">
                <a:solidFill>
                  <a:srgbClr val="FFFFFF"/>
                </a:solidFill>
                <a:latin typeface="Arial"/>
                <a:ea typeface="Arial" pitchFamily="34" charset="-122"/>
                <a:cs typeface="Arial"/>
              </a:rPr>
              <a:t>raro</a:t>
            </a:r>
            <a:r>
              <a:rPr lang="en-US" sz="1350" b="1" dirty="0">
                <a:solidFill>
                  <a:srgbClr val="FFFFFF"/>
                </a:solidFill>
                <a:latin typeface="Arial"/>
                <a:ea typeface="Arial" pitchFamily="34" charset="-122"/>
                <a:cs typeface="Arial"/>
              </a:rPr>
              <a:t>, </a:t>
            </a:r>
            <a:r>
              <a:rPr lang="en-US" sz="1350" b="1" dirty="0" err="1">
                <a:solidFill>
                  <a:srgbClr val="FFFFFF"/>
                </a:solidFill>
                <a:latin typeface="Arial"/>
                <a:ea typeface="Arial" pitchFamily="34" charset="-122"/>
                <a:cs typeface="Arial"/>
              </a:rPr>
              <a:t>revisen</a:t>
            </a:r>
            <a:r>
              <a:rPr lang="en-US" sz="1350" b="1" dirty="0">
                <a:solidFill>
                  <a:srgbClr val="FFFFFF"/>
                </a:solidFill>
                <a:latin typeface="Arial"/>
                <a:ea typeface="Arial" pitchFamily="34" charset="-122"/>
                <a:cs typeface="Arial"/>
              </a:rPr>
              <a:t> </a:t>
            </a:r>
            <a:r>
              <a:rPr lang="en-US" sz="1350" b="1" dirty="0" err="1">
                <a:solidFill>
                  <a:srgbClr val="FFFFFF"/>
                </a:solidFill>
                <a:latin typeface="Arial"/>
                <a:ea typeface="Arial" pitchFamily="34" charset="-122"/>
                <a:cs typeface="Arial"/>
              </a:rPr>
              <a:t>ya</a:t>
            </a:r>
            <a:r>
              <a:rPr lang="en-US" sz="1350" b="1" dirty="0">
                <a:solidFill>
                  <a:srgbClr val="FFFFFF"/>
                </a:solidFill>
                <a:latin typeface="Arial"/>
                <a:ea typeface="Arial" pitchFamily="34" charset="-122"/>
                <a:cs typeface="Arial"/>
              </a:rPr>
              <a:t> </a:t>
            </a:r>
            <a:r>
              <a:rPr lang="en-US" sz="1350" b="1" dirty="0" err="1">
                <a:solidFill>
                  <a:srgbClr val="FFFFFF"/>
                </a:solidFill>
                <a:latin typeface="Arial"/>
                <a:ea typeface="Arial" pitchFamily="34" charset="-122"/>
                <a:cs typeface="Arial"/>
              </a:rPr>
              <a:t>que</a:t>
            </a:r>
            <a:r>
              <a:rPr lang="en-US" sz="1350" b="1" dirty="0">
                <a:solidFill>
                  <a:srgbClr val="FFFFFF"/>
                </a:solidFill>
                <a:latin typeface="Arial"/>
                <a:ea typeface="Arial" pitchFamily="34" charset="-122"/>
                <a:cs typeface="Arial"/>
              </a:rPr>
              <a:t> </a:t>
            </a:r>
            <a:r>
              <a:rPr lang="en-US" sz="1350" b="1" dirty="0" err="1">
                <a:solidFill>
                  <a:srgbClr val="FFFFFF"/>
                </a:solidFill>
                <a:latin typeface="Arial"/>
                <a:ea typeface="Arial" pitchFamily="34" charset="-122"/>
                <a:cs typeface="Arial"/>
              </a:rPr>
              <a:t>como</a:t>
            </a:r>
            <a:r>
              <a:rPr lang="en-US" sz="1350" b="1" dirty="0">
                <a:solidFill>
                  <a:srgbClr val="FFFFFF"/>
                </a:solidFill>
                <a:latin typeface="Arial"/>
                <a:ea typeface="Arial" pitchFamily="34" charset="-122"/>
                <a:cs typeface="Arial"/>
              </a:rPr>
              <a:t> es sin </a:t>
            </a:r>
            <a:r>
              <a:rPr lang="en-US" sz="1350" b="1" dirty="0" err="1">
                <a:solidFill>
                  <a:srgbClr val="FFFFFF"/>
                </a:solidFill>
                <a:latin typeface="Arial"/>
                <a:ea typeface="Arial" pitchFamily="34" charset="-122"/>
                <a:cs typeface="Arial"/>
              </a:rPr>
              <a:t>calculadora</a:t>
            </a:r>
            <a:r>
              <a:rPr lang="en-US" sz="1350" b="1" dirty="0">
                <a:solidFill>
                  <a:srgbClr val="FFFFFF"/>
                </a:solidFill>
                <a:latin typeface="Arial"/>
                <a:ea typeface="Arial" pitchFamily="34" charset="-122"/>
                <a:cs typeface="Arial"/>
              </a:rPr>
              <a:t> </a:t>
            </a:r>
            <a:r>
              <a:rPr lang="en-US" sz="1350" b="1" dirty="0" err="1">
                <a:solidFill>
                  <a:srgbClr val="FFFFFF"/>
                </a:solidFill>
                <a:latin typeface="Arial"/>
                <a:ea typeface="Arial" pitchFamily="34" charset="-122"/>
                <a:cs typeface="Arial"/>
              </a:rPr>
              <a:t>por</a:t>
            </a:r>
            <a:r>
              <a:rPr lang="en-US" sz="1350" b="1" dirty="0">
                <a:solidFill>
                  <a:srgbClr val="FFFFFF"/>
                </a:solidFill>
                <a:latin typeface="Arial"/>
                <a:ea typeface="Arial" pitchFamily="34" charset="-122"/>
                <a:cs typeface="Arial"/>
              </a:rPr>
              <a:t> lo general son </a:t>
            </a:r>
            <a:r>
              <a:rPr lang="en-US" sz="1350" b="1" dirty="0" err="1">
                <a:solidFill>
                  <a:srgbClr val="FFFFFF"/>
                </a:solidFill>
                <a:latin typeface="Arial"/>
                <a:ea typeface="Arial" pitchFamily="34" charset="-122"/>
                <a:cs typeface="Arial"/>
              </a:rPr>
              <a:t>numeros</a:t>
            </a:r>
            <a:r>
              <a:rPr lang="en-US" sz="1350" b="1" dirty="0">
                <a:solidFill>
                  <a:srgbClr val="FFFFFF"/>
                </a:solidFill>
                <a:latin typeface="Arial"/>
                <a:ea typeface="Arial" pitchFamily="34" charset="-122"/>
                <a:cs typeface="Arial"/>
              </a:rPr>
              <a:t> </a:t>
            </a:r>
            <a:r>
              <a:rPr lang="en-US" sz="1350" b="1" dirty="0" err="1">
                <a:solidFill>
                  <a:srgbClr val="FFFFFF"/>
                </a:solidFill>
                <a:latin typeface="Arial"/>
                <a:ea typeface="Arial" pitchFamily="34" charset="-122"/>
                <a:cs typeface="Arial"/>
              </a:rPr>
              <a:t>que</a:t>
            </a:r>
            <a:r>
              <a:rPr lang="en-US" sz="1350" b="1" dirty="0">
                <a:solidFill>
                  <a:srgbClr val="FFFFFF"/>
                </a:solidFill>
                <a:latin typeface="Arial"/>
                <a:ea typeface="Arial" pitchFamily="34" charset="-122"/>
                <a:cs typeface="Arial"/>
              </a:rPr>
              <a:t> </a:t>
            </a:r>
            <a:r>
              <a:rPr lang="en-US" sz="1350" b="1" dirty="0" err="1">
                <a:solidFill>
                  <a:srgbClr val="FFFFFF"/>
                </a:solidFill>
                <a:latin typeface="Arial"/>
                <a:ea typeface="Arial" pitchFamily="34" charset="-122"/>
                <a:cs typeface="Arial"/>
              </a:rPr>
              <a:t>caen</a:t>
            </a:r>
            <a:r>
              <a:rPr lang="en-US" sz="1350" b="1" dirty="0">
                <a:solidFill>
                  <a:srgbClr val="FFFFFF"/>
                </a:solidFill>
                <a:latin typeface="Arial"/>
                <a:ea typeface="Arial" pitchFamily="34" charset="-122"/>
                <a:cs typeface="Arial"/>
              </a:rPr>
              <a:t> </a:t>
            </a:r>
            <a:r>
              <a:rPr lang="en-US" sz="1350" b="1" dirty="0" err="1">
                <a:solidFill>
                  <a:srgbClr val="FFFFFF"/>
                </a:solidFill>
                <a:latin typeface="Arial"/>
                <a:ea typeface="Arial" pitchFamily="34" charset="-122"/>
                <a:cs typeface="Arial"/>
              </a:rPr>
              <a:t>redondos</a:t>
            </a:r>
            <a:r>
              <a:rPr lang="en-US" sz="1350" b="1" dirty="0">
                <a:solidFill>
                  <a:srgbClr val="FFFFFF"/>
                </a:solidFill>
                <a:latin typeface="Arial"/>
                <a:ea typeface="Arial" pitchFamily="34" charset="-122"/>
                <a:cs typeface="Arial"/>
              </a:rPr>
              <a:t>.</a:t>
            </a:r>
            <a:endParaRPr lang="en-US" sz="1350" dirty="0">
              <a:latin typeface="Arial"/>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83C8BD"/>
        </a:solidFill>
        <a:effectLst/>
      </p:bgPr>
    </p:bg>
    <p:spTree>
      <p:nvGrpSpPr>
        <p:cNvPr id="1" name=""/>
        <p:cNvGrpSpPr/>
        <p:nvPr/>
      </p:nvGrpSpPr>
      <p:grpSpPr>
        <a:xfrm>
          <a:off x="0" y="0"/>
          <a:ext cx="0" cy="0"/>
          <a:chOff x="0" y="0"/>
          <a:chExt cx="0" cy="0"/>
        </a:xfrm>
      </p:grpSpPr>
      <p:sp>
        <p:nvSpPr>
          <p:cNvPr id="2" name="Shape 0"/>
          <p:cNvSpPr/>
          <p:nvPr/>
        </p:nvSpPr>
        <p:spPr>
          <a:xfrm>
            <a:off x="292608" y="201168"/>
            <a:ext cx="11603736" cy="6455664"/>
          </a:xfrm>
          <a:prstGeom prst="roundRect">
            <a:avLst>
              <a:gd name="adj" fmla="val 779"/>
            </a:avLst>
          </a:prstGeom>
          <a:solidFill>
            <a:srgbClr val="FFFFFF"/>
          </a:solidFill>
          <a:ln w="50800">
            <a:solidFill>
              <a:srgbClr val="5A99D1"/>
            </a:solidFill>
            <a:prstDash val="solid"/>
          </a:ln>
        </p:spPr>
      </p:sp>
      <p:sp>
        <p:nvSpPr>
          <p:cNvPr id="3" name="Text 1"/>
          <p:cNvSpPr txBox="1"/>
          <p:nvPr/>
        </p:nvSpPr>
        <p:spPr>
          <a:xfrm>
            <a:off x="777240" y="420624"/>
            <a:ext cx="10634472" cy="502920"/>
          </a:xfrm>
          <a:prstGeom prst="rect">
            <a:avLst/>
          </a:prstGeom>
          <a:noFill/>
          <a:ln/>
        </p:spPr>
        <p:txBody>
          <a:bodyPr wrap="square" lIns="0" tIns="0" rIns="0" bIns="0" rtlCol="0" anchor="t"/>
          <a:lstStyle/>
          <a:p>
            <a:pPr marL="0" indent="0">
              <a:buNone/>
            </a:pPr>
            <a:r>
              <a:rPr lang="en-US" sz="3000" b="1" dirty="0">
                <a:solidFill>
                  <a:srgbClr val="DE6B12"/>
                </a:solidFill>
                <a:latin typeface="Arial" pitchFamily="34" charset="0"/>
                <a:ea typeface="Arial" pitchFamily="34" charset="-122"/>
                <a:cs typeface="Arial" pitchFamily="34" charset="-120"/>
              </a:rPr>
              <a:t>Hadoop </a:t>
            </a:r>
            <a:r>
              <a:rPr lang="en-US" sz="3000" b="1" dirty="0">
                <a:solidFill>
                  <a:srgbClr val="355D64"/>
                </a:solidFill>
                <a:latin typeface="Arial" pitchFamily="34" charset="0"/>
                <a:ea typeface="Arial" pitchFamily="34" charset="-122"/>
                <a:cs typeface="Arial" pitchFamily="34" charset="-120"/>
              </a:rPr>
              <a:t>· Arquitectura</a:t>
            </a:r>
            <a:endParaRPr lang="en-US" sz="3000" dirty="0"/>
          </a:p>
        </p:txBody>
      </p:sp>
      <p:sp>
        <p:nvSpPr>
          <p:cNvPr id="4" name="Text 2"/>
          <p:cNvSpPr txBox="1"/>
          <p:nvPr/>
        </p:nvSpPr>
        <p:spPr>
          <a:xfrm>
            <a:off x="777240" y="941832"/>
            <a:ext cx="10634472" cy="274320"/>
          </a:xfrm>
          <a:prstGeom prst="rect">
            <a:avLst/>
          </a:prstGeom>
          <a:noFill/>
          <a:ln/>
        </p:spPr>
        <p:txBody>
          <a:bodyPr wrap="square" lIns="0" tIns="0" rIns="0" bIns="0" rtlCol="0" anchor="t"/>
          <a:lstStyle/>
          <a:p>
            <a:pPr marL="0" indent="0">
              <a:buNone/>
            </a:pPr>
            <a:r>
              <a:rPr lang="en-US" sz="1200" b="1" dirty="0">
                <a:solidFill>
                  <a:srgbClr val="355D64"/>
                </a:solidFill>
                <a:latin typeface="Arial" pitchFamily="34" charset="0"/>
                <a:ea typeface="Arial" pitchFamily="34" charset="-122"/>
                <a:cs typeface="Arial" pitchFamily="34" charset="-120"/>
              </a:rPr>
              <a:t>HDFS guarda · YARN reparte · MapReduce procesa</a:t>
            </a:r>
            <a:endParaRPr lang="en-US" sz="1200" dirty="0"/>
          </a:p>
        </p:txBody>
      </p:sp>
      <p:sp>
        <p:nvSpPr>
          <p:cNvPr id="5" name="Shape 3"/>
          <p:cNvSpPr/>
          <p:nvPr/>
        </p:nvSpPr>
        <p:spPr>
          <a:xfrm>
            <a:off x="777240" y="1508760"/>
            <a:ext cx="3364992" cy="2971800"/>
          </a:xfrm>
          <a:prstGeom prst="rect">
            <a:avLst/>
          </a:prstGeom>
          <a:solidFill>
            <a:srgbClr val="EDEDED"/>
          </a:solidFill>
          <a:ln/>
        </p:spPr>
      </p:sp>
      <p:sp>
        <p:nvSpPr>
          <p:cNvPr id="6" name="Shape 4"/>
          <p:cNvSpPr/>
          <p:nvPr/>
        </p:nvSpPr>
        <p:spPr>
          <a:xfrm>
            <a:off x="777240" y="1508760"/>
            <a:ext cx="68580" cy="2971800"/>
          </a:xfrm>
          <a:prstGeom prst="rect">
            <a:avLst/>
          </a:prstGeom>
          <a:solidFill>
            <a:srgbClr val="4BABA0"/>
          </a:solidFill>
          <a:ln/>
        </p:spPr>
      </p:sp>
      <p:sp>
        <p:nvSpPr>
          <p:cNvPr id="7" name="Text 5"/>
          <p:cNvSpPr txBox="1"/>
          <p:nvPr/>
        </p:nvSpPr>
        <p:spPr>
          <a:xfrm>
            <a:off x="996696" y="1645920"/>
            <a:ext cx="298094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HDFS · almacenamiento</a:t>
            </a:r>
            <a:endParaRPr lang="en-US" sz="1500" dirty="0"/>
          </a:p>
        </p:txBody>
      </p:sp>
      <p:sp>
        <p:nvSpPr>
          <p:cNvPr id="8" name="Text 6"/>
          <p:cNvSpPr txBox="1"/>
          <p:nvPr/>
        </p:nvSpPr>
        <p:spPr>
          <a:xfrm>
            <a:off x="996696" y="1993392"/>
            <a:ext cx="2980944" cy="2377440"/>
          </a:xfrm>
          <a:prstGeom prst="rect">
            <a:avLst/>
          </a:prstGeom>
          <a:noFill/>
          <a:ln/>
        </p:spPr>
        <p:txBody>
          <a:bodyPr wrap="square" lIns="0" tIns="0" rIns="0" bIns="0" rtlCol="0" anchor="t"/>
          <a:lstStyle/>
          <a:p>
            <a:pPr marL="0" indent="0">
              <a:lnSpc>
                <a:spcPct val="116000"/>
              </a:lnSpc>
              <a:buNone/>
            </a:pPr>
            <a:r>
              <a:rPr lang="en-US" sz="1250" b="1" dirty="0">
                <a:solidFill>
                  <a:srgbClr val="DE6B12"/>
                </a:solidFill>
                <a:latin typeface="Arial" pitchFamily="34" charset="0"/>
                <a:ea typeface="Arial" pitchFamily="34" charset="-122"/>
                <a:cs typeface="Arial" pitchFamily="34" charset="-120"/>
              </a:rPr>
              <a:t>NameNode</a:t>
            </a:r>
            <a:r>
              <a:rPr lang="en-US" sz="1250" dirty="0">
                <a:solidFill>
                  <a:srgbClr val="1A1A1A"/>
                </a:solidFill>
                <a:latin typeface="Arial" pitchFamily="34" charset="0"/>
                <a:ea typeface="Arial" pitchFamily="34" charset="-122"/>
                <a:cs typeface="Arial" pitchFamily="34" charset="-120"/>
              </a:rPr>
              <a:t>: guarda los metadatos, o sea qué bloques forman cada archivo y dónde está cada uno. No guarda datos.</a:t>
            </a:r>
            <a:endParaRPr lang="en-US" sz="1250" dirty="0"/>
          </a:p>
          <a:p>
            <a:pPr marL="0" indent="0">
              <a:lnSpc>
                <a:spcPct val="116000"/>
              </a:lnSpc>
              <a:buNone/>
            </a:pPr>
            <a:r>
              <a:rPr lang="en-US" sz="1250" dirty="0">
                <a:solidFill>
                  <a:srgbClr val="1A1A1A"/>
                </a:solidFill>
                <a:latin typeface="Arial" pitchFamily="34" charset="0"/>
                <a:ea typeface="Arial" pitchFamily="34" charset="-122"/>
                <a:cs typeface="Arial" pitchFamily="34" charset="-120"/>
              </a:rPr>
              <a:t> </a:t>
            </a:r>
            <a:endParaRPr lang="en-US" sz="1250" dirty="0"/>
          </a:p>
          <a:p>
            <a:pPr marL="0" indent="0">
              <a:lnSpc>
                <a:spcPct val="116000"/>
              </a:lnSpc>
              <a:buNone/>
            </a:pPr>
            <a:r>
              <a:rPr lang="en-US" sz="1250" b="1" dirty="0">
                <a:solidFill>
                  <a:srgbClr val="DE6B12"/>
                </a:solidFill>
                <a:latin typeface="Arial" pitchFamily="34" charset="0"/>
                <a:ea typeface="Arial" pitchFamily="34" charset="-122"/>
                <a:cs typeface="Arial" pitchFamily="34" charset="-120"/>
              </a:rPr>
              <a:t>DataNodes</a:t>
            </a:r>
            <a:r>
              <a:rPr lang="en-US" sz="1250" dirty="0">
                <a:solidFill>
                  <a:srgbClr val="1A1A1A"/>
                </a:solidFill>
                <a:latin typeface="Arial" pitchFamily="34" charset="0"/>
                <a:ea typeface="Arial" pitchFamily="34" charset="-122"/>
                <a:cs typeface="Arial" pitchFamily="34" charset="-120"/>
              </a:rPr>
              <a:t>: guardan los bloques reales.</a:t>
            </a:r>
            <a:endParaRPr lang="en-US" sz="1250" dirty="0"/>
          </a:p>
          <a:p>
            <a:pPr marL="0" indent="0">
              <a:lnSpc>
                <a:spcPct val="116000"/>
              </a:lnSpc>
              <a:buNone/>
            </a:pPr>
            <a:r>
              <a:rPr lang="en-US" sz="1250" dirty="0">
                <a:solidFill>
                  <a:srgbClr val="1A1A1A"/>
                </a:solidFill>
                <a:latin typeface="Arial" pitchFamily="34" charset="0"/>
                <a:ea typeface="Arial" pitchFamily="34" charset="-122"/>
                <a:cs typeface="Arial" pitchFamily="34" charset="-120"/>
              </a:rPr>
              <a:t> </a:t>
            </a:r>
            <a:endParaRPr lang="en-US" sz="1250" dirty="0"/>
          </a:p>
          <a:p>
            <a:pPr marL="0" indent="0">
              <a:lnSpc>
                <a:spcPct val="116000"/>
              </a:lnSpc>
              <a:buNone/>
            </a:pPr>
            <a:r>
              <a:rPr lang="en-US" sz="1250" dirty="0">
                <a:solidFill>
                  <a:srgbClr val="1A1A1A"/>
                </a:solidFill>
                <a:latin typeface="Arial" pitchFamily="34" charset="0"/>
                <a:ea typeface="Arial" pitchFamily="34" charset="-122"/>
                <a:cs typeface="Arial" pitchFamily="34" charset="-120"/>
              </a:rPr>
              <a:t>Bloques de </a:t>
            </a:r>
            <a:r>
              <a:rPr lang="en-US" sz="1250" b="1" dirty="0">
                <a:solidFill>
                  <a:srgbClr val="238C82"/>
                </a:solidFill>
                <a:latin typeface="Arial" pitchFamily="34" charset="0"/>
                <a:ea typeface="Arial" pitchFamily="34" charset="-122"/>
                <a:cs typeface="Arial" pitchFamily="34" charset="-120"/>
              </a:rPr>
              <a:t>128 MB</a:t>
            </a:r>
            <a:r>
              <a:rPr lang="en-US" sz="1250" dirty="0">
                <a:solidFill>
                  <a:srgbClr val="1A1A1A"/>
                </a:solidFill>
                <a:latin typeface="Arial" pitchFamily="34" charset="0"/>
                <a:ea typeface="Arial" pitchFamily="34" charset="-122"/>
                <a:cs typeface="Arial" pitchFamily="34" charset="-120"/>
              </a:rPr>
              <a:t>, replicados </a:t>
            </a:r>
            <a:r>
              <a:rPr lang="en-US" sz="1250" b="1" dirty="0">
                <a:solidFill>
                  <a:srgbClr val="238C82"/>
                </a:solidFill>
                <a:latin typeface="Arial" pitchFamily="34" charset="0"/>
                <a:ea typeface="Arial" pitchFamily="34" charset="-122"/>
                <a:cs typeface="Arial" pitchFamily="34" charset="-120"/>
              </a:rPr>
              <a:t>×3</a:t>
            </a:r>
            <a:r>
              <a:rPr lang="en-US" sz="1250" dirty="0">
                <a:solidFill>
                  <a:srgbClr val="1A1A1A"/>
                </a:solidFill>
                <a:latin typeface="Arial" pitchFamily="34" charset="0"/>
                <a:ea typeface="Arial" pitchFamily="34" charset="-122"/>
                <a:cs typeface="Arial" pitchFamily="34" charset="-120"/>
              </a:rPr>
              <a:t> en nodos distintos. Cada DataNode avisa que está vivo con un </a:t>
            </a:r>
            <a:r>
              <a:rPr lang="en-US" sz="1250" b="1" dirty="0">
                <a:solidFill>
                  <a:srgbClr val="DE6B12"/>
                </a:solidFill>
                <a:latin typeface="Arial" pitchFamily="34" charset="0"/>
                <a:ea typeface="Arial" pitchFamily="34" charset="-122"/>
                <a:cs typeface="Arial" pitchFamily="34" charset="-120"/>
              </a:rPr>
              <a:t>heartbeat</a:t>
            </a:r>
            <a:r>
              <a:rPr lang="en-US" sz="1250" dirty="0">
                <a:solidFill>
                  <a:srgbClr val="1A1A1A"/>
                </a:solidFill>
                <a:latin typeface="Arial" pitchFamily="34" charset="0"/>
                <a:ea typeface="Arial" pitchFamily="34" charset="-122"/>
                <a:cs typeface="Arial" pitchFamily="34" charset="-120"/>
              </a:rPr>
              <a:t>.</a:t>
            </a:r>
            <a:endParaRPr lang="en-US" sz="1250" dirty="0"/>
          </a:p>
        </p:txBody>
      </p:sp>
      <p:sp>
        <p:nvSpPr>
          <p:cNvPr id="9" name="Shape 7"/>
          <p:cNvSpPr/>
          <p:nvPr/>
        </p:nvSpPr>
        <p:spPr>
          <a:xfrm>
            <a:off x="4411980" y="1508760"/>
            <a:ext cx="3364992" cy="2971800"/>
          </a:xfrm>
          <a:prstGeom prst="rect">
            <a:avLst/>
          </a:prstGeom>
          <a:solidFill>
            <a:srgbClr val="EDEDED"/>
          </a:solidFill>
          <a:ln/>
        </p:spPr>
      </p:sp>
      <p:sp>
        <p:nvSpPr>
          <p:cNvPr id="10" name="Shape 8"/>
          <p:cNvSpPr/>
          <p:nvPr/>
        </p:nvSpPr>
        <p:spPr>
          <a:xfrm>
            <a:off x="4411980" y="1508760"/>
            <a:ext cx="68580" cy="2971800"/>
          </a:xfrm>
          <a:prstGeom prst="rect">
            <a:avLst/>
          </a:prstGeom>
          <a:solidFill>
            <a:srgbClr val="4BABA0"/>
          </a:solidFill>
          <a:ln/>
        </p:spPr>
      </p:sp>
      <p:sp>
        <p:nvSpPr>
          <p:cNvPr id="11" name="Text 9"/>
          <p:cNvSpPr txBox="1"/>
          <p:nvPr/>
        </p:nvSpPr>
        <p:spPr>
          <a:xfrm>
            <a:off x="4631436" y="1645920"/>
            <a:ext cx="298094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YARN · recursos</a:t>
            </a:r>
            <a:endParaRPr lang="en-US" sz="1500" dirty="0"/>
          </a:p>
        </p:txBody>
      </p:sp>
      <p:sp>
        <p:nvSpPr>
          <p:cNvPr id="12" name="Text 10"/>
          <p:cNvSpPr txBox="1"/>
          <p:nvPr/>
        </p:nvSpPr>
        <p:spPr>
          <a:xfrm>
            <a:off x="4631436" y="1993392"/>
            <a:ext cx="2980944" cy="2377440"/>
          </a:xfrm>
          <a:prstGeom prst="rect">
            <a:avLst/>
          </a:prstGeom>
          <a:noFill/>
          <a:ln/>
        </p:spPr>
        <p:txBody>
          <a:bodyPr wrap="square" lIns="0" tIns="0" rIns="0" bIns="0" rtlCol="0" anchor="t"/>
          <a:lstStyle/>
          <a:p>
            <a:pPr marL="0" indent="0">
              <a:lnSpc>
                <a:spcPct val="116000"/>
              </a:lnSpc>
              <a:buNone/>
            </a:pPr>
            <a:r>
              <a:rPr lang="en-US" sz="1250" b="1" dirty="0">
                <a:solidFill>
                  <a:srgbClr val="DE6B12"/>
                </a:solidFill>
                <a:latin typeface="Arial" pitchFamily="34" charset="0"/>
                <a:ea typeface="Arial" pitchFamily="34" charset="-122"/>
                <a:cs typeface="Arial" pitchFamily="34" charset="-120"/>
              </a:rPr>
              <a:t>ResourceManager</a:t>
            </a:r>
            <a:r>
              <a:rPr lang="en-US" sz="1250" dirty="0">
                <a:solidFill>
                  <a:srgbClr val="1A1A1A"/>
                </a:solidFill>
                <a:latin typeface="Arial" pitchFamily="34" charset="0"/>
                <a:ea typeface="Arial" pitchFamily="34" charset="-122"/>
                <a:cs typeface="Arial" pitchFamily="34" charset="-120"/>
              </a:rPr>
              <a:t>: uno por clúster. Reparte CPU y memoria entre las aplicaciones.</a:t>
            </a:r>
            <a:endParaRPr lang="en-US" sz="1250" dirty="0"/>
          </a:p>
          <a:p>
            <a:pPr marL="0" indent="0">
              <a:lnSpc>
                <a:spcPct val="116000"/>
              </a:lnSpc>
              <a:buNone/>
            </a:pPr>
            <a:r>
              <a:rPr lang="en-US" sz="1250" dirty="0">
                <a:solidFill>
                  <a:srgbClr val="1A1A1A"/>
                </a:solidFill>
                <a:latin typeface="Arial" pitchFamily="34" charset="0"/>
                <a:ea typeface="Arial" pitchFamily="34" charset="-122"/>
                <a:cs typeface="Arial" pitchFamily="34" charset="-120"/>
              </a:rPr>
              <a:t> </a:t>
            </a:r>
            <a:endParaRPr lang="en-US" sz="1250" dirty="0"/>
          </a:p>
          <a:p>
            <a:pPr marL="0" indent="0">
              <a:lnSpc>
                <a:spcPct val="116000"/>
              </a:lnSpc>
              <a:buNone/>
            </a:pPr>
            <a:r>
              <a:rPr lang="en-US" sz="1250" b="1" dirty="0">
                <a:solidFill>
                  <a:srgbClr val="DE6B12"/>
                </a:solidFill>
                <a:latin typeface="Arial" pitchFamily="34" charset="0"/>
                <a:ea typeface="Arial" pitchFamily="34" charset="-122"/>
                <a:cs typeface="Arial" pitchFamily="34" charset="-120"/>
              </a:rPr>
              <a:t>NodeManager</a:t>
            </a:r>
            <a:r>
              <a:rPr lang="en-US" sz="1250" dirty="0">
                <a:solidFill>
                  <a:srgbClr val="1A1A1A"/>
                </a:solidFill>
                <a:latin typeface="Arial" pitchFamily="34" charset="0"/>
                <a:ea typeface="Arial" pitchFamily="34" charset="-122"/>
                <a:cs typeface="Arial" pitchFamily="34" charset="-120"/>
              </a:rPr>
              <a:t>: uno por nodo. Lanza y vigila los contenedores.</a:t>
            </a:r>
            <a:endParaRPr lang="en-US" sz="1250" dirty="0"/>
          </a:p>
          <a:p>
            <a:pPr marL="0" indent="0">
              <a:lnSpc>
                <a:spcPct val="116000"/>
              </a:lnSpc>
              <a:buNone/>
            </a:pPr>
            <a:r>
              <a:rPr lang="en-US" sz="1250" dirty="0">
                <a:solidFill>
                  <a:srgbClr val="1A1A1A"/>
                </a:solidFill>
                <a:latin typeface="Arial" pitchFamily="34" charset="0"/>
                <a:ea typeface="Arial" pitchFamily="34" charset="-122"/>
                <a:cs typeface="Arial" pitchFamily="34" charset="-120"/>
              </a:rPr>
              <a:t> </a:t>
            </a:r>
            <a:endParaRPr lang="en-US" sz="1250" dirty="0"/>
          </a:p>
          <a:p>
            <a:pPr marL="0" indent="0">
              <a:lnSpc>
                <a:spcPct val="116000"/>
              </a:lnSpc>
              <a:buNone/>
            </a:pPr>
            <a:r>
              <a:rPr lang="en-US" sz="1250" b="1" dirty="0">
                <a:solidFill>
                  <a:srgbClr val="DE6B12"/>
                </a:solidFill>
                <a:latin typeface="Arial" pitchFamily="34" charset="0"/>
                <a:ea typeface="Arial" pitchFamily="34" charset="-122"/>
                <a:cs typeface="Arial" pitchFamily="34" charset="-120"/>
              </a:rPr>
              <a:t>ApplicationMaster</a:t>
            </a:r>
            <a:r>
              <a:rPr lang="en-US" sz="1250" dirty="0">
                <a:solidFill>
                  <a:srgbClr val="1A1A1A"/>
                </a:solidFill>
                <a:latin typeface="Arial" pitchFamily="34" charset="0"/>
                <a:ea typeface="Arial" pitchFamily="34" charset="-122"/>
                <a:cs typeface="Arial" pitchFamily="34" charset="-120"/>
              </a:rPr>
              <a:t>: uno por aplicación. Pide recursos y coordina sus tareas.</a:t>
            </a:r>
            <a:endParaRPr lang="en-US" sz="1250" dirty="0"/>
          </a:p>
        </p:txBody>
      </p:sp>
      <p:sp>
        <p:nvSpPr>
          <p:cNvPr id="13" name="Shape 11"/>
          <p:cNvSpPr/>
          <p:nvPr/>
        </p:nvSpPr>
        <p:spPr>
          <a:xfrm>
            <a:off x="8046720" y="1508760"/>
            <a:ext cx="3364992" cy="2971800"/>
          </a:xfrm>
          <a:prstGeom prst="rect">
            <a:avLst/>
          </a:prstGeom>
          <a:solidFill>
            <a:srgbClr val="EDEDED"/>
          </a:solidFill>
          <a:ln/>
        </p:spPr>
      </p:sp>
      <p:sp>
        <p:nvSpPr>
          <p:cNvPr id="14" name="Shape 12"/>
          <p:cNvSpPr/>
          <p:nvPr/>
        </p:nvSpPr>
        <p:spPr>
          <a:xfrm>
            <a:off x="8046720" y="1508760"/>
            <a:ext cx="68580" cy="2971800"/>
          </a:xfrm>
          <a:prstGeom prst="rect">
            <a:avLst/>
          </a:prstGeom>
          <a:solidFill>
            <a:srgbClr val="4BABA0"/>
          </a:solidFill>
          <a:ln/>
        </p:spPr>
      </p:sp>
      <p:sp>
        <p:nvSpPr>
          <p:cNvPr id="15" name="Text 13"/>
          <p:cNvSpPr txBox="1"/>
          <p:nvPr/>
        </p:nvSpPr>
        <p:spPr>
          <a:xfrm>
            <a:off x="8266176" y="1645920"/>
            <a:ext cx="298094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MapReduce · proceso</a:t>
            </a:r>
            <a:endParaRPr lang="en-US" sz="1500" dirty="0"/>
          </a:p>
        </p:txBody>
      </p:sp>
      <p:sp>
        <p:nvSpPr>
          <p:cNvPr id="16" name="Text 14"/>
          <p:cNvSpPr txBox="1"/>
          <p:nvPr/>
        </p:nvSpPr>
        <p:spPr>
          <a:xfrm>
            <a:off x="8266176" y="1993392"/>
            <a:ext cx="2980944" cy="2377440"/>
          </a:xfrm>
          <a:prstGeom prst="rect">
            <a:avLst/>
          </a:prstGeom>
          <a:noFill/>
          <a:ln/>
        </p:spPr>
        <p:txBody>
          <a:bodyPr wrap="square" lIns="0" tIns="0" rIns="0" bIns="0" rtlCol="0" anchor="t"/>
          <a:lstStyle/>
          <a:p>
            <a:pPr marL="0" indent="0">
              <a:lnSpc>
                <a:spcPct val="116000"/>
              </a:lnSpc>
              <a:buNone/>
            </a:pPr>
            <a:r>
              <a:rPr lang="en-US" sz="1250" b="1" dirty="0">
                <a:solidFill>
                  <a:srgbClr val="DE6B12"/>
                </a:solidFill>
                <a:latin typeface="Arial" pitchFamily="34" charset="0"/>
                <a:ea typeface="Arial" pitchFamily="34" charset="-122"/>
                <a:cs typeface="Arial" pitchFamily="34" charset="-120"/>
              </a:rPr>
              <a:t>Map</a:t>
            </a:r>
            <a:r>
              <a:rPr lang="en-US" sz="1250" dirty="0">
                <a:solidFill>
                  <a:srgbClr val="1A1A1A"/>
                </a:solidFill>
                <a:latin typeface="Arial" pitchFamily="34" charset="0"/>
                <a:ea typeface="Arial" pitchFamily="34" charset="-122"/>
                <a:cs typeface="Arial" pitchFamily="34" charset="-120"/>
              </a:rPr>
              <a:t>: cada nodo procesa los bloques que tiene en su propio disco.</a:t>
            </a:r>
            <a:endParaRPr lang="en-US" sz="1250" dirty="0"/>
          </a:p>
          <a:p>
            <a:pPr marL="0" indent="0">
              <a:lnSpc>
                <a:spcPct val="116000"/>
              </a:lnSpc>
              <a:buNone/>
            </a:pPr>
            <a:r>
              <a:rPr lang="en-US" sz="1250" dirty="0">
                <a:solidFill>
                  <a:srgbClr val="1A1A1A"/>
                </a:solidFill>
                <a:latin typeface="Arial" pitchFamily="34" charset="0"/>
                <a:ea typeface="Arial" pitchFamily="34" charset="-122"/>
                <a:cs typeface="Arial" pitchFamily="34" charset="-120"/>
              </a:rPr>
              <a:t> </a:t>
            </a:r>
            <a:endParaRPr lang="en-US" sz="1250" dirty="0"/>
          </a:p>
          <a:p>
            <a:pPr marL="0" indent="0">
              <a:lnSpc>
                <a:spcPct val="116000"/>
              </a:lnSpc>
              <a:buNone/>
            </a:pPr>
            <a:r>
              <a:rPr lang="en-US" sz="1250" b="1" dirty="0">
                <a:solidFill>
                  <a:srgbClr val="DE6B12"/>
                </a:solidFill>
                <a:latin typeface="Arial" pitchFamily="34" charset="0"/>
                <a:ea typeface="Arial" pitchFamily="34" charset="-122"/>
                <a:cs typeface="Arial" pitchFamily="34" charset="-120"/>
              </a:rPr>
              <a:t>Shuffle</a:t>
            </a:r>
            <a:r>
              <a:rPr lang="en-US" sz="1250" dirty="0">
                <a:solidFill>
                  <a:srgbClr val="1A1A1A"/>
                </a:solidFill>
                <a:latin typeface="Arial" pitchFamily="34" charset="0"/>
                <a:ea typeface="Arial" pitchFamily="34" charset="-122"/>
                <a:cs typeface="Arial" pitchFamily="34" charset="-120"/>
              </a:rPr>
              <a:t>: agrupa por clave y mueve datos por la red.</a:t>
            </a:r>
            <a:endParaRPr lang="en-US" sz="1250" dirty="0"/>
          </a:p>
          <a:p>
            <a:pPr marL="0" indent="0">
              <a:lnSpc>
                <a:spcPct val="116000"/>
              </a:lnSpc>
              <a:buNone/>
            </a:pPr>
            <a:r>
              <a:rPr lang="en-US" sz="1250" dirty="0">
                <a:solidFill>
                  <a:srgbClr val="1A1A1A"/>
                </a:solidFill>
                <a:latin typeface="Arial" pitchFamily="34" charset="0"/>
                <a:ea typeface="Arial" pitchFamily="34" charset="-122"/>
                <a:cs typeface="Arial" pitchFamily="34" charset="-120"/>
              </a:rPr>
              <a:t> </a:t>
            </a:r>
            <a:endParaRPr lang="en-US" sz="1250" dirty="0"/>
          </a:p>
          <a:p>
            <a:pPr marL="0" indent="0">
              <a:lnSpc>
                <a:spcPct val="116000"/>
              </a:lnSpc>
              <a:buNone/>
            </a:pPr>
            <a:r>
              <a:rPr lang="en-US" sz="1250" b="1" dirty="0">
                <a:solidFill>
                  <a:srgbClr val="DE6B12"/>
                </a:solidFill>
                <a:latin typeface="Arial" pitchFamily="34" charset="0"/>
                <a:ea typeface="Arial" pitchFamily="34" charset="-122"/>
                <a:cs typeface="Arial" pitchFamily="34" charset="-120"/>
              </a:rPr>
              <a:t>Reduce</a:t>
            </a:r>
            <a:r>
              <a:rPr lang="en-US" sz="1250" dirty="0">
                <a:solidFill>
                  <a:srgbClr val="1A1A1A"/>
                </a:solidFill>
                <a:latin typeface="Arial" pitchFamily="34" charset="0"/>
                <a:ea typeface="Arial" pitchFamily="34" charset="-122"/>
                <a:cs typeface="Arial" pitchFamily="34" charset="-120"/>
              </a:rPr>
              <a:t>: combina los resultados.</a:t>
            </a:r>
            <a:endParaRPr lang="en-US" sz="1250" dirty="0"/>
          </a:p>
          <a:p>
            <a:pPr marL="0" indent="0">
              <a:lnSpc>
                <a:spcPct val="116000"/>
              </a:lnSpc>
              <a:buNone/>
            </a:pPr>
            <a:r>
              <a:rPr lang="en-US" sz="1250" dirty="0">
                <a:solidFill>
                  <a:srgbClr val="1A1A1A"/>
                </a:solidFill>
                <a:latin typeface="Arial" pitchFamily="34" charset="0"/>
                <a:ea typeface="Arial" pitchFamily="34" charset="-122"/>
                <a:cs typeface="Arial" pitchFamily="34" charset="-120"/>
              </a:rPr>
              <a:t> </a:t>
            </a:r>
            <a:endParaRPr lang="en-US" sz="1250" dirty="0"/>
          </a:p>
          <a:p>
            <a:pPr marL="0" indent="0">
              <a:lnSpc>
                <a:spcPct val="116000"/>
              </a:lnSpc>
              <a:buNone/>
            </a:pPr>
            <a:r>
              <a:rPr lang="en-US" sz="1250" dirty="0">
                <a:solidFill>
                  <a:srgbClr val="1A1A1A"/>
                </a:solidFill>
                <a:latin typeface="Arial" pitchFamily="34" charset="0"/>
                <a:ea typeface="Arial" pitchFamily="34" charset="-122"/>
                <a:cs typeface="Arial" pitchFamily="34" charset="-120"/>
              </a:rPr>
              <a:t>Escribe a </a:t>
            </a:r>
            <a:r>
              <a:rPr lang="en-US" sz="1250" b="1" dirty="0">
                <a:solidFill>
                  <a:srgbClr val="238C82"/>
                </a:solidFill>
                <a:latin typeface="Arial" pitchFamily="34" charset="0"/>
                <a:ea typeface="Arial" pitchFamily="34" charset="-122"/>
                <a:cs typeface="Arial" pitchFamily="34" charset="-120"/>
              </a:rPr>
              <a:t>disco</a:t>
            </a:r>
            <a:r>
              <a:rPr lang="en-US" sz="1250" dirty="0">
                <a:solidFill>
                  <a:srgbClr val="1A1A1A"/>
                </a:solidFill>
                <a:latin typeface="Arial" pitchFamily="34" charset="0"/>
                <a:ea typeface="Arial" pitchFamily="34" charset="-122"/>
                <a:cs typeface="Arial" pitchFamily="34" charset="-120"/>
              </a:rPr>
              <a:t> entre cada etapa.</a:t>
            </a:r>
            <a:endParaRPr lang="en-US" sz="1250" dirty="0"/>
          </a:p>
        </p:txBody>
      </p:sp>
      <p:sp>
        <p:nvSpPr>
          <p:cNvPr id="17" name="Shape 15"/>
          <p:cNvSpPr/>
          <p:nvPr/>
        </p:nvSpPr>
        <p:spPr>
          <a:xfrm>
            <a:off x="777240" y="5742432"/>
            <a:ext cx="10634472" cy="621792"/>
          </a:xfrm>
          <a:prstGeom prst="rect">
            <a:avLst/>
          </a:prstGeom>
          <a:solidFill>
            <a:srgbClr val="4BABA0"/>
          </a:solidFill>
          <a:ln/>
        </p:spPr>
      </p:sp>
      <p:sp>
        <p:nvSpPr>
          <p:cNvPr id="18" name="Text 16"/>
          <p:cNvSpPr txBox="1"/>
          <p:nvPr/>
        </p:nvSpPr>
        <p:spPr>
          <a:xfrm>
            <a:off x="978408" y="5815584"/>
            <a:ext cx="10232136" cy="475488"/>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Principio clave: mover el cómputo a los datos, no los datos al cómputo. Eso es localidad de datos.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83C8BD"/>
        </a:solidFill>
        <a:effectLst/>
      </p:bgPr>
    </p:bg>
    <p:spTree>
      <p:nvGrpSpPr>
        <p:cNvPr id="1" name=""/>
        <p:cNvGrpSpPr/>
        <p:nvPr/>
      </p:nvGrpSpPr>
      <p:grpSpPr>
        <a:xfrm>
          <a:off x="0" y="0"/>
          <a:ext cx="0" cy="0"/>
          <a:chOff x="0" y="0"/>
          <a:chExt cx="0" cy="0"/>
        </a:xfrm>
      </p:grpSpPr>
      <p:sp>
        <p:nvSpPr>
          <p:cNvPr id="2" name="Shape 0"/>
          <p:cNvSpPr/>
          <p:nvPr/>
        </p:nvSpPr>
        <p:spPr>
          <a:xfrm>
            <a:off x="292608" y="201168"/>
            <a:ext cx="11603736" cy="6455664"/>
          </a:xfrm>
          <a:prstGeom prst="roundRect">
            <a:avLst>
              <a:gd name="adj" fmla="val 779"/>
            </a:avLst>
          </a:prstGeom>
          <a:solidFill>
            <a:srgbClr val="FFFFFF"/>
          </a:solidFill>
          <a:ln w="50800">
            <a:solidFill>
              <a:srgbClr val="5A99D1"/>
            </a:solidFill>
            <a:prstDash val="solid"/>
          </a:ln>
        </p:spPr>
      </p:sp>
      <p:sp>
        <p:nvSpPr>
          <p:cNvPr id="3" name="Text 1"/>
          <p:cNvSpPr txBox="1"/>
          <p:nvPr/>
        </p:nvSpPr>
        <p:spPr>
          <a:xfrm>
            <a:off x="777240" y="420624"/>
            <a:ext cx="10634472" cy="502920"/>
          </a:xfrm>
          <a:prstGeom prst="rect">
            <a:avLst/>
          </a:prstGeom>
          <a:noFill/>
          <a:ln/>
        </p:spPr>
        <p:txBody>
          <a:bodyPr wrap="square" lIns="0" tIns="0" rIns="0" bIns="0" rtlCol="0" anchor="t"/>
          <a:lstStyle/>
          <a:p>
            <a:pPr marL="0" indent="0">
              <a:buNone/>
            </a:pPr>
            <a:r>
              <a:rPr lang="en-US" sz="3000" b="1" dirty="0">
                <a:solidFill>
                  <a:srgbClr val="DE6B12"/>
                </a:solidFill>
                <a:latin typeface="Arial" pitchFamily="34" charset="0"/>
                <a:ea typeface="Arial" pitchFamily="34" charset="-122"/>
                <a:cs typeface="Arial" pitchFamily="34" charset="-120"/>
              </a:rPr>
              <a:t>Ejercicio H1 </a:t>
            </a:r>
            <a:r>
              <a:rPr lang="en-US" sz="3000" b="1" dirty="0">
                <a:solidFill>
                  <a:srgbClr val="355D64"/>
                </a:solidFill>
                <a:latin typeface="Arial" pitchFamily="34" charset="0"/>
                <a:ea typeface="Arial" pitchFamily="34" charset="-122"/>
                <a:cs typeface="Arial" pitchFamily="34" charset="-120"/>
              </a:rPr>
              <a:t>· Bloques de HDFS</a:t>
            </a:r>
            <a:endParaRPr lang="en-US" sz="3000" dirty="0"/>
          </a:p>
        </p:txBody>
      </p:sp>
      <p:sp>
        <p:nvSpPr>
          <p:cNvPr id="4" name="Text 2"/>
          <p:cNvSpPr txBox="1"/>
          <p:nvPr/>
        </p:nvSpPr>
        <p:spPr>
          <a:xfrm>
            <a:off x="777240" y="941832"/>
            <a:ext cx="10634472" cy="274320"/>
          </a:xfrm>
          <a:prstGeom prst="rect">
            <a:avLst/>
          </a:prstGeom>
          <a:noFill/>
          <a:ln/>
        </p:spPr>
        <p:txBody>
          <a:bodyPr wrap="square" lIns="0" tIns="0" rIns="0" bIns="0" rtlCol="0" anchor="t"/>
          <a:lstStyle/>
          <a:p>
            <a:pPr marL="0" indent="0">
              <a:buNone/>
            </a:pPr>
            <a:r>
              <a:rPr lang="en-US" sz="1200" b="1" dirty="0">
                <a:solidFill>
                  <a:srgbClr val="355D64"/>
                </a:solidFill>
                <a:latin typeface="Arial" pitchFamily="34" charset="0"/>
                <a:ea typeface="Arial" pitchFamily="34" charset="-122"/>
                <a:cs typeface="Arial" pitchFamily="34" charset="-120"/>
              </a:rPr>
              <a:t>Bloques, réplicas y qué pasa cuando algo falla</a:t>
            </a:r>
            <a:endParaRPr lang="en-US" sz="1200" dirty="0"/>
          </a:p>
        </p:txBody>
      </p:sp>
      <p:sp>
        <p:nvSpPr>
          <p:cNvPr id="5" name="Shape 3"/>
          <p:cNvSpPr/>
          <p:nvPr/>
        </p:nvSpPr>
        <p:spPr>
          <a:xfrm>
            <a:off x="777240" y="1463040"/>
            <a:ext cx="10634472" cy="457200"/>
          </a:xfrm>
          <a:prstGeom prst="rect">
            <a:avLst/>
          </a:prstGeom>
          <a:solidFill>
            <a:srgbClr val="EDEDED"/>
          </a:solidFill>
          <a:ln/>
        </p:spPr>
      </p:sp>
      <p:sp>
        <p:nvSpPr>
          <p:cNvPr id="6" name="Text 4"/>
          <p:cNvSpPr txBox="1"/>
          <p:nvPr/>
        </p:nvSpPr>
        <p:spPr>
          <a:xfrm>
            <a:off x="996696" y="1581912"/>
            <a:ext cx="914400" cy="237744"/>
          </a:xfrm>
          <a:prstGeom prst="rect">
            <a:avLst/>
          </a:prstGeom>
          <a:noFill/>
          <a:ln/>
        </p:spPr>
        <p:txBody>
          <a:bodyPr wrap="square" lIns="0" tIns="0" rIns="0" bIns="0" rtlCol="0" anchor="t"/>
          <a:lstStyle/>
          <a:p>
            <a:pPr marL="0" indent="0">
              <a:buNone/>
            </a:pPr>
            <a:r>
              <a:rPr lang="en-US" sz="1200" b="1" kern="0" spc="100" dirty="0">
                <a:solidFill>
                  <a:srgbClr val="DE6B12"/>
                </a:solidFill>
                <a:latin typeface="Arial" pitchFamily="34" charset="0"/>
                <a:ea typeface="Arial" pitchFamily="34" charset="-122"/>
                <a:cs typeface="Arial" pitchFamily="34" charset="-120"/>
              </a:rPr>
              <a:t>DATOS</a:t>
            </a:r>
            <a:endParaRPr lang="en-US" sz="1200" dirty="0"/>
          </a:p>
        </p:txBody>
      </p:sp>
      <p:sp>
        <p:nvSpPr>
          <p:cNvPr id="7" name="Text 5"/>
          <p:cNvSpPr txBox="1"/>
          <p:nvPr/>
        </p:nvSpPr>
        <p:spPr>
          <a:xfrm>
            <a:off x="1929384" y="1581912"/>
            <a:ext cx="9262872" cy="237744"/>
          </a:xfrm>
          <a:prstGeom prst="rect">
            <a:avLst/>
          </a:prstGeom>
          <a:noFill/>
          <a:ln/>
        </p:spPr>
        <p:txBody>
          <a:bodyPr wrap="square" lIns="0" tIns="0" rIns="0" bIns="0" rtlCol="0" anchor="t"/>
          <a:lstStyle/>
          <a:p>
            <a:pPr marL="0" indent="0">
              <a:buNone/>
            </a:pPr>
            <a:r>
              <a:rPr lang="en-US" sz="1250" dirty="0">
                <a:solidFill>
                  <a:srgbClr val="1A1A1A"/>
                </a:solidFill>
                <a:latin typeface="Arial" pitchFamily="34" charset="0"/>
                <a:ea typeface="Arial" pitchFamily="34" charset="-122"/>
                <a:cs typeface="Arial" pitchFamily="34" charset="-120"/>
              </a:rPr>
              <a:t>tamaño de bloque </a:t>
            </a:r>
            <a:r>
              <a:rPr lang="en-US" sz="1250" b="1" dirty="0">
                <a:solidFill>
                  <a:srgbClr val="238C82"/>
                </a:solidFill>
                <a:latin typeface="Arial" pitchFamily="34" charset="0"/>
                <a:ea typeface="Arial" pitchFamily="34" charset="-122"/>
                <a:cs typeface="Arial" pitchFamily="34" charset="-120"/>
              </a:rPr>
              <a:t>128 MB</a:t>
            </a:r>
            <a:r>
              <a:rPr lang="en-US" sz="1250" dirty="0">
                <a:solidFill>
                  <a:srgbClr val="1A1A1A"/>
                </a:solidFill>
                <a:latin typeface="Arial" pitchFamily="34" charset="0"/>
                <a:ea typeface="Arial" pitchFamily="34" charset="-122"/>
                <a:cs typeface="Arial" pitchFamily="34" charset="-120"/>
              </a:rPr>
              <a:t>          factor de replicación </a:t>
            </a:r>
            <a:r>
              <a:rPr lang="en-US" sz="1250" b="1" dirty="0">
                <a:solidFill>
                  <a:srgbClr val="238C82"/>
                </a:solidFill>
                <a:latin typeface="Arial" pitchFamily="34" charset="0"/>
                <a:ea typeface="Arial" pitchFamily="34" charset="-122"/>
                <a:cs typeface="Arial" pitchFamily="34" charset="-120"/>
              </a:rPr>
              <a:t>3</a:t>
            </a:r>
            <a:endParaRPr lang="en-US" sz="1250" dirty="0"/>
          </a:p>
        </p:txBody>
      </p:sp>
      <p:sp>
        <p:nvSpPr>
          <p:cNvPr id="8" name="Text 6"/>
          <p:cNvSpPr txBox="1"/>
          <p:nvPr/>
        </p:nvSpPr>
        <p:spPr>
          <a:xfrm>
            <a:off x="777240" y="2240280"/>
            <a:ext cx="365760" cy="274320"/>
          </a:xfrm>
          <a:prstGeom prst="rect">
            <a:avLst/>
          </a:prstGeom>
          <a:noFill/>
          <a:ln/>
        </p:spPr>
        <p:txBody>
          <a:bodyPr wrap="square" lIns="0" tIns="0" rIns="0" bIns="0" rtlCol="0" anchor="t"/>
          <a:lstStyle/>
          <a:p>
            <a:pPr marL="0" indent="0">
              <a:buNone/>
            </a:pPr>
            <a:r>
              <a:rPr lang="en-US" sz="1350" b="1" dirty="0">
                <a:solidFill>
                  <a:srgbClr val="DE6B12"/>
                </a:solidFill>
                <a:latin typeface="Arial" pitchFamily="34" charset="0"/>
                <a:ea typeface="Arial" pitchFamily="34" charset="-122"/>
                <a:cs typeface="Arial" pitchFamily="34" charset="-120"/>
              </a:rPr>
              <a:t>a)</a:t>
            </a:r>
            <a:endParaRPr lang="en-US" sz="1350" dirty="0"/>
          </a:p>
        </p:txBody>
      </p:sp>
      <p:sp>
        <p:nvSpPr>
          <p:cNvPr id="9" name="Text 7"/>
          <p:cNvSpPr txBox="1"/>
          <p:nvPr/>
        </p:nvSpPr>
        <p:spPr>
          <a:xfrm>
            <a:off x="1161288" y="2240280"/>
            <a:ext cx="10250424" cy="292608"/>
          </a:xfrm>
          <a:prstGeom prst="rect">
            <a:avLst/>
          </a:prstGeom>
          <a:noFill/>
          <a:ln/>
        </p:spPr>
        <p:txBody>
          <a:bodyPr wrap="square" lIns="0" tIns="0" rIns="0" bIns="0" rtlCol="0" anchor="t"/>
          <a:lstStyle/>
          <a:p>
            <a:pPr marL="0" indent="0">
              <a:lnSpc>
                <a:spcPct val="112000"/>
              </a:lnSpc>
              <a:buNone/>
            </a:pPr>
            <a:r>
              <a:rPr lang="en-US" sz="1350" dirty="0">
                <a:solidFill>
                  <a:srgbClr val="1A1A1A"/>
                </a:solidFill>
                <a:latin typeface="Arial" pitchFamily="34" charset="0"/>
                <a:ea typeface="Arial" pitchFamily="34" charset="-122"/>
                <a:cs typeface="Arial" pitchFamily="34" charset="-120"/>
              </a:rPr>
              <a:t>Un archivo de </a:t>
            </a:r>
            <a:r>
              <a:rPr lang="en-US" sz="1350" b="1" dirty="0">
                <a:solidFill>
                  <a:srgbClr val="355D64"/>
                </a:solidFill>
                <a:latin typeface="Arial" pitchFamily="34" charset="0"/>
                <a:ea typeface="Arial" pitchFamily="34" charset="-122"/>
                <a:cs typeface="Arial" pitchFamily="34" charset="-120"/>
              </a:rPr>
              <a:t>640 MB</a:t>
            </a:r>
            <a:r>
              <a:rPr lang="en-US" sz="1350" dirty="0">
                <a:solidFill>
                  <a:srgbClr val="1A1A1A"/>
                </a:solidFill>
                <a:latin typeface="Arial" pitchFamily="34" charset="0"/>
                <a:ea typeface="Arial" pitchFamily="34" charset="-122"/>
                <a:cs typeface="Arial" pitchFamily="34" charset="-120"/>
              </a:rPr>
              <a:t>: ¿cuántos bloques, cuántas réplicas y cuánto espacio real ocupa en el clúster?</a:t>
            </a:r>
            <a:endParaRPr lang="en-US" sz="1350" dirty="0"/>
          </a:p>
        </p:txBody>
      </p:sp>
      <p:sp>
        <p:nvSpPr>
          <p:cNvPr id="10" name="Text 8"/>
          <p:cNvSpPr txBox="1"/>
          <p:nvPr/>
        </p:nvSpPr>
        <p:spPr>
          <a:xfrm>
            <a:off x="777240" y="2825496"/>
            <a:ext cx="365760" cy="274320"/>
          </a:xfrm>
          <a:prstGeom prst="rect">
            <a:avLst/>
          </a:prstGeom>
          <a:noFill/>
          <a:ln/>
        </p:spPr>
        <p:txBody>
          <a:bodyPr wrap="square" lIns="0" tIns="0" rIns="0" bIns="0" rtlCol="0" anchor="t"/>
          <a:lstStyle/>
          <a:p>
            <a:pPr marL="0" indent="0">
              <a:buNone/>
            </a:pPr>
            <a:r>
              <a:rPr lang="en-US" sz="1350" b="1" dirty="0">
                <a:solidFill>
                  <a:srgbClr val="DE6B12"/>
                </a:solidFill>
                <a:latin typeface="Arial" pitchFamily="34" charset="0"/>
                <a:ea typeface="Arial" pitchFamily="34" charset="-122"/>
                <a:cs typeface="Arial" pitchFamily="34" charset="-120"/>
              </a:rPr>
              <a:t>b)</a:t>
            </a:r>
            <a:endParaRPr lang="en-US" sz="1350" dirty="0"/>
          </a:p>
        </p:txBody>
      </p:sp>
      <p:sp>
        <p:nvSpPr>
          <p:cNvPr id="11" name="Text 9"/>
          <p:cNvSpPr txBox="1"/>
          <p:nvPr/>
        </p:nvSpPr>
        <p:spPr>
          <a:xfrm>
            <a:off x="1161288" y="2825496"/>
            <a:ext cx="10250424" cy="292608"/>
          </a:xfrm>
          <a:prstGeom prst="rect">
            <a:avLst/>
          </a:prstGeom>
          <a:noFill/>
          <a:ln/>
        </p:spPr>
        <p:txBody>
          <a:bodyPr wrap="square" lIns="0" tIns="0" rIns="0" bIns="0" rtlCol="0" anchor="t"/>
          <a:lstStyle/>
          <a:p>
            <a:pPr marL="0" indent="0">
              <a:lnSpc>
                <a:spcPct val="112000"/>
              </a:lnSpc>
              <a:buNone/>
            </a:pPr>
            <a:r>
              <a:rPr lang="en-US" sz="1350" dirty="0">
                <a:solidFill>
                  <a:srgbClr val="1A1A1A"/>
                </a:solidFill>
                <a:latin typeface="Arial" pitchFamily="34" charset="0"/>
                <a:ea typeface="Arial" pitchFamily="34" charset="-122"/>
                <a:cs typeface="Arial" pitchFamily="34" charset="-120"/>
              </a:rPr>
              <a:t>Un archivo de </a:t>
            </a:r>
            <a:r>
              <a:rPr lang="en-US" sz="1350" b="1" dirty="0">
                <a:solidFill>
                  <a:srgbClr val="355D64"/>
                </a:solidFill>
                <a:latin typeface="Arial" pitchFamily="34" charset="0"/>
                <a:ea typeface="Arial" pitchFamily="34" charset="-122"/>
                <a:cs typeface="Arial" pitchFamily="34" charset="-120"/>
              </a:rPr>
              <a:t>300 MB</a:t>
            </a:r>
            <a:r>
              <a:rPr lang="en-US" sz="1350" dirty="0">
                <a:solidFill>
                  <a:srgbClr val="1A1A1A"/>
                </a:solidFill>
                <a:latin typeface="Arial" pitchFamily="34" charset="0"/>
                <a:ea typeface="Arial" pitchFamily="34" charset="-122"/>
                <a:cs typeface="Arial" pitchFamily="34" charset="-120"/>
              </a:rPr>
              <a:t>: ¿cuántos bloques tiene? ¿Ocupa 3 × 384 MB en disco?</a:t>
            </a:r>
            <a:endParaRPr lang="en-US" sz="1350" dirty="0"/>
          </a:p>
        </p:txBody>
      </p:sp>
      <p:sp>
        <p:nvSpPr>
          <p:cNvPr id="12" name="Text 10"/>
          <p:cNvSpPr txBox="1"/>
          <p:nvPr/>
        </p:nvSpPr>
        <p:spPr>
          <a:xfrm>
            <a:off x="777240" y="3410712"/>
            <a:ext cx="365760" cy="274320"/>
          </a:xfrm>
          <a:prstGeom prst="rect">
            <a:avLst/>
          </a:prstGeom>
          <a:noFill/>
          <a:ln/>
        </p:spPr>
        <p:txBody>
          <a:bodyPr wrap="square" lIns="0" tIns="0" rIns="0" bIns="0" rtlCol="0" anchor="t"/>
          <a:lstStyle/>
          <a:p>
            <a:pPr marL="0" indent="0">
              <a:buNone/>
            </a:pPr>
            <a:r>
              <a:rPr lang="en-US" sz="1350" b="1" dirty="0">
                <a:solidFill>
                  <a:srgbClr val="DE6B12"/>
                </a:solidFill>
                <a:latin typeface="Arial" pitchFamily="34" charset="0"/>
                <a:ea typeface="Arial" pitchFamily="34" charset="-122"/>
                <a:cs typeface="Arial" pitchFamily="34" charset="-120"/>
              </a:rPr>
              <a:t>c)</a:t>
            </a:r>
            <a:endParaRPr lang="en-US" sz="1350" dirty="0"/>
          </a:p>
        </p:txBody>
      </p:sp>
      <p:sp>
        <p:nvSpPr>
          <p:cNvPr id="13" name="Text 11"/>
          <p:cNvSpPr txBox="1"/>
          <p:nvPr/>
        </p:nvSpPr>
        <p:spPr>
          <a:xfrm>
            <a:off x="1161288" y="3410712"/>
            <a:ext cx="10250424" cy="530352"/>
          </a:xfrm>
          <a:prstGeom prst="rect">
            <a:avLst/>
          </a:prstGeom>
          <a:noFill/>
          <a:ln/>
        </p:spPr>
        <p:txBody>
          <a:bodyPr wrap="square" lIns="0" tIns="0" rIns="0" bIns="0" rtlCol="0" anchor="t"/>
          <a:lstStyle/>
          <a:p>
            <a:pPr marL="0" indent="0">
              <a:lnSpc>
                <a:spcPct val="112000"/>
              </a:lnSpc>
              <a:buNone/>
            </a:pPr>
            <a:r>
              <a:rPr lang="en-US" sz="1350" dirty="0">
                <a:solidFill>
                  <a:srgbClr val="1A1A1A"/>
                </a:solidFill>
                <a:latin typeface="Arial" pitchFamily="34" charset="0"/>
                <a:ea typeface="Arial" pitchFamily="34" charset="-122"/>
                <a:cs typeface="Arial" pitchFamily="34" charset="-120"/>
              </a:rPr>
              <a:t>Se cae un DataNode que tenía una réplica de cada bloque del archivo (a). ¿Se pierde información? ¿Qué hace el NameNode?</a:t>
            </a:r>
            <a:endParaRPr lang="en-US" sz="1350" dirty="0"/>
          </a:p>
        </p:txBody>
      </p:sp>
      <p:sp>
        <p:nvSpPr>
          <p:cNvPr id="14" name="Text 12"/>
          <p:cNvSpPr txBox="1"/>
          <p:nvPr/>
        </p:nvSpPr>
        <p:spPr>
          <a:xfrm>
            <a:off x="777240" y="4233672"/>
            <a:ext cx="365760" cy="274320"/>
          </a:xfrm>
          <a:prstGeom prst="rect">
            <a:avLst/>
          </a:prstGeom>
          <a:noFill/>
          <a:ln/>
        </p:spPr>
        <p:txBody>
          <a:bodyPr wrap="square" lIns="0" tIns="0" rIns="0" bIns="0" rtlCol="0" anchor="t"/>
          <a:lstStyle/>
          <a:p>
            <a:pPr marL="0" indent="0">
              <a:buNone/>
            </a:pPr>
            <a:r>
              <a:rPr lang="en-US" sz="1350" b="1" dirty="0">
                <a:solidFill>
                  <a:srgbClr val="DE6B12"/>
                </a:solidFill>
                <a:latin typeface="Arial" pitchFamily="34" charset="0"/>
                <a:ea typeface="Arial" pitchFamily="34" charset="-122"/>
                <a:cs typeface="Arial" pitchFamily="34" charset="-120"/>
              </a:rPr>
              <a:t>d)</a:t>
            </a:r>
            <a:endParaRPr lang="en-US" sz="1350" dirty="0"/>
          </a:p>
        </p:txBody>
      </p:sp>
      <p:sp>
        <p:nvSpPr>
          <p:cNvPr id="15" name="Text 13"/>
          <p:cNvSpPr txBox="1"/>
          <p:nvPr/>
        </p:nvSpPr>
        <p:spPr>
          <a:xfrm>
            <a:off x="1161288" y="4233672"/>
            <a:ext cx="10250424" cy="292608"/>
          </a:xfrm>
          <a:prstGeom prst="rect">
            <a:avLst/>
          </a:prstGeom>
          <a:noFill/>
          <a:ln/>
        </p:spPr>
        <p:txBody>
          <a:bodyPr wrap="square" lIns="0" tIns="0" rIns="0" bIns="0" rtlCol="0" anchor="t"/>
          <a:lstStyle/>
          <a:p>
            <a:pPr marL="0" indent="0">
              <a:lnSpc>
                <a:spcPct val="112000"/>
              </a:lnSpc>
              <a:buNone/>
            </a:pPr>
            <a:r>
              <a:rPr lang="en-US" sz="1350" dirty="0">
                <a:solidFill>
                  <a:srgbClr val="1A1A1A"/>
                </a:solidFill>
                <a:latin typeface="Arial" pitchFamily="34" charset="0"/>
                <a:ea typeface="Arial" pitchFamily="34" charset="-122"/>
                <a:cs typeface="Arial" pitchFamily="34" charset="-120"/>
              </a:rPr>
              <a:t>¿Qué es peor para HDFS: </a:t>
            </a:r>
            <a:r>
              <a:rPr lang="en-US" sz="1350" b="1" dirty="0">
                <a:solidFill>
                  <a:srgbClr val="355D64"/>
                </a:solidFill>
                <a:latin typeface="Arial" pitchFamily="34" charset="0"/>
                <a:ea typeface="Arial" pitchFamily="34" charset="-122"/>
                <a:cs typeface="Arial" pitchFamily="34" charset="-120"/>
              </a:rPr>
              <a:t>un archivo de 1 GB</a:t>
            </a:r>
            <a:r>
              <a:rPr lang="en-US" sz="1350" dirty="0">
                <a:solidFill>
                  <a:srgbClr val="1A1A1A"/>
                </a:solidFill>
                <a:latin typeface="Arial" pitchFamily="34" charset="0"/>
                <a:ea typeface="Arial" pitchFamily="34" charset="-122"/>
                <a:cs typeface="Arial" pitchFamily="34" charset="-120"/>
              </a:rPr>
              <a:t> o </a:t>
            </a:r>
            <a:r>
              <a:rPr lang="en-US" sz="1350" b="1" dirty="0">
                <a:solidFill>
                  <a:srgbClr val="355D64"/>
                </a:solidFill>
                <a:latin typeface="Arial" pitchFamily="34" charset="0"/>
                <a:ea typeface="Arial" pitchFamily="34" charset="-122"/>
                <a:cs typeface="Arial" pitchFamily="34" charset="-120"/>
              </a:rPr>
              <a:t>un millón de archivos de 1 KB</a:t>
            </a:r>
            <a:r>
              <a:rPr lang="en-US" sz="1350" dirty="0">
                <a:solidFill>
                  <a:srgbClr val="1A1A1A"/>
                </a:solidFill>
                <a:latin typeface="Arial" pitchFamily="34" charset="0"/>
                <a:ea typeface="Arial" pitchFamily="34" charset="-122"/>
                <a:cs typeface="Arial" pitchFamily="34" charset="-120"/>
              </a:rPr>
              <a:t>? ¿Por qué?</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83C8BD"/>
        </a:solidFill>
        <a:effectLst/>
      </p:bgPr>
    </p:bg>
    <p:spTree>
      <p:nvGrpSpPr>
        <p:cNvPr id="1" name=""/>
        <p:cNvGrpSpPr/>
        <p:nvPr/>
      </p:nvGrpSpPr>
      <p:grpSpPr>
        <a:xfrm>
          <a:off x="0" y="0"/>
          <a:ext cx="0" cy="0"/>
          <a:chOff x="0" y="0"/>
          <a:chExt cx="0" cy="0"/>
        </a:xfrm>
      </p:grpSpPr>
      <p:sp>
        <p:nvSpPr>
          <p:cNvPr id="2" name="Shape 0"/>
          <p:cNvSpPr/>
          <p:nvPr/>
        </p:nvSpPr>
        <p:spPr>
          <a:xfrm>
            <a:off x="292608" y="201168"/>
            <a:ext cx="11603736" cy="6455664"/>
          </a:xfrm>
          <a:prstGeom prst="roundRect">
            <a:avLst>
              <a:gd name="adj" fmla="val 779"/>
            </a:avLst>
          </a:prstGeom>
          <a:solidFill>
            <a:srgbClr val="FFFFFF"/>
          </a:solidFill>
          <a:ln w="50800">
            <a:solidFill>
              <a:srgbClr val="5A99D1"/>
            </a:solidFill>
            <a:prstDash val="solid"/>
          </a:ln>
        </p:spPr>
      </p:sp>
      <p:sp>
        <p:nvSpPr>
          <p:cNvPr id="3" name="Text 1"/>
          <p:cNvSpPr txBox="1"/>
          <p:nvPr/>
        </p:nvSpPr>
        <p:spPr>
          <a:xfrm>
            <a:off x="777240" y="420624"/>
            <a:ext cx="10634472" cy="502920"/>
          </a:xfrm>
          <a:prstGeom prst="rect">
            <a:avLst/>
          </a:prstGeom>
          <a:noFill/>
          <a:ln/>
        </p:spPr>
        <p:txBody>
          <a:bodyPr wrap="square" lIns="0" tIns="0" rIns="0" bIns="0" rtlCol="0" anchor="t"/>
          <a:lstStyle/>
          <a:p>
            <a:pPr marL="0" indent="0">
              <a:buNone/>
            </a:pPr>
            <a:r>
              <a:rPr lang="en-US" sz="3000" b="1" dirty="0">
                <a:solidFill>
                  <a:srgbClr val="DE6B12"/>
                </a:solidFill>
                <a:latin typeface="Arial" pitchFamily="34" charset="0"/>
                <a:ea typeface="Arial" pitchFamily="34" charset="-122"/>
                <a:cs typeface="Arial" pitchFamily="34" charset="-120"/>
              </a:rPr>
              <a:t>H1 · Paso a paso</a:t>
            </a:r>
            <a:endParaRPr lang="en-US" sz="3000" dirty="0"/>
          </a:p>
        </p:txBody>
      </p:sp>
      <p:sp>
        <p:nvSpPr>
          <p:cNvPr id="4" name="Shape 2"/>
          <p:cNvSpPr/>
          <p:nvPr/>
        </p:nvSpPr>
        <p:spPr>
          <a:xfrm>
            <a:off x="777240" y="1325880"/>
            <a:ext cx="5120640" cy="2017776"/>
          </a:xfrm>
          <a:prstGeom prst="rect">
            <a:avLst/>
          </a:prstGeom>
          <a:solidFill>
            <a:srgbClr val="EDEDED"/>
          </a:solidFill>
          <a:ln/>
        </p:spPr>
      </p:sp>
      <p:sp>
        <p:nvSpPr>
          <p:cNvPr id="5" name="Shape 3"/>
          <p:cNvSpPr/>
          <p:nvPr/>
        </p:nvSpPr>
        <p:spPr>
          <a:xfrm>
            <a:off x="777240" y="1325880"/>
            <a:ext cx="68580" cy="2017776"/>
          </a:xfrm>
          <a:prstGeom prst="rect">
            <a:avLst/>
          </a:prstGeom>
          <a:solidFill>
            <a:srgbClr val="4BABA0"/>
          </a:solidFill>
          <a:ln/>
        </p:spPr>
      </p:sp>
      <p:sp>
        <p:nvSpPr>
          <p:cNvPr id="6" name="Text 4"/>
          <p:cNvSpPr txBox="1"/>
          <p:nvPr/>
        </p:nvSpPr>
        <p:spPr>
          <a:xfrm>
            <a:off x="1014984" y="1453896"/>
            <a:ext cx="4718304" cy="1761744"/>
          </a:xfrm>
          <a:prstGeom prst="rect">
            <a:avLst/>
          </a:prstGeom>
          <a:noFill/>
          <a:ln/>
        </p:spPr>
        <p:txBody>
          <a:bodyPr wrap="square" lIns="0" tIns="0" rIns="0" bIns="0" rtlCol="0" anchor="t"/>
          <a:lstStyle/>
          <a:p>
            <a:pPr marL="0" indent="0">
              <a:lnSpc>
                <a:spcPct val="118000"/>
              </a:lnSpc>
              <a:buNone/>
            </a:pPr>
            <a:r>
              <a:rPr lang="en-US" sz="1300" dirty="0">
                <a:solidFill>
                  <a:srgbClr val="1F2430"/>
                </a:solidFill>
                <a:latin typeface="Consolas" pitchFamily="34" charset="0"/>
                <a:ea typeface="Consolas" pitchFamily="34" charset="-122"/>
                <a:cs typeface="Consolas" pitchFamily="34" charset="-120"/>
              </a:rPr>
              <a:t>(a) 640 / 128 = </a:t>
            </a:r>
            <a:r>
              <a:rPr lang="en-US" sz="1300" b="1" dirty="0">
                <a:solidFill>
                  <a:srgbClr val="DE6B12"/>
                </a:solidFill>
                <a:latin typeface="Consolas" pitchFamily="34" charset="0"/>
                <a:ea typeface="Consolas" pitchFamily="34" charset="-122"/>
                <a:cs typeface="Consolas" pitchFamily="34" charset="-120"/>
              </a:rPr>
              <a:t>5 bloques</a:t>
            </a:r>
            <a:endParaRPr lang="en-US" sz="1300" dirty="0"/>
          </a:p>
          <a:p>
            <a:pPr marL="0" indent="0">
              <a:lnSpc>
                <a:spcPct val="118000"/>
              </a:lnSpc>
              <a:buNone/>
            </a:pPr>
            <a:r>
              <a:rPr lang="en-US" sz="1300" dirty="0">
                <a:solidFill>
                  <a:srgbClr val="1F2430"/>
                </a:solidFill>
                <a:latin typeface="Consolas" pitchFamily="34" charset="0"/>
                <a:ea typeface="Consolas" pitchFamily="34" charset="-122"/>
                <a:cs typeface="Consolas" pitchFamily="34" charset="-120"/>
              </a:rPr>
              <a:t>    5 x 3     = </a:t>
            </a:r>
            <a:r>
              <a:rPr lang="en-US" sz="1300" b="1" dirty="0">
                <a:solidFill>
                  <a:srgbClr val="DE6B12"/>
                </a:solidFill>
                <a:latin typeface="Consolas" pitchFamily="34" charset="0"/>
                <a:ea typeface="Consolas" pitchFamily="34" charset="-122"/>
                <a:cs typeface="Consolas" pitchFamily="34" charset="-120"/>
              </a:rPr>
              <a:t>15 replicas</a:t>
            </a:r>
            <a:endParaRPr lang="en-US" sz="1300" dirty="0"/>
          </a:p>
          <a:p>
            <a:pPr marL="0" indent="0">
              <a:lnSpc>
                <a:spcPct val="118000"/>
              </a:lnSpc>
              <a:buNone/>
            </a:pPr>
            <a:r>
              <a:rPr lang="en-US" sz="1300" dirty="0">
                <a:solidFill>
                  <a:srgbClr val="1F2430"/>
                </a:solidFill>
                <a:latin typeface="Consolas" pitchFamily="34" charset="0"/>
                <a:ea typeface="Consolas" pitchFamily="34" charset="-122"/>
                <a:cs typeface="Consolas" pitchFamily="34" charset="-120"/>
              </a:rPr>
              <a:t>    640 x 3   = </a:t>
            </a:r>
            <a:r>
              <a:rPr lang="en-US" sz="1300" b="1" dirty="0">
                <a:solidFill>
                  <a:srgbClr val="DE6B12"/>
                </a:solidFill>
                <a:latin typeface="Consolas" pitchFamily="34" charset="0"/>
                <a:ea typeface="Consolas" pitchFamily="34" charset="-122"/>
                <a:cs typeface="Consolas" pitchFamily="34" charset="-120"/>
              </a:rPr>
              <a:t>1.920 MB</a:t>
            </a:r>
            <a:r>
              <a:rPr lang="en-US" sz="1300" dirty="0">
                <a:solidFill>
                  <a:srgbClr val="1F2430"/>
                </a:solidFill>
                <a:latin typeface="Consolas" pitchFamily="34" charset="0"/>
                <a:ea typeface="Consolas" pitchFamily="34" charset="-122"/>
                <a:cs typeface="Consolas" pitchFamily="34" charset="-120"/>
              </a:rPr>
              <a:t> en disco</a:t>
            </a:r>
            <a:endParaRPr lang="en-US" sz="1300" dirty="0"/>
          </a:p>
          <a:p>
            <a:pPr marL="0" indent="0">
              <a:lnSpc>
                <a:spcPct val="118000"/>
              </a:lnSpc>
              <a:buNone/>
            </a:pPr>
            <a:r>
              <a:rPr lang="en-US" sz="1300" dirty="0">
                <a:solidFill>
                  <a:srgbClr val="1F2430"/>
                </a:solidFill>
                <a:latin typeface="Consolas" pitchFamily="34" charset="0"/>
                <a:ea typeface="Consolas" pitchFamily="34" charset="-122"/>
                <a:cs typeface="Consolas" pitchFamily="34" charset="-120"/>
              </a:rPr>
              <a:t> </a:t>
            </a:r>
            <a:endParaRPr lang="en-US" sz="1300" dirty="0"/>
          </a:p>
          <a:p>
            <a:pPr marL="0" indent="0">
              <a:lnSpc>
                <a:spcPct val="118000"/>
              </a:lnSpc>
              <a:buNone/>
            </a:pPr>
            <a:r>
              <a:rPr lang="en-US" sz="1300" dirty="0">
                <a:solidFill>
                  <a:srgbClr val="1F2430"/>
                </a:solidFill>
                <a:latin typeface="Consolas" pitchFamily="34" charset="0"/>
                <a:ea typeface="Consolas" pitchFamily="34" charset="-122"/>
                <a:cs typeface="Consolas" pitchFamily="34" charset="-120"/>
              </a:rPr>
              <a:t>(b) 300 = 128 + 128 + 44</a:t>
            </a:r>
            <a:endParaRPr lang="en-US" sz="1300" dirty="0"/>
          </a:p>
          <a:p>
            <a:pPr marL="0" indent="0">
              <a:lnSpc>
                <a:spcPct val="118000"/>
              </a:lnSpc>
              <a:buNone/>
            </a:pPr>
            <a:r>
              <a:rPr lang="en-US" sz="1300" dirty="0">
                <a:solidFill>
                  <a:srgbClr val="1F2430"/>
                </a:solidFill>
                <a:latin typeface="Consolas" pitchFamily="34" charset="0"/>
                <a:ea typeface="Consolas" pitchFamily="34" charset="-122"/>
                <a:cs typeface="Consolas" pitchFamily="34" charset="-120"/>
              </a:rPr>
              <a:t>    -&gt; </a:t>
            </a:r>
            <a:r>
              <a:rPr lang="en-US" sz="1300" b="1" dirty="0">
                <a:solidFill>
                  <a:srgbClr val="DE6B12"/>
                </a:solidFill>
                <a:latin typeface="Consolas" pitchFamily="34" charset="0"/>
                <a:ea typeface="Consolas" pitchFamily="34" charset="-122"/>
                <a:cs typeface="Consolas" pitchFamily="34" charset="-120"/>
              </a:rPr>
              <a:t>3 bloques</a:t>
            </a:r>
            <a:r>
              <a:rPr lang="en-US" sz="1300" dirty="0">
                <a:solidFill>
                  <a:srgbClr val="1F2430"/>
                </a:solidFill>
                <a:latin typeface="Consolas" pitchFamily="34" charset="0"/>
                <a:ea typeface="Consolas" pitchFamily="34" charset="-122"/>
                <a:cs typeface="Consolas" pitchFamily="34" charset="-120"/>
              </a:rPr>
              <a:t>, 9 replicas</a:t>
            </a:r>
            <a:endParaRPr lang="en-US" sz="1300" dirty="0"/>
          </a:p>
          <a:p>
            <a:pPr marL="0" indent="0">
              <a:lnSpc>
                <a:spcPct val="118000"/>
              </a:lnSpc>
              <a:buNone/>
            </a:pPr>
            <a:r>
              <a:rPr lang="en-US" sz="1300" dirty="0">
                <a:solidFill>
                  <a:srgbClr val="1F2430"/>
                </a:solidFill>
                <a:latin typeface="Consolas" pitchFamily="34" charset="0"/>
                <a:ea typeface="Consolas" pitchFamily="34" charset="-122"/>
                <a:cs typeface="Consolas" pitchFamily="34" charset="-120"/>
              </a:rPr>
              <a:t>    300 x 3 = </a:t>
            </a:r>
            <a:r>
              <a:rPr lang="en-US" sz="1300" b="1" dirty="0">
                <a:solidFill>
                  <a:srgbClr val="DE6B12"/>
                </a:solidFill>
                <a:latin typeface="Consolas" pitchFamily="34" charset="0"/>
                <a:ea typeface="Consolas" pitchFamily="34" charset="-122"/>
                <a:cs typeface="Consolas" pitchFamily="34" charset="-120"/>
              </a:rPr>
              <a:t>900 MB</a:t>
            </a:r>
            <a:endParaRPr lang="en-US" sz="1300" dirty="0"/>
          </a:p>
          <a:p>
            <a:pPr marL="0" indent="0">
              <a:lnSpc>
                <a:spcPct val="118000"/>
              </a:lnSpc>
              <a:buNone/>
            </a:pPr>
            <a:r>
              <a:rPr lang="en-US" sz="1300" dirty="0">
                <a:solidFill>
                  <a:srgbClr val="1F2430"/>
                </a:solidFill>
                <a:latin typeface="Consolas" pitchFamily="34" charset="0"/>
                <a:ea typeface="Consolas" pitchFamily="34" charset="-122"/>
                <a:cs typeface="Consolas" pitchFamily="34" charset="-120"/>
              </a:rPr>
              <a:t>    (NO 3 x 384 = 1.152 MB)</a:t>
            </a:r>
            <a:endParaRPr lang="en-US" sz="1300" dirty="0"/>
          </a:p>
        </p:txBody>
      </p:sp>
      <p:sp>
        <p:nvSpPr>
          <p:cNvPr id="7" name="Shape 5"/>
          <p:cNvSpPr/>
          <p:nvPr/>
        </p:nvSpPr>
        <p:spPr>
          <a:xfrm>
            <a:off x="6172200" y="1325880"/>
            <a:ext cx="5239512" cy="1324356"/>
          </a:xfrm>
          <a:prstGeom prst="rect">
            <a:avLst/>
          </a:prstGeom>
          <a:solidFill>
            <a:srgbClr val="EDEDED"/>
          </a:solidFill>
          <a:ln/>
        </p:spPr>
      </p:sp>
      <p:sp>
        <p:nvSpPr>
          <p:cNvPr id="8" name="Shape 6"/>
          <p:cNvSpPr/>
          <p:nvPr/>
        </p:nvSpPr>
        <p:spPr>
          <a:xfrm>
            <a:off x="6172200" y="1325880"/>
            <a:ext cx="68580" cy="1324356"/>
          </a:xfrm>
          <a:prstGeom prst="rect">
            <a:avLst/>
          </a:prstGeom>
          <a:solidFill>
            <a:srgbClr val="4BABA0"/>
          </a:solidFill>
          <a:ln/>
        </p:spPr>
      </p:sp>
      <p:sp>
        <p:nvSpPr>
          <p:cNvPr id="9" name="Text 7"/>
          <p:cNvSpPr txBox="1"/>
          <p:nvPr/>
        </p:nvSpPr>
        <p:spPr>
          <a:xfrm>
            <a:off x="6391656" y="1463040"/>
            <a:ext cx="485546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(c) No se pierde nada</a:t>
            </a:r>
            <a:endParaRPr lang="en-US" sz="1500" dirty="0"/>
          </a:p>
        </p:txBody>
      </p:sp>
      <p:sp>
        <p:nvSpPr>
          <p:cNvPr id="10" name="Text 8"/>
          <p:cNvSpPr txBox="1"/>
          <p:nvPr/>
        </p:nvSpPr>
        <p:spPr>
          <a:xfrm>
            <a:off x="6391656" y="1810512"/>
            <a:ext cx="4855464" cy="729996"/>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Quedan 2 copias de cada bloque. El NameNode deja de recibir el </a:t>
            </a:r>
            <a:r>
              <a:rPr lang="en-US" sz="1250" b="1" dirty="0">
                <a:solidFill>
                  <a:srgbClr val="DE6B12"/>
                </a:solidFill>
                <a:latin typeface="Arial" pitchFamily="34" charset="0"/>
                <a:ea typeface="Arial" pitchFamily="34" charset="-122"/>
                <a:cs typeface="Arial" pitchFamily="34" charset="-120"/>
              </a:rPr>
              <a:t>heartbeat</a:t>
            </a:r>
            <a:r>
              <a:rPr lang="en-US" sz="1250" dirty="0">
                <a:solidFill>
                  <a:srgbClr val="1A1A1A"/>
                </a:solidFill>
                <a:latin typeface="Arial" pitchFamily="34" charset="0"/>
                <a:ea typeface="Arial" pitchFamily="34" charset="-122"/>
                <a:cs typeface="Arial" pitchFamily="34" charset="-120"/>
              </a:rPr>
              <a:t>, da el nodo por muerto y ordena copiar los bloques desde las réplicas vivas hasta volver a 3.</a:t>
            </a:r>
            <a:endParaRPr lang="en-US" sz="1250" dirty="0"/>
          </a:p>
        </p:txBody>
      </p:sp>
      <p:sp>
        <p:nvSpPr>
          <p:cNvPr id="11" name="Shape 9"/>
          <p:cNvSpPr/>
          <p:nvPr/>
        </p:nvSpPr>
        <p:spPr>
          <a:xfrm>
            <a:off x="6172200" y="3154680"/>
            <a:ext cx="5239512" cy="1324356"/>
          </a:xfrm>
          <a:prstGeom prst="rect">
            <a:avLst/>
          </a:prstGeom>
          <a:solidFill>
            <a:srgbClr val="EDEDED"/>
          </a:solidFill>
          <a:ln/>
        </p:spPr>
      </p:sp>
      <p:sp>
        <p:nvSpPr>
          <p:cNvPr id="12" name="Shape 10"/>
          <p:cNvSpPr/>
          <p:nvPr/>
        </p:nvSpPr>
        <p:spPr>
          <a:xfrm>
            <a:off x="6172200" y="3154680"/>
            <a:ext cx="68580" cy="1324356"/>
          </a:xfrm>
          <a:prstGeom prst="rect">
            <a:avLst/>
          </a:prstGeom>
          <a:solidFill>
            <a:srgbClr val="4BABA0"/>
          </a:solidFill>
          <a:ln/>
        </p:spPr>
      </p:sp>
      <p:sp>
        <p:nvSpPr>
          <p:cNvPr id="13" name="Text 11"/>
          <p:cNvSpPr txBox="1"/>
          <p:nvPr/>
        </p:nvSpPr>
        <p:spPr>
          <a:xfrm>
            <a:off x="6391656" y="3291840"/>
            <a:ext cx="485546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(d) Peor: el millón de archivos chicos</a:t>
            </a:r>
            <a:endParaRPr lang="en-US" sz="1500" dirty="0"/>
          </a:p>
        </p:txBody>
      </p:sp>
      <p:sp>
        <p:nvSpPr>
          <p:cNvPr id="14" name="Text 12"/>
          <p:cNvSpPr txBox="1"/>
          <p:nvPr/>
        </p:nvSpPr>
        <p:spPr>
          <a:xfrm>
            <a:off x="6391656" y="3639312"/>
            <a:ext cx="4855464" cy="729996"/>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Cada archivo y cada bloque es un objeto en la </a:t>
            </a:r>
            <a:r>
              <a:rPr lang="en-US" sz="1250" b="1" dirty="0">
                <a:solidFill>
                  <a:srgbClr val="DE6B12"/>
                </a:solidFill>
                <a:latin typeface="Arial" pitchFamily="34" charset="0"/>
                <a:ea typeface="Arial" pitchFamily="34" charset="-122"/>
                <a:cs typeface="Arial" pitchFamily="34" charset="-120"/>
              </a:rPr>
              <a:t>memoria del NameNode</a:t>
            </a:r>
            <a:r>
              <a:rPr lang="en-US" sz="1250" dirty="0">
                <a:solidFill>
                  <a:srgbClr val="1A1A1A"/>
                </a:solidFill>
                <a:latin typeface="Arial" pitchFamily="34" charset="0"/>
                <a:ea typeface="Arial" pitchFamily="34" charset="-122"/>
                <a:cs typeface="Arial" pitchFamily="34" charset="-120"/>
              </a:rPr>
              <a:t>. Un millón de archivos lo saturan aunque sumen solo 1 GB. HDFS está hecho para pocos archivos grandes.</a:t>
            </a:r>
            <a:endParaRPr lang="en-US" sz="1250" dirty="0"/>
          </a:p>
        </p:txBody>
      </p:sp>
      <p:sp>
        <p:nvSpPr>
          <p:cNvPr id="15" name="Shape 13"/>
          <p:cNvSpPr/>
          <p:nvPr/>
        </p:nvSpPr>
        <p:spPr>
          <a:xfrm>
            <a:off x="777240" y="5742432"/>
            <a:ext cx="10634472" cy="621792"/>
          </a:xfrm>
          <a:prstGeom prst="rect">
            <a:avLst/>
          </a:prstGeom>
          <a:solidFill>
            <a:srgbClr val="4BABA0"/>
          </a:solidFill>
          <a:ln/>
        </p:spPr>
      </p:sp>
      <p:sp>
        <p:nvSpPr>
          <p:cNvPr id="16" name="Text 14"/>
          <p:cNvSpPr txBox="1"/>
          <p:nvPr/>
        </p:nvSpPr>
        <p:spPr>
          <a:xfrm>
            <a:off x="978408" y="5815584"/>
            <a:ext cx="10232136" cy="475488"/>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El NameNode es el cerebro: si se cae y no hay un NameNode de respaldo, el clúster queda inaccesible aunque los datos estén intactos.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83C8BD"/>
        </a:solidFill>
        <a:effectLst/>
      </p:bgPr>
    </p:bg>
    <p:spTree>
      <p:nvGrpSpPr>
        <p:cNvPr id="1" name=""/>
        <p:cNvGrpSpPr/>
        <p:nvPr/>
      </p:nvGrpSpPr>
      <p:grpSpPr>
        <a:xfrm>
          <a:off x="0" y="0"/>
          <a:ext cx="0" cy="0"/>
          <a:chOff x="0" y="0"/>
          <a:chExt cx="0" cy="0"/>
        </a:xfrm>
      </p:grpSpPr>
      <p:sp>
        <p:nvSpPr>
          <p:cNvPr id="2" name="Shape 0"/>
          <p:cNvSpPr/>
          <p:nvPr/>
        </p:nvSpPr>
        <p:spPr>
          <a:xfrm>
            <a:off x="292608" y="201168"/>
            <a:ext cx="11603736" cy="6455664"/>
          </a:xfrm>
          <a:prstGeom prst="roundRect">
            <a:avLst>
              <a:gd name="adj" fmla="val 779"/>
            </a:avLst>
          </a:prstGeom>
          <a:solidFill>
            <a:srgbClr val="FFFFFF"/>
          </a:solidFill>
          <a:ln w="50800">
            <a:solidFill>
              <a:srgbClr val="5A99D1"/>
            </a:solidFill>
            <a:prstDash val="solid"/>
          </a:ln>
        </p:spPr>
      </p:sp>
      <p:sp>
        <p:nvSpPr>
          <p:cNvPr id="3" name="Text 1"/>
          <p:cNvSpPr txBox="1"/>
          <p:nvPr/>
        </p:nvSpPr>
        <p:spPr>
          <a:xfrm>
            <a:off x="777240" y="420624"/>
            <a:ext cx="10634472" cy="502920"/>
          </a:xfrm>
          <a:prstGeom prst="rect">
            <a:avLst/>
          </a:prstGeom>
          <a:noFill/>
          <a:ln/>
        </p:spPr>
        <p:txBody>
          <a:bodyPr wrap="square" lIns="0" tIns="0" rIns="0" bIns="0" rtlCol="0" anchor="t"/>
          <a:lstStyle/>
          <a:p>
            <a:pPr marL="0" indent="0">
              <a:buNone/>
            </a:pPr>
            <a:r>
              <a:rPr lang="en-US" sz="3000" b="1" dirty="0">
                <a:solidFill>
                  <a:srgbClr val="DE6B12"/>
                </a:solidFill>
                <a:latin typeface="Arial" pitchFamily="34" charset="0"/>
                <a:ea typeface="Arial" pitchFamily="34" charset="-122"/>
                <a:cs typeface="Arial" pitchFamily="34" charset="-120"/>
              </a:rPr>
              <a:t>Ejercicio B1 </a:t>
            </a:r>
            <a:r>
              <a:rPr lang="en-US" sz="3000" b="1" dirty="0">
                <a:solidFill>
                  <a:srgbClr val="355D64"/>
                </a:solidFill>
                <a:latin typeface="Arial" pitchFamily="34" charset="0"/>
                <a:ea typeface="Arial" pitchFamily="34" charset="-122"/>
                <a:cs typeface="Arial" pitchFamily="34" charset="-120"/>
              </a:rPr>
              <a:t>· Vehículos autónomos</a:t>
            </a:r>
            <a:endParaRPr lang="en-US" sz="3000" dirty="0"/>
          </a:p>
        </p:txBody>
      </p:sp>
      <p:sp>
        <p:nvSpPr>
          <p:cNvPr id="4" name="Text 2"/>
          <p:cNvSpPr txBox="1"/>
          <p:nvPr/>
        </p:nvSpPr>
        <p:spPr>
          <a:xfrm>
            <a:off x="777240" y="941832"/>
            <a:ext cx="10634472" cy="274320"/>
          </a:xfrm>
          <a:prstGeom prst="rect">
            <a:avLst/>
          </a:prstGeom>
          <a:noFill/>
          <a:ln/>
        </p:spPr>
        <p:txBody>
          <a:bodyPr wrap="square" lIns="0" tIns="0" rIns="0" bIns="0" rtlCol="0" anchor="t"/>
          <a:lstStyle/>
          <a:p>
            <a:pPr marL="0" indent="0">
              <a:buNone/>
            </a:pPr>
            <a:r>
              <a:rPr lang="en-US" sz="1200" b="1" dirty="0">
                <a:solidFill>
                  <a:srgbClr val="355D64"/>
                </a:solidFill>
                <a:latin typeface="Arial" pitchFamily="34" charset="0"/>
                <a:ea typeface="Arial" pitchFamily="34" charset="-122"/>
                <a:cs typeface="Arial" pitchFamily="34" charset="-120"/>
              </a:rPr>
              <a:t>Dimensionamiento HDFS · paralelismo en Spark</a:t>
            </a:r>
            <a:endParaRPr lang="en-US" sz="1200" dirty="0"/>
          </a:p>
        </p:txBody>
      </p:sp>
      <p:sp>
        <p:nvSpPr>
          <p:cNvPr id="5" name="Text 3"/>
          <p:cNvSpPr txBox="1"/>
          <p:nvPr/>
        </p:nvSpPr>
        <p:spPr>
          <a:xfrm>
            <a:off x="777240" y="1371600"/>
            <a:ext cx="10634472" cy="914400"/>
          </a:xfrm>
          <a:prstGeom prst="rect">
            <a:avLst/>
          </a:prstGeom>
          <a:noFill/>
          <a:ln/>
        </p:spPr>
        <p:txBody>
          <a:bodyPr wrap="square" lIns="0" tIns="0" rIns="0" bIns="0" rtlCol="0" anchor="t"/>
          <a:lstStyle/>
          <a:p>
            <a:pPr marL="0" indent="0">
              <a:lnSpc>
                <a:spcPct val="120000"/>
              </a:lnSpc>
              <a:buNone/>
            </a:pPr>
            <a:r>
              <a:rPr lang="en-US" sz="1350" dirty="0">
                <a:solidFill>
                  <a:srgbClr val="1A1A1A"/>
                </a:solidFill>
                <a:latin typeface="Arial" pitchFamily="34" charset="0"/>
                <a:ea typeface="Arial" pitchFamily="34" charset="-122"/>
                <a:cs typeface="Arial" pitchFamily="34" charset="-120"/>
              </a:rPr>
              <a:t>Una empresa opera una flota de </a:t>
            </a:r>
            <a:r>
              <a:rPr lang="en-US" sz="1350" b="1" dirty="0">
                <a:solidFill>
                  <a:srgbClr val="355D64"/>
                </a:solidFill>
                <a:latin typeface="Arial" pitchFamily="34" charset="0"/>
                <a:ea typeface="Arial" pitchFamily="34" charset="-122"/>
                <a:cs typeface="Arial" pitchFamily="34" charset="-120"/>
              </a:rPr>
              <a:t>1.000 vehículos autónomos</a:t>
            </a:r>
            <a:r>
              <a:rPr lang="en-US" sz="1350" dirty="0">
                <a:solidFill>
                  <a:srgbClr val="1A1A1A"/>
                </a:solidFill>
                <a:latin typeface="Arial" pitchFamily="34" charset="0"/>
                <a:ea typeface="Arial" pitchFamily="34" charset="-122"/>
                <a:cs typeface="Arial" pitchFamily="34" charset="-120"/>
              </a:rPr>
              <a:t>. Cada vehículo genera telemetría continua a razón de </a:t>
            </a:r>
            <a:r>
              <a:rPr lang="en-US" sz="1350" b="1" dirty="0">
                <a:solidFill>
                  <a:srgbClr val="355D64"/>
                </a:solidFill>
                <a:latin typeface="Arial" pitchFamily="34" charset="0"/>
                <a:ea typeface="Arial" pitchFamily="34" charset="-122"/>
                <a:cs typeface="Arial" pitchFamily="34" charset="-120"/>
              </a:rPr>
              <a:t>1,5 MB por segundo, las 24 horas del día</a:t>
            </a:r>
            <a:r>
              <a:rPr lang="en-US" sz="1350" dirty="0">
                <a:solidFill>
                  <a:srgbClr val="1A1A1A"/>
                </a:solidFill>
                <a:latin typeface="Arial" pitchFamily="34" charset="0"/>
                <a:ea typeface="Arial" pitchFamily="34" charset="-122"/>
                <a:cs typeface="Arial" pitchFamily="34" charset="-120"/>
              </a:rPr>
              <a:t>. Los datos se guardan en un clúster </a:t>
            </a:r>
            <a:r>
              <a:rPr lang="en-US" sz="1350" b="1" dirty="0">
                <a:solidFill>
                  <a:srgbClr val="355D64"/>
                </a:solidFill>
                <a:latin typeface="Arial" pitchFamily="34" charset="0"/>
                <a:ea typeface="Arial" pitchFamily="34" charset="-122"/>
                <a:cs typeface="Arial" pitchFamily="34" charset="-120"/>
              </a:rPr>
              <a:t>Hadoop (HDFS)</a:t>
            </a:r>
            <a:r>
              <a:rPr lang="en-US" sz="1350" dirty="0">
                <a:solidFill>
                  <a:srgbClr val="1A1A1A"/>
                </a:solidFill>
                <a:latin typeface="Arial" pitchFamily="34" charset="0"/>
                <a:ea typeface="Arial" pitchFamily="34" charset="-122"/>
                <a:cs typeface="Arial" pitchFamily="34" charset="-120"/>
              </a:rPr>
              <a:t> con </a:t>
            </a:r>
            <a:r>
              <a:rPr lang="en-US" sz="1350" b="1" dirty="0">
                <a:solidFill>
                  <a:srgbClr val="355D64"/>
                </a:solidFill>
                <a:latin typeface="Arial" pitchFamily="34" charset="0"/>
                <a:ea typeface="Arial" pitchFamily="34" charset="-122"/>
                <a:cs typeface="Arial" pitchFamily="34" charset="-120"/>
              </a:rPr>
              <a:t>replicación por defecto</a:t>
            </a:r>
            <a:r>
              <a:rPr lang="en-US" sz="1350" dirty="0">
                <a:solidFill>
                  <a:srgbClr val="1A1A1A"/>
                </a:solidFill>
                <a:latin typeface="Arial" pitchFamily="34" charset="0"/>
                <a:ea typeface="Arial" pitchFamily="34" charset="-122"/>
                <a:cs typeface="Arial" pitchFamily="34" charset="-120"/>
              </a:rPr>
              <a:t> y se procesan con </a:t>
            </a:r>
            <a:r>
              <a:rPr lang="en-US" sz="1350" b="1" dirty="0">
                <a:solidFill>
                  <a:srgbClr val="355D64"/>
                </a:solidFill>
                <a:latin typeface="Arial" pitchFamily="34" charset="0"/>
                <a:ea typeface="Arial" pitchFamily="34" charset="-122"/>
                <a:cs typeface="Arial" pitchFamily="34" charset="-120"/>
              </a:rPr>
              <a:t>Apache Spark</a:t>
            </a:r>
            <a:r>
              <a:rPr lang="en-US" sz="1350" dirty="0">
                <a:solidFill>
                  <a:srgbClr val="1A1A1A"/>
                </a:solidFill>
                <a:latin typeface="Arial" pitchFamily="34" charset="0"/>
                <a:ea typeface="Arial" pitchFamily="34" charset="-122"/>
                <a:cs typeface="Arial" pitchFamily="34" charset="-120"/>
              </a:rPr>
              <a:t>. La retención exigida es de </a:t>
            </a:r>
            <a:r>
              <a:rPr lang="en-US" sz="1350" b="1" dirty="0">
                <a:solidFill>
                  <a:srgbClr val="355D64"/>
                </a:solidFill>
                <a:latin typeface="Arial" pitchFamily="34" charset="0"/>
                <a:ea typeface="Arial" pitchFamily="34" charset="-122"/>
                <a:cs typeface="Arial" pitchFamily="34" charset="-120"/>
              </a:rPr>
              <a:t>10 días exactos</a:t>
            </a:r>
            <a:r>
              <a:rPr lang="en-US" sz="1350" dirty="0">
                <a:solidFill>
                  <a:srgbClr val="1A1A1A"/>
                </a:solidFill>
                <a:latin typeface="Arial" pitchFamily="34" charset="0"/>
                <a:ea typeface="Arial" pitchFamily="34" charset="-122"/>
                <a:cs typeface="Arial" pitchFamily="34" charset="-120"/>
              </a:rPr>
              <a:t>.</a:t>
            </a:r>
            <a:endParaRPr lang="en-US" sz="1350" dirty="0"/>
          </a:p>
        </p:txBody>
      </p:sp>
      <p:sp>
        <p:nvSpPr>
          <p:cNvPr id="6" name="Shape 4"/>
          <p:cNvSpPr/>
          <p:nvPr/>
        </p:nvSpPr>
        <p:spPr>
          <a:xfrm>
            <a:off x="777240" y="2650965"/>
            <a:ext cx="10634472" cy="457200"/>
          </a:xfrm>
          <a:prstGeom prst="rect">
            <a:avLst/>
          </a:prstGeom>
          <a:solidFill>
            <a:srgbClr val="EDEDED"/>
          </a:solidFill>
          <a:ln/>
        </p:spPr>
      </p:sp>
      <p:sp>
        <p:nvSpPr>
          <p:cNvPr id="7" name="Text 5"/>
          <p:cNvSpPr txBox="1"/>
          <p:nvPr/>
        </p:nvSpPr>
        <p:spPr>
          <a:xfrm>
            <a:off x="976818" y="2763211"/>
            <a:ext cx="914400" cy="237744"/>
          </a:xfrm>
          <a:prstGeom prst="rect">
            <a:avLst/>
          </a:prstGeom>
          <a:noFill/>
          <a:ln/>
        </p:spPr>
        <p:txBody>
          <a:bodyPr wrap="square" lIns="0" tIns="0" rIns="0" bIns="0" rtlCol="0" anchor="t"/>
          <a:lstStyle/>
          <a:p>
            <a:pPr marL="0" indent="0">
              <a:buNone/>
            </a:pPr>
            <a:r>
              <a:rPr lang="en-US" sz="1200" b="1" kern="0" spc="100" dirty="0">
                <a:solidFill>
                  <a:srgbClr val="DE6B12"/>
                </a:solidFill>
                <a:latin typeface="Arial" pitchFamily="34" charset="0"/>
                <a:ea typeface="Arial" pitchFamily="34" charset="-122"/>
                <a:cs typeface="Arial" pitchFamily="34" charset="-120"/>
              </a:rPr>
              <a:t>CLÚSTER</a:t>
            </a:r>
            <a:endParaRPr lang="en-US" sz="1200" dirty="0"/>
          </a:p>
        </p:txBody>
      </p:sp>
      <p:sp>
        <p:nvSpPr>
          <p:cNvPr id="8" name="Text 6"/>
          <p:cNvSpPr txBox="1"/>
          <p:nvPr/>
        </p:nvSpPr>
        <p:spPr>
          <a:xfrm>
            <a:off x="1942636" y="2763211"/>
            <a:ext cx="9262872" cy="237744"/>
          </a:xfrm>
          <a:prstGeom prst="rect">
            <a:avLst/>
          </a:prstGeom>
          <a:noFill/>
          <a:ln/>
        </p:spPr>
        <p:txBody>
          <a:bodyPr wrap="square" lIns="0" tIns="0" rIns="0" bIns="0" rtlCol="0" anchor="t"/>
          <a:lstStyle/>
          <a:p>
            <a:pPr marL="0" indent="0">
              <a:buNone/>
            </a:pPr>
            <a:r>
              <a:rPr lang="en-US" sz="1250" dirty="0">
                <a:solidFill>
                  <a:srgbClr val="1A1A1A"/>
                </a:solidFill>
                <a:latin typeface="Arial" pitchFamily="34" charset="0"/>
                <a:ea typeface="Arial" pitchFamily="34" charset="-122"/>
                <a:cs typeface="Arial" pitchFamily="34" charset="-120"/>
              </a:rPr>
              <a:t>disco por nodo </a:t>
            </a:r>
            <a:r>
              <a:rPr lang="en-US" sz="1250" b="1" dirty="0">
                <a:solidFill>
                  <a:srgbClr val="238C82"/>
                </a:solidFill>
                <a:latin typeface="Arial" pitchFamily="34" charset="0"/>
                <a:ea typeface="Arial" pitchFamily="34" charset="-122"/>
                <a:cs typeface="Arial" pitchFamily="34" charset="-120"/>
              </a:rPr>
              <a:t>20 TB</a:t>
            </a:r>
            <a:r>
              <a:rPr lang="en-US" sz="1250" dirty="0">
                <a:solidFill>
                  <a:srgbClr val="1A1A1A"/>
                </a:solidFill>
                <a:latin typeface="Arial" pitchFamily="34" charset="0"/>
                <a:ea typeface="Arial" pitchFamily="34" charset="-122"/>
                <a:cs typeface="Arial" pitchFamily="34" charset="-120"/>
              </a:rPr>
              <a:t>         cores por nodo </a:t>
            </a:r>
            <a:r>
              <a:rPr lang="en-US" sz="1250" b="1" dirty="0">
                <a:solidFill>
                  <a:srgbClr val="238C82"/>
                </a:solidFill>
                <a:latin typeface="Arial" pitchFamily="34" charset="0"/>
                <a:ea typeface="Arial" pitchFamily="34" charset="-122"/>
                <a:cs typeface="Arial" pitchFamily="34" charset="-120"/>
              </a:rPr>
              <a:t>32</a:t>
            </a:r>
            <a:r>
              <a:rPr lang="en-US" sz="1250" dirty="0">
                <a:solidFill>
                  <a:srgbClr val="1A1A1A"/>
                </a:solidFill>
                <a:latin typeface="Arial" pitchFamily="34" charset="0"/>
                <a:ea typeface="Arial" pitchFamily="34" charset="-122"/>
                <a:cs typeface="Arial" pitchFamily="34" charset="-120"/>
              </a:rPr>
              <a:t>         replicación </a:t>
            </a:r>
            <a:r>
              <a:rPr lang="en-US" sz="1250" b="1" dirty="0">
                <a:solidFill>
                  <a:srgbClr val="238C82"/>
                </a:solidFill>
                <a:latin typeface="Arial" pitchFamily="34" charset="0"/>
                <a:ea typeface="Arial" pitchFamily="34" charset="-122"/>
                <a:cs typeface="Arial" pitchFamily="34" charset="-120"/>
              </a:rPr>
              <a:t>por defecto</a:t>
            </a:r>
            <a:endParaRPr lang="en-US" sz="1250" dirty="0"/>
          </a:p>
        </p:txBody>
      </p:sp>
      <p:sp>
        <p:nvSpPr>
          <p:cNvPr id="9" name="Text 7"/>
          <p:cNvSpPr txBox="1"/>
          <p:nvPr/>
        </p:nvSpPr>
        <p:spPr>
          <a:xfrm>
            <a:off x="777240" y="3108960"/>
            <a:ext cx="365760" cy="274320"/>
          </a:xfrm>
          <a:prstGeom prst="rect">
            <a:avLst/>
          </a:prstGeom>
          <a:noFill/>
          <a:ln/>
        </p:spPr>
        <p:txBody>
          <a:bodyPr wrap="square" lIns="0" tIns="0" rIns="0" bIns="0" rtlCol="0" anchor="t"/>
          <a:lstStyle/>
          <a:p>
            <a:pPr marL="0" indent="0">
              <a:buNone/>
            </a:pPr>
            <a:r>
              <a:rPr lang="en-US" sz="1250" b="1" dirty="0">
                <a:solidFill>
                  <a:srgbClr val="DE6B12"/>
                </a:solidFill>
                <a:latin typeface="Arial" pitchFamily="34" charset="0"/>
                <a:ea typeface="Arial" pitchFamily="34" charset="-122"/>
                <a:cs typeface="Arial" pitchFamily="34" charset="-120"/>
              </a:rPr>
              <a:t>a)</a:t>
            </a:r>
            <a:endParaRPr lang="en-US" sz="1250" dirty="0"/>
          </a:p>
        </p:txBody>
      </p:sp>
      <p:sp>
        <p:nvSpPr>
          <p:cNvPr id="10" name="Text 8"/>
          <p:cNvSpPr txBox="1"/>
          <p:nvPr/>
        </p:nvSpPr>
        <p:spPr>
          <a:xfrm>
            <a:off x="1161288" y="3108960"/>
            <a:ext cx="10250424" cy="292608"/>
          </a:xfrm>
          <a:prstGeom prst="rect">
            <a:avLst/>
          </a:prstGeom>
          <a:noFill/>
          <a:ln/>
        </p:spPr>
        <p:txBody>
          <a:bodyPr wrap="square" lIns="0" tIns="0" rIns="0" bIns="0" rtlCol="0" anchor="t"/>
          <a:lstStyle/>
          <a:p>
            <a:pPr marL="0" indent="0">
              <a:lnSpc>
                <a:spcPct val="112000"/>
              </a:lnSpc>
              <a:buNone/>
            </a:pPr>
            <a:r>
              <a:rPr lang="en-US" sz="1250" dirty="0">
                <a:solidFill>
                  <a:srgbClr val="1A1A1A"/>
                </a:solidFill>
                <a:latin typeface="Arial" pitchFamily="34" charset="0"/>
                <a:ea typeface="Arial" pitchFamily="34" charset="-122"/>
                <a:cs typeface="Arial" pitchFamily="34" charset="-120"/>
              </a:rPr>
              <a:t>Datos crudos de </a:t>
            </a:r>
            <a:r>
              <a:rPr lang="en-US" sz="1250" b="1" dirty="0">
                <a:solidFill>
                  <a:srgbClr val="355D64"/>
                </a:solidFill>
                <a:latin typeface="Arial" pitchFamily="34" charset="0"/>
                <a:ea typeface="Arial" pitchFamily="34" charset="-122"/>
                <a:cs typeface="Arial" pitchFamily="34" charset="-120"/>
              </a:rPr>
              <a:t>un vehículo</a:t>
            </a:r>
            <a:r>
              <a:rPr lang="en-US" sz="1250" dirty="0">
                <a:solidFill>
                  <a:srgbClr val="1A1A1A"/>
                </a:solidFill>
                <a:latin typeface="Arial" pitchFamily="34" charset="0"/>
                <a:ea typeface="Arial" pitchFamily="34" charset="-122"/>
                <a:cs typeface="Arial" pitchFamily="34" charset="-120"/>
              </a:rPr>
              <a:t> en un día, y de </a:t>
            </a:r>
            <a:r>
              <a:rPr lang="en-US" sz="1250" b="1" dirty="0">
                <a:solidFill>
                  <a:srgbClr val="355D64"/>
                </a:solidFill>
                <a:latin typeface="Arial" pitchFamily="34" charset="0"/>
                <a:ea typeface="Arial" pitchFamily="34" charset="-122"/>
                <a:cs typeface="Arial" pitchFamily="34" charset="-120"/>
              </a:rPr>
              <a:t>la flota completa</a:t>
            </a:r>
            <a:r>
              <a:rPr lang="en-US" sz="1250" dirty="0">
                <a:solidFill>
                  <a:srgbClr val="1A1A1A"/>
                </a:solidFill>
                <a:latin typeface="Arial" pitchFamily="34" charset="0"/>
                <a:ea typeface="Arial" pitchFamily="34" charset="-122"/>
                <a:cs typeface="Arial" pitchFamily="34" charset="-120"/>
              </a:rPr>
              <a:t>.</a:t>
            </a:r>
            <a:endParaRPr lang="en-US" sz="1250" dirty="0"/>
          </a:p>
        </p:txBody>
      </p:sp>
      <p:sp>
        <p:nvSpPr>
          <p:cNvPr id="11" name="Text 9"/>
          <p:cNvSpPr txBox="1"/>
          <p:nvPr/>
        </p:nvSpPr>
        <p:spPr>
          <a:xfrm>
            <a:off x="777240" y="3538728"/>
            <a:ext cx="365760" cy="274320"/>
          </a:xfrm>
          <a:prstGeom prst="rect">
            <a:avLst/>
          </a:prstGeom>
          <a:noFill/>
          <a:ln/>
        </p:spPr>
        <p:txBody>
          <a:bodyPr wrap="square" lIns="0" tIns="0" rIns="0" bIns="0" rtlCol="0" anchor="t"/>
          <a:lstStyle/>
          <a:p>
            <a:pPr marL="0" indent="0">
              <a:buNone/>
            </a:pPr>
            <a:r>
              <a:rPr lang="en-US" sz="1250" b="1" dirty="0">
                <a:solidFill>
                  <a:srgbClr val="DE6B12"/>
                </a:solidFill>
                <a:latin typeface="Arial" pitchFamily="34" charset="0"/>
                <a:ea typeface="Arial" pitchFamily="34" charset="-122"/>
                <a:cs typeface="Arial" pitchFamily="34" charset="-120"/>
              </a:rPr>
              <a:t>b)</a:t>
            </a:r>
            <a:endParaRPr lang="en-US" sz="1250" dirty="0"/>
          </a:p>
        </p:txBody>
      </p:sp>
      <p:sp>
        <p:nvSpPr>
          <p:cNvPr id="12" name="Text 10"/>
          <p:cNvSpPr txBox="1"/>
          <p:nvPr/>
        </p:nvSpPr>
        <p:spPr>
          <a:xfrm>
            <a:off x="1161288" y="3538728"/>
            <a:ext cx="10250424" cy="292608"/>
          </a:xfrm>
          <a:prstGeom prst="rect">
            <a:avLst/>
          </a:prstGeom>
          <a:noFill/>
          <a:ln/>
        </p:spPr>
        <p:txBody>
          <a:bodyPr wrap="square" lIns="0" tIns="0" rIns="0" bIns="0" rtlCol="0" anchor="t"/>
          <a:lstStyle/>
          <a:p>
            <a:pPr marL="0" indent="0">
              <a:lnSpc>
                <a:spcPct val="112000"/>
              </a:lnSpc>
              <a:buNone/>
            </a:pPr>
            <a:r>
              <a:rPr lang="en-US" sz="1250" b="1" dirty="0">
                <a:solidFill>
                  <a:srgbClr val="355D64"/>
                </a:solidFill>
                <a:latin typeface="Arial" pitchFamily="34" charset="0"/>
                <a:ea typeface="Arial" pitchFamily="34" charset="-122"/>
                <a:cs typeface="Arial" pitchFamily="34" charset="-120"/>
              </a:rPr>
              <a:t>Espacio físico total</a:t>
            </a:r>
            <a:r>
              <a:rPr lang="en-US" sz="1250" dirty="0">
                <a:solidFill>
                  <a:srgbClr val="1A1A1A"/>
                </a:solidFill>
                <a:latin typeface="Arial" pitchFamily="34" charset="0"/>
                <a:ea typeface="Arial" pitchFamily="34" charset="-122"/>
                <a:cs typeface="Arial" pitchFamily="34" charset="-120"/>
              </a:rPr>
              <a:t> en disco para los 10 días.</a:t>
            </a:r>
            <a:endParaRPr lang="en-US" sz="1250" dirty="0"/>
          </a:p>
        </p:txBody>
      </p:sp>
      <p:sp>
        <p:nvSpPr>
          <p:cNvPr id="13" name="Text 11"/>
          <p:cNvSpPr txBox="1"/>
          <p:nvPr/>
        </p:nvSpPr>
        <p:spPr>
          <a:xfrm>
            <a:off x="777240" y="3968496"/>
            <a:ext cx="365760" cy="274320"/>
          </a:xfrm>
          <a:prstGeom prst="rect">
            <a:avLst/>
          </a:prstGeom>
          <a:noFill/>
          <a:ln/>
        </p:spPr>
        <p:txBody>
          <a:bodyPr wrap="square" lIns="0" tIns="0" rIns="0" bIns="0" rtlCol="0" anchor="t"/>
          <a:lstStyle/>
          <a:p>
            <a:pPr marL="0" indent="0">
              <a:buNone/>
            </a:pPr>
            <a:r>
              <a:rPr lang="en-US" sz="1250" b="1" dirty="0">
                <a:solidFill>
                  <a:srgbClr val="DE6B12"/>
                </a:solidFill>
                <a:latin typeface="Arial" pitchFamily="34" charset="0"/>
                <a:ea typeface="Arial" pitchFamily="34" charset="-122"/>
                <a:cs typeface="Arial" pitchFamily="34" charset="-120"/>
              </a:rPr>
              <a:t>c)</a:t>
            </a:r>
            <a:endParaRPr lang="en-US" sz="1250" dirty="0"/>
          </a:p>
        </p:txBody>
      </p:sp>
      <p:sp>
        <p:nvSpPr>
          <p:cNvPr id="14" name="Text 12"/>
          <p:cNvSpPr txBox="1"/>
          <p:nvPr/>
        </p:nvSpPr>
        <p:spPr>
          <a:xfrm>
            <a:off x="1161288" y="3968496"/>
            <a:ext cx="10250424" cy="292608"/>
          </a:xfrm>
          <a:prstGeom prst="rect">
            <a:avLst/>
          </a:prstGeom>
          <a:noFill/>
          <a:ln/>
        </p:spPr>
        <p:txBody>
          <a:bodyPr wrap="square" lIns="0" tIns="0" rIns="0" bIns="0" rtlCol="0" anchor="t"/>
          <a:lstStyle/>
          <a:p>
            <a:pPr marL="0" indent="0">
              <a:lnSpc>
                <a:spcPct val="112000"/>
              </a:lnSpc>
              <a:buNone/>
            </a:pPr>
            <a:r>
              <a:rPr lang="en-US" sz="1250" b="1" dirty="0">
                <a:solidFill>
                  <a:srgbClr val="355D64"/>
                </a:solidFill>
                <a:latin typeface="Arial" pitchFamily="34" charset="0"/>
                <a:ea typeface="Arial" pitchFamily="34" charset="-122"/>
                <a:cs typeface="Arial" pitchFamily="34" charset="-120"/>
              </a:rPr>
              <a:t>Número mínimo de nodos</a:t>
            </a:r>
            <a:r>
              <a:rPr lang="en-US" sz="1250" dirty="0">
                <a:solidFill>
                  <a:srgbClr val="1A1A1A"/>
                </a:solidFill>
                <a:latin typeface="Arial" pitchFamily="34" charset="0"/>
                <a:ea typeface="Arial" pitchFamily="34" charset="-122"/>
                <a:cs typeface="Arial" pitchFamily="34" charset="-120"/>
              </a:rPr>
              <a:t>.</a:t>
            </a:r>
            <a:endParaRPr lang="en-US" sz="1250" dirty="0"/>
          </a:p>
        </p:txBody>
      </p:sp>
      <p:sp>
        <p:nvSpPr>
          <p:cNvPr id="15" name="Text 13"/>
          <p:cNvSpPr txBox="1"/>
          <p:nvPr/>
        </p:nvSpPr>
        <p:spPr>
          <a:xfrm>
            <a:off x="777240" y="4398264"/>
            <a:ext cx="365760" cy="274320"/>
          </a:xfrm>
          <a:prstGeom prst="rect">
            <a:avLst/>
          </a:prstGeom>
          <a:noFill/>
          <a:ln/>
        </p:spPr>
        <p:txBody>
          <a:bodyPr wrap="square" lIns="0" tIns="0" rIns="0" bIns="0" rtlCol="0" anchor="t"/>
          <a:lstStyle/>
          <a:p>
            <a:pPr marL="0" indent="0">
              <a:buNone/>
            </a:pPr>
            <a:r>
              <a:rPr lang="en-US" sz="1250" b="1" dirty="0">
                <a:solidFill>
                  <a:srgbClr val="DE6B12"/>
                </a:solidFill>
                <a:latin typeface="Arial" pitchFamily="34" charset="0"/>
                <a:ea typeface="Arial" pitchFamily="34" charset="-122"/>
                <a:cs typeface="Arial" pitchFamily="34" charset="-120"/>
              </a:rPr>
              <a:t>d)</a:t>
            </a:r>
            <a:endParaRPr lang="en-US" sz="1250" dirty="0"/>
          </a:p>
        </p:txBody>
      </p:sp>
      <p:sp>
        <p:nvSpPr>
          <p:cNvPr id="16" name="Text 14"/>
          <p:cNvSpPr txBox="1"/>
          <p:nvPr/>
        </p:nvSpPr>
        <p:spPr>
          <a:xfrm>
            <a:off x="1161288" y="4398264"/>
            <a:ext cx="10250424" cy="530352"/>
          </a:xfrm>
          <a:prstGeom prst="rect">
            <a:avLst/>
          </a:prstGeom>
          <a:noFill/>
          <a:ln/>
        </p:spPr>
        <p:txBody>
          <a:bodyPr wrap="square" lIns="0" tIns="0" rIns="0" bIns="0" rtlCol="0" anchor="t"/>
          <a:lstStyle/>
          <a:p>
            <a:pPr marL="0" indent="0">
              <a:lnSpc>
                <a:spcPct val="112000"/>
              </a:lnSpc>
              <a:buNone/>
            </a:pPr>
            <a:r>
              <a:rPr lang="en-US" sz="1250" dirty="0">
                <a:solidFill>
                  <a:srgbClr val="1A1A1A"/>
                </a:solidFill>
                <a:latin typeface="Arial" pitchFamily="34" charset="0"/>
                <a:ea typeface="Arial" pitchFamily="34" charset="-122"/>
                <a:cs typeface="Arial" pitchFamily="34" charset="-120"/>
              </a:rPr>
              <a:t>El analista junior propone particionar por la clave </a:t>
            </a:r>
            <a:r>
              <a:rPr lang="en-US" sz="1250" b="1" dirty="0">
                <a:solidFill>
                  <a:srgbClr val="355D64"/>
                </a:solidFill>
                <a:latin typeface="Arial" pitchFamily="34" charset="0"/>
                <a:ea typeface="Arial" pitchFamily="34" charset="-122"/>
                <a:cs typeface="Arial" pitchFamily="34" charset="-120"/>
              </a:rPr>
              <a:t>pais</a:t>
            </a:r>
            <a:r>
              <a:rPr lang="en-US" sz="1250" dirty="0">
                <a:solidFill>
                  <a:srgbClr val="1A1A1A"/>
                </a:solidFill>
                <a:latin typeface="Arial" pitchFamily="34" charset="0"/>
                <a:ea typeface="Arial" pitchFamily="34" charset="-122"/>
                <a:cs typeface="Arial" pitchFamily="34" charset="-120"/>
              </a:rPr>
              <a:t>, sabiendo que el </a:t>
            </a:r>
            <a:r>
              <a:rPr lang="en-US" sz="1250" b="1" dirty="0">
                <a:solidFill>
                  <a:srgbClr val="355D64"/>
                </a:solidFill>
                <a:latin typeface="Arial" pitchFamily="34" charset="0"/>
                <a:ea typeface="Arial" pitchFamily="34" charset="-122"/>
                <a:cs typeface="Arial" pitchFamily="34" charset="-120"/>
              </a:rPr>
              <a:t>92% de la flota opera en un solo país</a:t>
            </a:r>
            <a:r>
              <a:rPr lang="en-US" sz="1250" dirty="0">
                <a:solidFill>
                  <a:srgbClr val="1A1A1A"/>
                </a:solidFill>
                <a:latin typeface="Arial" pitchFamily="34" charset="0"/>
                <a:ea typeface="Arial" pitchFamily="34" charset="-122"/>
                <a:cs typeface="Arial" pitchFamily="34" charset="-120"/>
              </a:rPr>
              <a:t>. ¿Qué ocurrirá en los executors? Proponga una alternativa.</a:t>
            </a:r>
            <a:endParaRPr lang="en-US" sz="1250" dirty="0"/>
          </a:p>
        </p:txBody>
      </p:sp>
      <p:sp>
        <p:nvSpPr>
          <p:cNvPr id="17" name="Shape 15"/>
          <p:cNvSpPr/>
          <p:nvPr/>
        </p:nvSpPr>
        <p:spPr>
          <a:xfrm>
            <a:off x="777240" y="5742432"/>
            <a:ext cx="10634472" cy="621792"/>
          </a:xfrm>
          <a:prstGeom prst="rect">
            <a:avLst/>
          </a:prstGeom>
          <a:solidFill>
            <a:srgbClr val="EDEDED"/>
          </a:solidFill>
          <a:ln/>
        </p:spPr>
      </p:sp>
      <p:sp>
        <p:nvSpPr>
          <p:cNvPr id="18" name="Text 16"/>
          <p:cNvSpPr txBox="1"/>
          <p:nvPr/>
        </p:nvSpPr>
        <p:spPr>
          <a:xfrm>
            <a:off x="978408" y="5815584"/>
            <a:ext cx="10232136" cy="475488"/>
          </a:xfrm>
          <a:prstGeom prst="rect">
            <a:avLst/>
          </a:prstGeom>
          <a:noFill/>
          <a:ln/>
        </p:spPr>
        <p:txBody>
          <a:bodyPr wrap="square" lIns="0" tIns="0" rIns="0" bIns="0" rtlCol="0" anchor="ctr"/>
          <a:lstStyle/>
          <a:p>
            <a:pPr marL="0" indent="0">
              <a:buNone/>
            </a:pPr>
            <a:r>
              <a:rPr lang="en-US" sz="1350" b="1" dirty="0">
                <a:solidFill>
                  <a:srgbClr val="1A1A1A"/>
                </a:solidFill>
                <a:latin typeface="Arial"/>
                <a:ea typeface="Arial" pitchFamily="34" charset="-122"/>
                <a:cs typeface="Arial"/>
              </a:rPr>
              <a:t>La (d) la </a:t>
            </a:r>
            <a:r>
              <a:rPr lang="en-US" sz="1350" b="1" dirty="0" err="1">
                <a:solidFill>
                  <a:srgbClr val="1A1A1A"/>
                </a:solidFill>
                <a:latin typeface="Arial"/>
                <a:ea typeface="Arial" pitchFamily="34" charset="-122"/>
                <a:cs typeface="Arial"/>
              </a:rPr>
              <a:t>resolvemos</a:t>
            </a:r>
            <a:r>
              <a:rPr lang="en-US" sz="1350" b="1" dirty="0">
                <a:solidFill>
                  <a:srgbClr val="1A1A1A"/>
                </a:solidFill>
                <a:latin typeface="Arial"/>
                <a:ea typeface="Arial" pitchFamily="34" charset="-122"/>
                <a:cs typeface="Arial"/>
              </a:rPr>
              <a:t> </a:t>
            </a:r>
            <a:r>
              <a:rPr lang="en-US" sz="1350" b="1" dirty="0" err="1">
                <a:solidFill>
                  <a:srgbClr val="1A1A1A"/>
                </a:solidFill>
                <a:latin typeface="Arial"/>
                <a:ea typeface="Arial" pitchFamily="34" charset="-122"/>
                <a:cs typeface="Arial"/>
              </a:rPr>
              <a:t>después</a:t>
            </a:r>
            <a:r>
              <a:rPr lang="en-US" sz="1350" b="1" dirty="0">
                <a:solidFill>
                  <a:srgbClr val="1A1A1A"/>
                </a:solidFill>
                <a:latin typeface="Arial"/>
                <a:ea typeface="Arial" pitchFamily="34" charset="-122"/>
                <a:cs typeface="Arial"/>
              </a:rPr>
              <a:t> de </a:t>
            </a:r>
            <a:r>
              <a:rPr lang="en-US" sz="1350" b="1" dirty="0" err="1">
                <a:solidFill>
                  <a:srgbClr val="1A1A1A"/>
                </a:solidFill>
                <a:latin typeface="Arial"/>
                <a:ea typeface="Arial" pitchFamily="34" charset="-122"/>
                <a:cs typeface="Arial"/>
              </a:rPr>
              <a:t>ver</a:t>
            </a:r>
            <a:r>
              <a:rPr lang="en-US" sz="1350" b="1" dirty="0">
                <a:solidFill>
                  <a:srgbClr val="1A1A1A"/>
                </a:solidFill>
                <a:latin typeface="Arial"/>
                <a:ea typeface="Arial" pitchFamily="34" charset="-122"/>
                <a:cs typeface="Arial"/>
              </a:rPr>
              <a:t> Spark. </a:t>
            </a:r>
            <a:r>
              <a:rPr lang="en-US" sz="1350" b="1" dirty="0" err="1">
                <a:solidFill>
                  <a:srgbClr val="1A1A1A"/>
                </a:solidFill>
                <a:latin typeface="Arial"/>
                <a:ea typeface="Arial" pitchFamily="34" charset="-122"/>
                <a:cs typeface="Arial"/>
              </a:rPr>
              <a:t>Vocabulario</a:t>
            </a:r>
            <a:endParaRPr lang="en-US" sz="1350" b="1" dirty="0" err="1">
              <a:solidFill>
                <a:srgbClr val="DE6B12"/>
              </a:solidFill>
              <a:latin typeface="Arial"/>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83C8BD"/>
        </a:solidFill>
        <a:effectLst/>
      </p:bgPr>
    </p:bg>
    <p:spTree>
      <p:nvGrpSpPr>
        <p:cNvPr id="1" name=""/>
        <p:cNvGrpSpPr/>
        <p:nvPr/>
      </p:nvGrpSpPr>
      <p:grpSpPr>
        <a:xfrm>
          <a:off x="0" y="0"/>
          <a:ext cx="0" cy="0"/>
          <a:chOff x="0" y="0"/>
          <a:chExt cx="0" cy="0"/>
        </a:xfrm>
      </p:grpSpPr>
      <p:sp>
        <p:nvSpPr>
          <p:cNvPr id="2" name="Shape 0"/>
          <p:cNvSpPr/>
          <p:nvPr/>
        </p:nvSpPr>
        <p:spPr>
          <a:xfrm>
            <a:off x="292608" y="201168"/>
            <a:ext cx="11603736" cy="6455664"/>
          </a:xfrm>
          <a:prstGeom prst="roundRect">
            <a:avLst>
              <a:gd name="adj" fmla="val 779"/>
            </a:avLst>
          </a:prstGeom>
          <a:solidFill>
            <a:srgbClr val="FFFFFF"/>
          </a:solidFill>
          <a:ln w="50800">
            <a:solidFill>
              <a:srgbClr val="5A99D1"/>
            </a:solidFill>
            <a:prstDash val="solid"/>
          </a:ln>
        </p:spPr>
      </p:sp>
      <p:sp>
        <p:nvSpPr>
          <p:cNvPr id="3" name="Text 1"/>
          <p:cNvSpPr txBox="1"/>
          <p:nvPr/>
        </p:nvSpPr>
        <p:spPr>
          <a:xfrm>
            <a:off x="777240" y="420624"/>
            <a:ext cx="10634472" cy="502920"/>
          </a:xfrm>
          <a:prstGeom prst="rect">
            <a:avLst/>
          </a:prstGeom>
          <a:noFill/>
          <a:ln/>
        </p:spPr>
        <p:txBody>
          <a:bodyPr wrap="square" lIns="0" tIns="0" rIns="0" bIns="0" rtlCol="0" anchor="t"/>
          <a:lstStyle/>
          <a:p>
            <a:pPr marL="0" indent="0">
              <a:buNone/>
            </a:pPr>
            <a:r>
              <a:rPr lang="en-US" sz="3000" b="1" dirty="0">
                <a:solidFill>
                  <a:srgbClr val="DE6B12"/>
                </a:solidFill>
                <a:latin typeface="Arial" pitchFamily="34" charset="0"/>
                <a:ea typeface="Arial" pitchFamily="34" charset="-122"/>
                <a:cs typeface="Arial" pitchFamily="34" charset="-120"/>
              </a:rPr>
              <a:t>B1 · Paso a paso </a:t>
            </a:r>
            <a:r>
              <a:rPr lang="en-US" sz="3000" b="1" dirty="0">
                <a:solidFill>
                  <a:srgbClr val="355D64"/>
                </a:solidFill>
                <a:latin typeface="Arial" pitchFamily="34" charset="0"/>
                <a:ea typeface="Arial" pitchFamily="34" charset="-122"/>
                <a:cs typeface="Arial" pitchFamily="34" charset="-120"/>
              </a:rPr>
              <a:t>(a) (b) (c)</a:t>
            </a:r>
            <a:endParaRPr lang="en-US" sz="3000" dirty="0"/>
          </a:p>
        </p:txBody>
      </p:sp>
      <p:sp>
        <p:nvSpPr>
          <p:cNvPr id="4" name="Shape 2"/>
          <p:cNvSpPr/>
          <p:nvPr/>
        </p:nvSpPr>
        <p:spPr>
          <a:xfrm>
            <a:off x="777240" y="1645920"/>
            <a:ext cx="5120640" cy="2160270"/>
          </a:xfrm>
          <a:prstGeom prst="rect">
            <a:avLst/>
          </a:prstGeom>
          <a:solidFill>
            <a:srgbClr val="EDEDED"/>
          </a:solidFill>
          <a:ln/>
        </p:spPr>
      </p:sp>
      <p:sp>
        <p:nvSpPr>
          <p:cNvPr id="5" name="Shape 3"/>
          <p:cNvSpPr/>
          <p:nvPr/>
        </p:nvSpPr>
        <p:spPr>
          <a:xfrm>
            <a:off x="777240" y="1645920"/>
            <a:ext cx="68580" cy="2160270"/>
          </a:xfrm>
          <a:prstGeom prst="rect">
            <a:avLst/>
          </a:prstGeom>
          <a:solidFill>
            <a:srgbClr val="4BABA0"/>
          </a:solidFill>
          <a:ln/>
        </p:spPr>
      </p:sp>
      <p:sp>
        <p:nvSpPr>
          <p:cNvPr id="6" name="Text 4"/>
          <p:cNvSpPr txBox="1"/>
          <p:nvPr/>
        </p:nvSpPr>
        <p:spPr>
          <a:xfrm>
            <a:off x="1014984" y="1773936"/>
            <a:ext cx="4718304" cy="1904238"/>
          </a:xfrm>
          <a:prstGeom prst="rect">
            <a:avLst/>
          </a:prstGeom>
          <a:noFill/>
          <a:ln/>
        </p:spPr>
        <p:txBody>
          <a:bodyPr wrap="square" lIns="0" tIns="0" rIns="0" bIns="0" rtlCol="0" anchor="t"/>
          <a:lstStyle/>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INGESTA</a:t>
            </a:r>
            <a:endParaRPr lang="en-US" sz="1250" dirty="0"/>
          </a:p>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 </a:t>
            </a:r>
            <a:endParaRPr lang="en-US" sz="1250" dirty="0"/>
          </a:p>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86.400 s/dia   (= 864 x 100)</a:t>
            </a:r>
            <a:endParaRPr lang="en-US" sz="1250" dirty="0"/>
          </a:p>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 </a:t>
            </a:r>
            <a:endParaRPr lang="en-US" sz="1250" dirty="0"/>
          </a:p>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1 vehiculo  1,5 x 864 = 1.296</a:t>
            </a:r>
            <a:endParaRPr lang="en-US" sz="1250" dirty="0"/>
          </a:p>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            = 129.600 MB = </a:t>
            </a:r>
            <a:r>
              <a:rPr lang="en-US" sz="1250" b="1" dirty="0">
                <a:solidFill>
                  <a:srgbClr val="DE6B12"/>
                </a:solidFill>
                <a:latin typeface="Consolas" pitchFamily="34" charset="0"/>
                <a:ea typeface="Consolas" pitchFamily="34" charset="-122"/>
                <a:cs typeface="Consolas" pitchFamily="34" charset="-120"/>
              </a:rPr>
              <a:t>129,6 GB</a:t>
            </a:r>
            <a:endParaRPr lang="en-US" sz="1250" dirty="0"/>
          </a:p>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 </a:t>
            </a:r>
            <a:endParaRPr lang="en-US" sz="1250" dirty="0"/>
          </a:p>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Flota x1.000 = </a:t>
            </a:r>
            <a:r>
              <a:rPr lang="en-US" sz="1250" b="1" dirty="0">
                <a:solidFill>
                  <a:srgbClr val="DE6B12"/>
                </a:solidFill>
                <a:latin typeface="Consolas" pitchFamily="34" charset="0"/>
                <a:ea typeface="Consolas" pitchFamily="34" charset="-122"/>
                <a:cs typeface="Consolas" pitchFamily="34" charset="-120"/>
              </a:rPr>
              <a:t>129,6 TB/dia</a:t>
            </a:r>
            <a:endParaRPr lang="en-US" sz="1250" dirty="0"/>
          </a:p>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            (solo corres la coma)</a:t>
            </a:r>
            <a:endParaRPr lang="en-US" sz="1250" dirty="0"/>
          </a:p>
        </p:txBody>
      </p:sp>
      <p:sp>
        <p:nvSpPr>
          <p:cNvPr id="7" name="Shape 5"/>
          <p:cNvSpPr/>
          <p:nvPr/>
        </p:nvSpPr>
        <p:spPr>
          <a:xfrm>
            <a:off x="6172200" y="1645920"/>
            <a:ext cx="5239512" cy="2160270"/>
          </a:xfrm>
          <a:prstGeom prst="rect">
            <a:avLst/>
          </a:prstGeom>
          <a:solidFill>
            <a:srgbClr val="EDEDED"/>
          </a:solidFill>
          <a:ln/>
        </p:spPr>
      </p:sp>
      <p:sp>
        <p:nvSpPr>
          <p:cNvPr id="8" name="Shape 6"/>
          <p:cNvSpPr/>
          <p:nvPr/>
        </p:nvSpPr>
        <p:spPr>
          <a:xfrm>
            <a:off x="6172200" y="1645920"/>
            <a:ext cx="68580" cy="2160270"/>
          </a:xfrm>
          <a:prstGeom prst="rect">
            <a:avLst/>
          </a:prstGeom>
          <a:solidFill>
            <a:srgbClr val="4BABA0"/>
          </a:solidFill>
          <a:ln/>
        </p:spPr>
      </p:sp>
      <p:sp>
        <p:nvSpPr>
          <p:cNvPr id="9" name="Text 7"/>
          <p:cNvSpPr txBox="1"/>
          <p:nvPr/>
        </p:nvSpPr>
        <p:spPr>
          <a:xfrm>
            <a:off x="6409944" y="1773936"/>
            <a:ext cx="4837176" cy="1904238"/>
          </a:xfrm>
          <a:prstGeom prst="rect">
            <a:avLst/>
          </a:prstGeom>
          <a:noFill/>
          <a:ln/>
        </p:spPr>
        <p:txBody>
          <a:bodyPr wrap="square" lIns="0" tIns="0" rIns="0" bIns="0" rtlCol="0" anchor="t"/>
          <a:lstStyle/>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HDFS Y NODOS</a:t>
            </a:r>
            <a:endParaRPr lang="en-US" sz="1250" dirty="0"/>
          </a:p>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 </a:t>
            </a:r>
            <a:endParaRPr lang="en-US" sz="1250" dirty="0"/>
          </a:p>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10 dias   129,6 x 10 = 1.296 TB</a:t>
            </a:r>
            <a:endParaRPr lang="en-US" sz="1250" dirty="0"/>
          </a:p>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Replica x3  1.296 x 3 = </a:t>
            </a:r>
            <a:r>
              <a:rPr lang="en-US" sz="1250" b="1" dirty="0">
                <a:solidFill>
                  <a:srgbClr val="DE6B12"/>
                </a:solidFill>
                <a:latin typeface="Consolas" pitchFamily="34" charset="0"/>
                <a:ea typeface="Consolas" pitchFamily="34" charset="-122"/>
                <a:cs typeface="Consolas" pitchFamily="34" charset="-120"/>
              </a:rPr>
              <a:t>3.888 TB</a:t>
            </a:r>
            <a:endParaRPr lang="en-US" sz="1250" dirty="0"/>
          </a:p>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 </a:t>
            </a:r>
            <a:endParaRPr lang="en-US" sz="1250" dirty="0"/>
          </a:p>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3.888 / 20 = 194,4</a:t>
            </a:r>
            <a:endParaRPr lang="en-US" sz="1250" dirty="0"/>
          </a:p>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(/20 es /2 y /10)</a:t>
            </a:r>
            <a:endParaRPr lang="en-US" sz="1250" dirty="0"/>
          </a:p>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 </a:t>
            </a:r>
            <a:endParaRPr lang="en-US" sz="1250" dirty="0"/>
          </a:p>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redondeo arriba -&gt; </a:t>
            </a:r>
            <a:r>
              <a:rPr lang="en-US" sz="1250" b="1" dirty="0">
                <a:solidFill>
                  <a:srgbClr val="DE6B12"/>
                </a:solidFill>
                <a:latin typeface="Consolas" pitchFamily="34" charset="0"/>
                <a:ea typeface="Consolas" pitchFamily="34" charset="-122"/>
                <a:cs typeface="Consolas" pitchFamily="34" charset="-120"/>
              </a:rPr>
              <a:t>195 nodos</a:t>
            </a:r>
            <a:endParaRPr lang="en-US" sz="1250" dirty="0"/>
          </a:p>
        </p:txBody>
      </p:sp>
      <p:sp>
        <p:nvSpPr>
          <p:cNvPr id="10" name="Shape 8"/>
          <p:cNvSpPr/>
          <p:nvPr/>
        </p:nvSpPr>
        <p:spPr>
          <a:xfrm>
            <a:off x="777240" y="5742432"/>
            <a:ext cx="10634472" cy="621792"/>
          </a:xfrm>
          <a:prstGeom prst="rect">
            <a:avLst/>
          </a:prstGeom>
          <a:solidFill>
            <a:srgbClr val="EDEDED"/>
          </a:solidFill>
          <a:ln/>
        </p:spPr>
      </p:sp>
      <p:sp>
        <p:nvSpPr>
          <p:cNvPr id="11" name="Text 9"/>
          <p:cNvSpPr txBox="1"/>
          <p:nvPr/>
        </p:nvSpPr>
        <p:spPr>
          <a:xfrm>
            <a:off x="978408" y="5815584"/>
            <a:ext cx="10232136" cy="475488"/>
          </a:xfrm>
          <a:prstGeom prst="rect">
            <a:avLst/>
          </a:prstGeom>
          <a:noFill/>
          <a:ln/>
        </p:spPr>
        <p:txBody>
          <a:bodyPr wrap="square" lIns="0" tIns="0" rIns="0" bIns="0" rtlCol="0" anchor="ctr"/>
          <a:lstStyle/>
          <a:p>
            <a:pPr marL="0" indent="0">
              <a:buNone/>
            </a:pPr>
            <a:r>
              <a:rPr lang="en-US" sz="1350" b="1" dirty="0">
                <a:solidFill>
                  <a:srgbClr val="1A1A1A"/>
                </a:solidFill>
                <a:latin typeface="Arial" pitchFamily="34" charset="0"/>
                <a:ea typeface="Arial" pitchFamily="34" charset="-122"/>
                <a:cs typeface="Arial" pitchFamily="34" charset="-120"/>
              </a:rPr>
              <a:t>¿Qué pasa con el </a:t>
            </a:r>
            <a:r>
              <a:rPr lang="en-US" sz="1350" b="1" dirty="0">
                <a:solidFill>
                  <a:srgbClr val="DE6B12"/>
                </a:solidFill>
                <a:latin typeface="Arial" pitchFamily="34" charset="0"/>
                <a:ea typeface="Arial" pitchFamily="34" charset="-122"/>
                <a:cs typeface="Arial" pitchFamily="34" charset="-120"/>
              </a:rPr>
              <a:t>0,4 de nodo</a:t>
            </a:r>
            <a:r>
              <a:rPr lang="en-US" sz="1350" b="1" dirty="0">
                <a:solidFill>
                  <a:srgbClr val="1A1A1A"/>
                </a:solidFill>
                <a:latin typeface="Arial" pitchFamily="34" charset="0"/>
                <a:ea typeface="Arial" pitchFamily="34" charset="-122"/>
                <a:cs typeface="Arial" pitchFamily="34" charset="-120"/>
              </a:rPr>
              <a:t> que falta? El clúster se llena. Por eso siempre se redondea hacia arriba.</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6">
    <p:bg>
      <p:bgPr>
        <a:solidFill>
          <a:srgbClr val="83C8BD"/>
        </a:solidFill>
        <a:effectLst/>
      </p:bgPr>
    </p:bg>
    <p:spTree>
      <p:nvGrpSpPr>
        <p:cNvPr id="1" name=""/>
        <p:cNvGrpSpPr/>
        <p:nvPr/>
      </p:nvGrpSpPr>
      <p:grpSpPr>
        <a:xfrm>
          <a:off x="0" y="0"/>
          <a:ext cx="0" cy="0"/>
          <a:chOff x="0" y="0"/>
          <a:chExt cx="0" cy="0"/>
        </a:xfrm>
      </p:grpSpPr>
      <p:sp>
        <p:nvSpPr>
          <p:cNvPr id="2" name="Shape 0"/>
          <p:cNvSpPr/>
          <p:nvPr/>
        </p:nvSpPr>
        <p:spPr>
          <a:xfrm>
            <a:off x="292608" y="201168"/>
            <a:ext cx="11603736" cy="6455664"/>
          </a:xfrm>
          <a:prstGeom prst="roundRect">
            <a:avLst>
              <a:gd name="adj" fmla="val 779"/>
            </a:avLst>
          </a:prstGeom>
          <a:solidFill>
            <a:srgbClr val="FFFFFF"/>
          </a:solidFill>
          <a:ln w="50800">
            <a:solidFill>
              <a:srgbClr val="5A99D1"/>
            </a:solidFill>
            <a:prstDash val="solid"/>
          </a:ln>
        </p:spPr>
      </p:sp>
      <p:sp>
        <p:nvSpPr>
          <p:cNvPr id="3" name="Text 1"/>
          <p:cNvSpPr txBox="1"/>
          <p:nvPr/>
        </p:nvSpPr>
        <p:spPr>
          <a:xfrm>
            <a:off x="777240" y="420624"/>
            <a:ext cx="10634472" cy="502920"/>
          </a:xfrm>
          <a:prstGeom prst="rect">
            <a:avLst/>
          </a:prstGeom>
          <a:noFill/>
          <a:ln/>
        </p:spPr>
        <p:txBody>
          <a:bodyPr wrap="square" lIns="0" tIns="0" rIns="0" bIns="0" rtlCol="0" anchor="t"/>
          <a:lstStyle/>
          <a:p>
            <a:pPr marL="0" indent="0">
              <a:buNone/>
            </a:pPr>
            <a:r>
              <a:rPr lang="en-US" sz="3000" b="1" dirty="0">
                <a:solidFill>
                  <a:srgbClr val="DE6B12"/>
                </a:solidFill>
                <a:latin typeface="Arial" pitchFamily="34" charset="0"/>
                <a:ea typeface="Arial" pitchFamily="34" charset="-122"/>
                <a:cs typeface="Arial" pitchFamily="34" charset="-120"/>
              </a:rPr>
              <a:t>Teorema CAP</a:t>
            </a:r>
            <a:endParaRPr lang="en-US" sz="3000" dirty="0"/>
          </a:p>
        </p:txBody>
      </p:sp>
      <p:sp>
        <p:nvSpPr>
          <p:cNvPr id="4" name="Text 2"/>
          <p:cNvSpPr txBox="1"/>
          <p:nvPr/>
        </p:nvSpPr>
        <p:spPr>
          <a:xfrm>
            <a:off x="777240" y="941832"/>
            <a:ext cx="10634472" cy="274320"/>
          </a:xfrm>
          <a:prstGeom prst="rect">
            <a:avLst/>
          </a:prstGeom>
          <a:noFill/>
          <a:ln/>
        </p:spPr>
        <p:txBody>
          <a:bodyPr wrap="square" lIns="0" tIns="0" rIns="0" bIns="0" rtlCol="0" anchor="t"/>
          <a:lstStyle/>
          <a:p>
            <a:pPr marL="0" indent="0">
              <a:buNone/>
            </a:pPr>
            <a:r>
              <a:rPr lang="en-US" sz="1200" b="1" dirty="0">
                <a:solidFill>
                  <a:srgbClr val="355D64"/>
                </a:solidFill>
                <a:latin typeface="Arial" pitchFamily="34" charset="0"/>
                <a:ea typeface="Arial" pitchFamily="34" charset="-122"/>
                <a:cs typeface="Arial" pitchFamily="34" charset="-120"/>
              </a:rPr>
              <a:t>En un sistema distribuido, cuando se corta la red, hay que elegir</a:t>
            </a:r>
            <a:endParaRPr lang="en-US" sz="1200" dirty="0"/>
          </a:p>
        </p:txBody>
      </p:sp>
      <p:sp>
        <p:nvSpPr>
          <p:cNvPr id="5" name="Shape 3"/>
          <p:cNvSpPr/>
          <p:nvPr/>
        </p:nvSpPr>
        <p:spPr>
          <a:xfrm>
            <a:off x="777240" y="1417320"/>
            <a:ext cx="3364992" cy="1417320"/>
          </a:xfrm>
          <a:prstGeom prst="roundRect">
            <a:avLst>
              <a:gd name="adj" fmla="val 6452"/>
            </a:avLst>
          </a:prstGeom>
          <a:solidFill>
            <a:srgbClr val="FFFFFF"/>
          </a:solidFill>
          <a:ln w="19050">
            <a:solidFill>
              <a:srgbClr val="DCDCDC"/>
            </a:solidFill>
            <a:prstDash val="solid"/>
          </a:ln>
        </p:spPr>
      </p:sp>
      <p:sp>
        <p:nvSpPr>
          <p:cNvPr id="6" name="Text 4"/>
          <p:cNvSpPr txBox="1"/>
          <p:nvPr/>
        </p:nvSpPr>
        <p:spPr>
          <a:xfrm>
            <a:off x="978408" y="1563624"/>
            <a:ext cx="2999232"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C · Consistencia</a:t>
            </a:r>
            <a:endParaRPr lang="en-US" sz="1500" dirty="0"/>
          </a:p>
        </p:txBody>
      </p:sp>
      <p:sp>
        <p:nvSpPr>
          <p:cNvPr id="7" name="Text 5"/>
          <p:cNvSpPr txBox="1"/>
          <p:nvPr/>
        </p:nvSpPr>
        <p:spPr>
          <a:xfrm>
            <a:off x="978408" y="1911096"/>
            <a:ext cx="2999232" cy="813816"/>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Todos los nodos ven </a:t>
            </a:r>
            <a:r>
              <a:rPr lang="en-US" sz="1250" b="1" dirty="0">
                <a:solidFill>
                  <a:srgbClr val="DE6B12"/>
                </a:solidFill>
                <a:latin typeface="Arial" pitchFamily="34" charset="0"/>
                <a:ea typeface="Arial" pitchFamily="34" charset="-122"/>
                <a:cs typeface="Arial" pitchFamily="34" charset="-120"/>
              </a:rPr>
              <a:t>el mismo dato</a:t>
            </a:r>
            <a:r>
              <a:rPr lang="en-US" sz="1250" dirty="0">
                <a:solidFill>
                  <a:srgbClr val="1A1A1A"/>
                </a:solidFill>
                <a:latin typeface="Arial" pitchFamily="34" charset="0"/>
                <a:ea typeface="Arial" pitchFamily="34" charset="-122"/>
                <a:cs typeface="Arial" pitchFamily="34" charset="-120"/>
              </a:rPr>
              <a:t>. Leer devuelve siempre la última escritura.</a:t>
            </a:r>
            <a:endParaRPr lang="en-US" sz="1250" dirty="0"/>
          </a:p>
        </p:txBody>
      </p:sp>
      <p:sp>
        <p:nvSpPr>
          <p:cNvPr id="8" name="Shape 6"/>
          <p:cNvSpPr/>
          <p:nvPr/>
        </p:nvSpPr>
        <p:spPr>
          <a:xfrm>
            <a:off x="4411980" y="1417320"/>
            <a:ext cx="3364992" cy="1417320"/>
          </a:xfrm>
          <a:prstGeom prst="roundRect">
            <a:avLst>
              <a:gd name="adj" fmla="val 6452"/>
            </a:avLst>
          </a:prstGeom>
          <a:solidFill>
            <a:srgbClr val="FFFFFF"/>
          </a:solidFill>
          <a:ln w="19050">
            <a:solidFill>
              <a:srgbClr val="DCDCDC"/>
            </a:solidFill>
            <a:prstDash val="solid"/>
          </a:ln>
        </p:spPr>
      </p:sp>
      <p:sp>
        <p:nvSpPr>
          <p:cNvPr id="9" name="Text 7"/>
          <p:cNvSpPr txBox="1"/>
          <p:nvPr/>
        </p:nvSpPr>
        <p:spPr>
          <a:xfrm>
            <a:off x="4613148" y="1563624"/>
            <a:ext cx="2999232"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A · Disponibilidad</a:t>
            </a:r>
            <a:endParaRPr lang="en-US" sz="1500" dirty="0"/>
          </a:p>
        </p:txBody>
      </p:sp>
      <p:sp>
        <p:nvSpPr>
          <p:cNvPr id="10" name="Text 8"/>
          <p:cNvSpPr txBox="1"/>
          <p:nvPr/>
        </p:nvSpPr>
        <p:spPr>
          <a:xfrm>
            <a:off x="4613148" y="1911096"/>
            <a:ext cx="2999232" cy="813816"/>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Toda petición recibe </a:t>
            </a:r>
            <a:r>
              <a:rPr lang="en-US" sz="1250" b="1" dirty="0">
                <a:solidFill>
                  <a:srgbClr val="DE6B12"/>
                </a:solidFill>
                <a:latin typeface="Arial" pitchFamily="34" charset="0"/>
                <a:ea typeface="Arial" pitchFamily="34" charset="-122"/>
                <a:cs typeface="Arial" pitchFamily="34" charset="-120"/>
              </a:rPr>
              <a:t>respuesta</a:t>
            </a:r>
            <a:r>
              <a:rPr lang="en-US" sz="1250" dirty="0">
                <a:solidFill>
                  <a:srgbClr val="1A1A1A"/>
                </a:solidFill>
                <a:latin typeface="Arial" pitchFamily="34" charset="0"/>
                <a:ea typeface="Arial" pitchFamily="34" charset="-122"/>
                <a:cs typeface="Arial" pitchFamily="34" charset="-120"/>
              </a:rPr>
              <a:t>, aunque algún nodo esté caído.</a:t>
            </a:r>
            <a:endParaRPr lang="en-US" sz="1250" dirty="0"/>
          </a:p>
        </p:txBody>
      </p:sp>
      <p:sp>
        <p:nvSpPr>
          <p:cNvPr id="11" name="Shape 9"/>
          <p:cNvSpPr/>
          <p:nvPr/>
        </p:nvSpPr>
        <p:spPr>
          <a:xfrm>
            <a:off x="8046720" y="1417320"/>
            <a:ext cx="3364992" cy="1417320"/>
          </a:xfrm>
          <a:prstGeom prst="roundRect">
            <a:avLst>
              <a:gd name="adj" fmla="val 6452"/>
            </a:avLst>
          </a:prstGeom>
          <a:solidFill>
            <a:srgbClr val="FFFFFF"/>
          </a:solidFill>
          <a:ln w="19050">
            <a:solidFill>
              <a:srgbClr val="DCDCDC"/>
            </a:solidFill>
            <a:prstDash val="solid"/>
          </a:ln>
        </p:spPr>
      </p:sp>
      <p:sp>
        <p:nvSpPr>
          <p:cNvPr id="12" name="Text 10"/>
          <p:cNvSpPr txBox="1"/>
          <p:nvPr/>
        </p:nvSpPr>
        <p:spPr>
          <a:xfrm>
            <a:off x="8247888" y="1563624"/>
            <a:ext cx="2999232"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P · Tolerancia a particiones</a:t>
            </a:r>
            <a:endParaRPr lang="en-US" sz="1500" dirty="0"/>
          </a:p>
        </p:txBody>
      </p:sp>
      <p:sp>
        <p:nvSpPr>
          <p:cNvPr id="13" name="Text 11"/>
          <p:cNvSpPr txBox="1"/>
          <p:nvPr/>
        </p:nvSpPr>
        <p:spPr>
          <a:xfrm>
            <a:off x="8247888" y="1911096"/>
            <a:ext cx="2999232" cy="813816"/>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El sistema sigue funcionando aunque se </a:t>
            </a:r>
            <a:r>
              <a:rPr lang="en-US" sz="1250" b="1" dirty="0">
                <a:solidFill>
                  <a:srgbClr val="DE6B12"/>
                </a:solidFill>
                <a:latin typeface="Arial" pitchFamily="34" charset="0"/>
                <a:ea typeface="Arial" pitchFamily="34" charset="-122"/>
                <a:cs typeface="Arial" pitchFamily="34" charset="-120"/>
              </a:rPr>
              <a:t>corte la red</a:t>
            </a:r>
            <a:r>
              <a:rPr lang="en-US" sz="1250" dirty="0">
                <a:solidFill>
                  <a:srgbClr val="1A1A1A"/>
                </a:solidFill>
                <a:latin typeface="Arial" pitchFamily="34" charset="0"/>
                <a:ea typeface="Arial" pitchFamily="34" charset="-122"/>
                <a:cs typeface="Arial" pitchFamily="34" charset="-120"/>
              </a:rPr>
              <a:t> entre nodos.</a:t>
            </a:r>
            <a:endParaRPr lang="en-US" sz="1250" dirty="0"/>
          </a:p>
        </p:txBody>
      </p:sp>
      <p:sp>
        <p:nvSpPr>
          <p:cNvPr id="14" name="Shape 12"/>
          <p:cNvSpPr/>
          <p:nvPr/>
        </p:nvSpPr>
        <p:spPr>
          <a:xfrm>
            <a:off x="777240" y="3063240"/>
            <a:ext cx="5120640" cy="1920240"/>
          </a:xfrm>
          <a:prstGeom prst="rect">
            <a:avLst/>
          </a:prstGeom>
          <a:solidFill>
            <a:srgbClr val="EDEDED"/>
          </a:solidFill>
          <a:ln/>
        </p:spPr>
      </p:sp>
      <p:sp>
        <p:nvSpPr>
          <p:cNvPr id="15" name="Shape 13"/>
          <p:cNvSpPr/>
          <p:nvPr/>
        </p:nvSpPr>
        <p:spPr>
          <a:xfrm>
            <a:off x="777240" y="3063240"/>
            <a:ext cx="68580" cy="1920240"/>
          </a:xfrm>
          <a:prstGeom prst="rect">
            <a:avLst/>
          </a:prstGeom>
          <a:solidFill>
            <a:srgbClr val="4BABA0"/>
          </a:solidFill>
          <a:ln/>
        </p:spPr>
      </p:sp>
      <p:sp>
        <p:nvSpPr>
          <p:cNvPr id="16" name="Text 14"/>
          <p:cNvSpPr txBox="1"/>
          <p:nvPr/>
        </p:nvSpPr>
        <p:spPr>
          <a:xfrm>
            <a:off x="996696" y="3200400"/>
            <a:ext cx="4736592"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CP · prefiere no responder</a:t>
            </a:r>
            <a:endParaRPr lang="en-US" sz="1500" dirty="0"/>
          </a:p>
        </p:txBody>
      </p:sp>
      <p:sp>
        <p:nvSpPr>
          <p:cNvPr id="17" name="Text 15"/>
          <p:cNvSpPr txBox="1"/>
          <p:nvPr/>
        </p:nvSpPr>
        <p:spPr>
          <a:xfrm>
            <a:off x="996696" y="3547872"/>
            <a:ext cx="4736592" cy="1325880"/>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Ante una partición, el lado en minoría se bloquea para no entregar datos incorrectos.</a:t>
            </a:r>
            <a:endParaRPr lang="en-US" sz="1250" dirty="0"/>
          </a:p>
          <a:p>
            <a:pPr marL="0" indent="0">
              <a:lnSpc>
                <a:spcPct val="116000"/>
              </a:lnSpc>
              <a:buNone/>
            </a:pPr>
            <a:r>
              <a:rPr lang="en-US" sz="1250" b="1" dirty="0">
                <a:solidFill>
                  <a:srgbClr val="238C82"/>
                </a:solidFill>
                <a:latin typeface="Arial" pitchFamily="34" charset="0"/>
                <a:ea typeface="Arial" pitchFamily="34" charset="-122"/>
                <a:cs typeface="Arial" pitchFamily="34" charset="-120"/>
              </a:rPr>
              <a:t>HBase · MongoDB · Zookeeper · Spanner</a:t>
            </a:r>
            <a:endParaRPr lang="en-US" sz="1250" dirty="0"/>
          </a:p>
        </p:txBody>
      </p:sp>
      <p:sp>
        <p:nvSpPr>
          <p:cNvPr id="18" name="Shape 16"/>
          <p:cNvSpPr/>
          <p:nvPr/>
        </p:nvSpPr>
        <p:spPr>
          <a:xfrm>
            <a:off x="6172200" y="3063240"/>
            <a:ext cx="5239512" cy="1920240"/>
          </a:xfrm>
          <a:prstGeom prst="rect">
            <a:avLst/>
          </a:prstGeom>
          <a:solidFill>
            <a:srgbClr val="EDEDED"/>
          </a:solidFill>
          <a:ln/>
        </p:spPr>
      </p:sp>
      <p:sp>
        <p:nvSpPr>
          <p:cNvPr id="19" name="Shape 17"/>
          <p:cNvSpPr/>
          <p:nvPr/>
        </p:nvSpPr>
        <p:spPr>
          <a:xfrm>
            <a:off x="6172200" y="3063240"/>
            <a:ext cx="68580" cy="1920240"/>
          </a:xfrm>
          <a:prstGeom prst="rect">
            <a:avLst/>
          </a:prstGeom>
          <a:solidFill>
            <a:srgbClr val="4BABA0"/>
          </a:solidFill>
          <a:ln/>
        </p:spPr>
      </p:sp>
      <p:sp>
        <p:nvSpPr>
          <p:cNvPr id="20" name="Text 18"/>
          <p:cNvSpPr txBox="1"/>
          <p:nvPr/>
        </p:nvSpPr>
        <p:spPr>
          <a:xfrm>
            <a:off x="6391656" y="3200400"/>
            <a:ext cx="485546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AP · prefiere responder</a:t>
            </a:r>
            <a:endParaRPr lang="en-US" sz="1500" dirty="0"/>
          </a:p>
        </p:txBody>
      </p:sp>
      <p:sp>
        <p:nvSpPr>
          <p:cNvPr id="21" name="Text 19"/>
          <p:cNvSpPr txBox="1"/>
          <p:nvPr/>
        </p:nvSpPr>
        <p:spPr>
          <a:xfrm>
            <a:off x="6391656" y="3547872"/>
            <a:ext cx="4855464" cy="1325880"/>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Ante una partición, todos responden aunque el dato pueda estar desactualizado: consistencia eventual.</a:t>
            </a:r>
            <a:endParaRPr lang="en-US" sz="1250" dirty="0"/>
          </a:p>
          <a:p>
            <a:pPr marL="0" indent="0">
              <a:lnSpc>
                <a:spcPct val="116000"/>
              </a:lnSpc>
              <a:buNone/>
            </a:pPr>
            <a:r>
              <a:rPr lang="en-US" sz="1250" b="1" dirty="0">
                <a:solidFill>
                  <a:srgbClr val="238C82"/>
                </a:solidFill>
                <a:latin typeface="Arial" pitchFamily="34" charset="0"/>
                <a:ea typeface="Arial" pitchFamily="34" charset="-122"/>
                <a:cs typeface="Arial" pitchFamily="34" charset="-120"/>
              </a:rPr>
              <a:t>Cassandra · DynamoDB · CouchDB</a:t>
            </a:r>
            <a:endParaRPr lang="en-US" sz="1250" dirty="0"/>
          </a:p>
        </p:txBody>
      </p:sp>
      <p:sp>
        <p:nvSpPr>
          <p:cNvPr id="22" name="Shape 20"/>
          <p:cNvSpPr/>
          <p:nvPr/>
        </p:nvSpPr>
        <p:spPr>
          <a:xfrm>
            <a:off x="777240" y="5742432"/>
            <a:ext cx="10634472" cy="621792"/>
          </a:xfrm>
          <a:prstGeom prst="rect">
            <a:avLst/>
          </a:prstGeom>
          <a:solidFill>
            <a:srgbClr val="4BABA0"/>
          </a:solidFill>
          <a:ln/>
        </p:spPr>
      </p:sp>
      <p:sp>
        <p:nvSpPr>
          <p:cNvPr id="23" name="Text 21"/>
          <p:cNvSpPr txBox="1"/>
          <p:nvPr/>
        </p:nvSpPr>
        <p:spPr>
          <a:xfrm>
            <a:off x="978408" y="5815584"/>
            <a:ext cx="10232136" cy="475488"/>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CA no existe en un sistema distribuido: la partición no se elige, va a pasar. La decisión real es C o A.</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7">
    <p:bg>
      <p:bgPr>
        <a:solidFill>
          <a:srgbClr val="83C8BD"/>
        </a:solidFill>
        <a:effectLst/>
      </p:bgPr>
    </p:bg>
    <p:spTree>
      <p:nvGrpSpPr>
        <p:cNvPr id="1" name=""/>
        <p:cNvGrpSpPr/>
        <p:nvPr/>
      </p:nvGrpSpPr>
      <p:grpSpPr>
        <a:xfrm>
          <a:off x="0" y="0"/>
          <a:ext cx="0" cy="0"/>
          <a:chOff x="0" y="0"/>
          <a:chExt cx="0" cy="0"/>
        </a:xfrm>
      </p:grpSpPr>
      <p:sp>
        <p:nvSpPr>
          <p:cNvPr id="2" name="Shape 0"/>
          <p:cNvSpPr/>
          <p:nvPr/>
        </p:nvSpPr>
        <p:spPr>
          <a:xfrm>
            <a:off x="292608" y="201168"/>
            <a:ext cx="11603736" cy="6455664"/>
          </a:xfrm>
          <a:prstGeom prst="roundRect">
            <a:avLst>
              <a:gd name="adj" fmla="val 779"/>
            </a:avLst>
          </a:prstGeom>
          <a:solidFill>
            <a:srgbClr val="FFFFFF"/>
          </a:solidFill>
          <a:ln w="50800">
            <a:solidFill>
              <a:srgbClr val="5A99D1"/>
            </a:solidFill>
            <a:prstDash val="solid"/>
          </a:ln>
        </p:spPr>
      </p:sp>
      <p:sp>
        <p:nvSpPr>
          <p:cNvPr id="3" name="Text 1"/>
          <p:cNvSpPr txBox="1"/>
          <p:nvPr/>
        </p:nvSpPr>
        <p:spPr>
          <a:xfrm>
            <a:off x="777240" y="420624"/>
            <a:ext cx="10634472" cy="502920"/>
          </a:xfrm>
          <a:prstGeom prst="rect">
            <a:avLst/>
          </a:prstGeom>
          <a:noFill/>
          <a:ln/>
        </p:spPr>
        <p:txBody>
          <a:bodyPr wrap="square" lIns="0" tIns="0" rIns="0" bIns="0" rtlCol="0" anchor="t"/>
          <a:lstStyle/>
          <a:p>
            <a:pPr marL="0" indent="0">
              <a:buNone/>
            </a:pPr>
            <a:r>
              <a:rPr lang="en-US" sz="3000" b="1" dirty="0">
                <a:solidFill>
                  <a:srgbClr val="DE6B12"/>
                </a:solidFill>
                <a:latin typeface="Arial" pitchFamily="34" charset="0"/>
                <a:ea typeface="Arial" pitchFamily="34" charset="-122"/>
                <a:cs typeface="Arial" pitchFamily="34" charset="-120"/>
              </a:rPr>
              <a:t>Ejercicio CAP </a:t>
            </a:r>
            <a:r>
              <a:rPr lang="en-US" sz="3000" b="1" dirty="0">
                <a:solidFill>
                  <a:srgbClr val="355D64"/>
                </a:solidFill>
                <a:latin typeface="Arial" pitchFamily="34" charset="0"/>
                <a:ea typeface="Arial" pitchFamily="34" charset="-122"/>
                <a:cs typeface="Arial" pitchFamily="34" charset="-120"/>
              </a:rPr>
              <a:t>· 3 casos</a:t>
            </a:r>
            <a:endParaRPr lang="en-US" sz="3000" dirty="0"/>
          </a:p>
        </p:txBody>
      </p:sp>
      <p:sp>
        <p:nvSpPr>
          <p:cNvPr id="4" name="Text 2"/>
          <p:cNvSpPr txBox="1"/>
          <p:nvPr/>
        </p:nvSpPr>
        <p:spPr>
          <a:xfrm>
            <a:off x="777240" y="941832"/>
            <a:ext cx="10634472" cy="274320"/>
          </a:xfrm>
          <a:prstGeom prst="rect">
            <a:avLst/>
          </a:prstGeom>
          <a:noFill/>
          <a:ln/>
        </p:spPr>
        <p:txBody>
          <a:bodyPr wrap="square" lIns="0" tIns="0" rIns="0" bIns="0" rtlCol="0" anchor="t"/>
          <a:lstStyle/>
          <a:p>
            <a:pPr marL="0" indent="0">
              <a:buNone/>
            </a:pPr>
            <a:r>
              <a:rPr lang="en-US" sz="1200" b="1" dirty="0">
                <a:solidFill>
                  <a:srgbClr val="355D64"/>
                </a:solidFill>
                <a:latin typeface="Arial" pitchFamily="34" charset="0"/>
                <a:ea typeface="Arial" pitchFamily="34" charset="-122"/>
                <a:cs typeface="Arial" pitchFamily="34" charset="-120"/>
              </a:rPr>
              <a:t>¿CP, AP o CA? Justifique</a:t>
            </a:r>
            <a:endParaRPr lang="en-US" sz="1200" dirty="0"/>
          </a:p>
        </p:txBody>
      </p:sp>
      <p:sp>
        <p:nvSpPr>
          <p:cNvPr id="5" name="Shape 3"/>
          <p:cNvSpPr/>
          <p:nvPr/>
        </p:nvSpPr>
        <p:spPr>
          <a:xfrm>
            <a:off x="777240" y="1371600"/>
            <a:ext cx="10634472" cy="1108456"/>
          </a:xfrm>
          <a:prstGeom prst="rect">
            <a:avLst/>
          </a:prstGeom>
          <a:solidFill>
            <a:srgbClr val="EDEDED"/>
          </a:solidFill>
          <a:ln/>
        </p:spPr>
      </p:sp>
      <p:sp>
        <p:nvSpPr>
          <p:cNvPr id="6" name="Shape 4"/>
          <p:cNvSpPr/>
          <p:nvPr/>
        </p:nvSpPr>
        <p:spPr>
          <a:xfrm>
            <a:off x="777240" y="1371600"/>
            <a:ext cx="68580" cy="1108456"/>
          </a:xfrm>
          <a:prstGeom prst="rect">
            <a:avLst/>
          </a:prstGeom>
          <a:solidFill>
            <a:srgbClr val="4BABA0"/>
          </a:solidFill>
          <a:ln/>
        </p:spPr>
      </p:sp>
      <p:sp>
        <p:nvSpPr>
          <p:cNvPr id="7" name="Text 5"/>
          <p:cNvSpPr txBox="1"/>
          <p:nvPr/>
        </p:nvSpPr>
        <p:spPr>
          <a:xfrm>
            <a:off x="996696" y="1508760"/>
            <a:ext cx="1025042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Caso 1 · Entradas numeradas</a:t>
            </a:r>
            <a:endParaRPr lang="en-US" sz="1500" dirty="0"/>
          </a:p>
        </p:txBody>
      </p:sp>
      <p:sp>
        <p:nvSpPr>
          <p:cNvPr id="8" name="Text 6"/>
          <p:cNvSpPr txBox="1"/>
          <p:nvPr/>
        </p:nvSpPr>
        <p:spPr>
          <a:xfrm>
            <a:off x="996696" y="1856232"/>
            <a:ext cx="10250424" cy="514096"/>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Venta de entradas con asientos numerados en dos datacenters. Si se corta la red, un mismo asiento podría venderse dos veces. El negocio prefiere mostrar «intente más tarde» antes que vender dos veces el mismo asiento.</a:t>
            </a:r>
            <a:endParaRPr lang="en-US" sz="1250" dirty="0"/>
          </a:p>
        </p:txBody>
      </p:sp>
      <p:sp>
        <p:nvSpPr>
          <p:cNvPr id="9" name="Shape 7"/>
          <p:cNvSpPr/>
          <p:nvPr/>
        </p:nvSpPr>
        <p:spPr>
          <a:xfrm>
            <a:off x="777240" y="2743200"/>
            <a:ext cx="10634472" cy="1108456"/>
          </a:xfrm>
          <a:prstGeom prst="rect">
            <a:avLst/>
          </a:prstGeom>
          <a:solidFill>
            <a:srgbClr val="EDEDED"/>
          </a:solidFill>
          <a:ln/>
        </p:spPr>
      </p:sp>
      <p:sp>
        <p:nvSpPr>
          <p:cNvPr id="10" name="Shape 8"/>
          <p:cNvSpPr/>
          <p:nvPr/>
        </p:nvSpPr>
        <p:spPr>
          <a:xfrm>
            <a:off x="777240" y="2743200"/>
            <a:ext cx="68580" cy="1108456"/>
          </a:xfrm>
          <a:prstGeom prst="rect">
            <a:avLst/>
          </a:prstGeom>
          <a:solidFill>
            <a:srgbClr val="4BABA0"/>
          </a:solidFill>
          <a:ln/>
        </p:spPr>
      </p:sp>
      <p:sp>
        <p:nvSpPr>
          <p:cNvPr id="11" name="Text 9"/>
          <p:cNvSpPr txBox="1"/>
          <p:nvPr/>
        </p:nvSpPr>
        <p:spPr>
          <a:xfrm>
            <a:off x="996696" y="2880360"/>
            <a:ext cx="1025042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Caso 2 · Carrito de compras</a:t>
            </a:r>
            <a:endParaRPr lang="en-US" sz="1500" dirty="0"/>
          </a:p>
        </p:txBody>
      </p:sp>
      <p:sp>
        <p:nvSpPr>
          <p:cNvPr id="12" name="Text 10"/>
          <p:cNvSpPr txBox="1"/>
          <p:nvPr/>
        </p:nvSpPr>
        <p:spPr>
          <a:xfrm>
            <a:off x="996696" y="3227832"/>
            <a:ext cx="10250424" cy="514096"/>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El carrito de un e-commerce. Si se corta la red, el cliente tiene que poder seguir agregando productos sí o sí; si después aparecen dos versiones del carrito, se fusionan.</a:t>
            </a:r>
            <a:endParaRPr lang="en-US" sz="1250" dirty="0"/>
          </a:p>
        </p:txBody>
      </p:sp>
      <p:sp>
        <p:nvSpPr>
          <p:cNvPr id="13" name="Shape 11"/>
          <p:cNvSpPr/>
          <p:nvPr/>
        </p:nvSpPr>
        <p:spPr>
          <a:xfrm>
            <a:off x="777240" y="4114800"/>
            <a:ext cx="10634472" cy="892556"/>
          </a:xfrm>
          <a:prstGeom prst="rect">
            <a:avLst/>
          </a:prstGeom>
          <a:solidFill>
            <a:srgbClr val="EDEDED"/>
          </a:solidFill>
          <a:ln/>
        </p:spPr>
      </p:sp>
      <p:sp>
        <p:nvSpPr>
          <p:cNvPr id="14" name="Shape 12"/>
          <p:cNvSpPr/>
          <p:nvPr/>
        </p:nvSpPr>
        <p:spPr>
          <a:xfrm>
            <a:off x="777240" y="4114800"/>
            <a:ext cx="68580" cy="892556"/>
          </a:xfrm>
          <a:prstGeom prst="rect">
            <a:avLst/>
          </a:prstGeom>
          <a:solidFill>
            <a:srgbClr val="4BABA0"/>
          </a:solidFill>
          <a:ln/>
        </p:spPr>
      </p:sp>
      <p:sp>
        <p:nvSpPr>
          <p:cNvPr id="15" name="Text 13"/>
          <p:cNvSpPr txBox="1"/>
          <p:nvPr/>
        </p:nvSpPr>
        <p:spPr>
          <a:xfrm>
            <a:off x="996696" y="4251960"/>
            <a:ext cx="1025042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Caso 3 · La propuesta del arquitecto</a:t>
            </a:r>
            <a:endParaRPr lang="en-US" sz="1500" dirty="0"/>
          </a:p>
        </p:txBody>
      </p:sp>
      <p:sp>
        <p:nvSpPr>
          <p:cNvPr id="16" name="Text 14"/>
          <p:cNvSpPr txBox="1"/>
          <p:nvPr/>
        </p:nvSpPr>
        <p:spPr>
          <a:xfrm>
            <a:off x="996696" y="4599432"/>
            <a:ext cx="10250424" cy="298196"/>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Un arquitecto propone un sistema </a:t>
            </a:r>
            <a:r>
              <a:rPr lang="en-US" sz="1250" b="1" dirty="0">
                <a:solidFill>
                  <a:srgbClr val="DE6B12"/>
                </a:solidFill>
                <a:latin typeface="Arial" pitchFamily="34" charset="0"/>
                <a:ea typeface="Arial" pitchFamily="34" charset="-122"/>
                <a:cs typeface="Arial" pitchFamily="34" charset="-120"/>
              </a:rPr>
              <a:t>CA</a:t>
            </a:r>
            <a:r>
              <a:rPr lang="en-US" sz="1250" dirty="0">
                <a:solidFill>
                  <a:srgbClr val="1A1A1A"/>
                </a:solidFill>
                <a:latin typeface="Arial" pitchFamily="34" charset="0"/>
                <a:ea typeface="Arial" pitchFamily="34" charset="-122"/>
                <a:cs typeface="Arial" pitchFamily="34" charset="-120"/>
              </a:rPr>
              <a:t> repartido en 3 regiones, que garantiza consistencia y disponibilidad total, siempre. ¿Qué tiene de malo la propuesta?</a:t>
            </a:r>
            <a:endParaRPr lang="en-US" sz="1250" dirty="0"/>
          </a:p>
        </p:txBody>
      </p:sp>
      <p:sp>
        <p:nvSpPr>
          <p:cNvPr id="17" name="Shape 15"/>
          <p:cNvSpPr/>
          <p:nvPr/>
        </p:nvSpPr>
        <p:spPr>
          <a:xfrm>
            <a:off x="777240" y="5742432"/>
            <a:ext cx="10634472" cy="621792"/>
          </a:xfrm>
          <a:prstGeom prst="rect">
            <a:avLst/>
          </a:prstGeom>
          <a:solidFill>
            <a:srgbClr val="EDEDED"/>
          </a:solidFill>
          <a:ln/>
        </p:spPr>
      </p:sp>
      <p:sp>
        <p:nvSpPr>
          <p:cNvPr id="18" name="Text 16"/>
          <p:cNvSpPr txBox="1"/>
          <p:nvPr/>
        </p:nvSpPr>
        <p:spPr>
          <a:xfrm>
            <a:off x="978408" y="5815584"/>
            <a:ext cx="10232136" cy="475488"/>
          </a:xfrm>
          <a:prstGeom prst="rect">
            <a:avLst/>
          </a:prstGeom>
          <a:noFill/>
          <a:ln/>
        </p:spPr>
        <p:txBody>
          <a:bodyPr wrap="square" lIns="0" tIns="0" rIns="0" bIns="0" rtlCol="0" anchor="ctr"/>
          <a:lstStyle/>
          <a:p>
            <a:pPr marL="0" indent="0">
              <a:buNone/>
            </a:pPr>
            <a:r>
              <a:rPr lang="en-US" sz="1350" b="1" dirty="0">
                <a:solidFill>
                  <a:srgbClr val="1A1A1A"/>
                </a:solidFill>
                <a:latin typeface="Arial" pitchFamily="34" charset="0"/>
                <a:ea typeface="Arial" pitchFamily="34" charset="-122"/>
                <a:cs typeface="Arial" pitchFamily="34" charset="-120"/>
              </a:rPr>
              <a:t>La pregunta clave: </a:t>
            </a:r>
            <a:r>
              <a:rPr lang="en-US" sz="1350" b="1" dirty="0">
                <a:solidFill>
                  <a:srgbClr val="DE6B12"/>
                </a:solidFill>
                <a:latin typeface="Arial" pitchFamily="34" charset="0"/>
                <a:ea typeface="Arial" pitchFamily="34" charset="-122"/>
                <a:cs typeface="Arial" pitchFamily="34" charset="-120"/>
              </a:rPr>
              <a:t>¿qué es peor para el negocio, no responder o responder mal?</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8">
    <p:bg>
      <p:bgPr>
        <a:solidFill>
          <a:srgbClr val="83C8BD"/>
        </a:solidFill>
        <a:effectLst/>
      </p:bgPr>
    </p:bg>
    <p:spTree>
      <p:nvGrpSpPr>
        <p:cNvPr id="1" name=""/>
        <p:cNvGrpSpPr/>
        <p:nvPr/>
      </p:nvGrpSpPr>
      <p:grpSpPr>
        <a:xfrm>
          <a:off x="0" y="0"/>
          <a:ext cx="0" cy="0"/>
          <a:chOff x="0" y="0"/>
          <a:chExt cx="0" cy="0"/>
        </a:xfrm>
      </p:grpSpPr>
      <p:sp>
        <p:nvSpPr>
          <p:cNvPr id="2" name="Shape 0"/>
          <p:cNvSpPr/>
          <p:nvPr/>
        </p:nvSpPr>
        <p:spPr>
          <a:xfrm>
            <a:off x="292608" y="201168"/>
            <a:ext cx="11603736" cy="6455664"/>
          </a:xfrm>
          <a:prstGeom prst="roundRect">
            <a:avLst>
              <a:gd name="adj" fmla="val 779"/>
            </a:avLst>
          </a:prstGeom>
          <a:solidFill>
            <a:srgbClr val="FFFFFF"/>
          </a:solidFill>
          <a:ln w="50800">
            <a:solidFill>
              <a:srgbClr val="5A99D1"/>
            </a:solidFill>
            <a:prstDash val="solid"/>
          </a:ln>
        </p:spPr>
      </p:sp>
      <p:sp>
        <p:nvSpPr>
          <p:cNvPr id="3" name="Text 1"/>
          <p:cNvSpPr txBox="1"/>
          <p:nvPr/>
        </p:nvSpPr>
        <p:spPr>
          <a:xfrm>
            <a:off x="777240" y="420624"/>
            <a:ext cx="10634472" cy="502920"/>
          </a:xfrm>
          <a:prstGeom prst="rect">
            <a:avLst/>
          </a:prstGeom>
          <a:noFill/>
          <a:ln/>
        </p:spPr>
        <p:txBody>
          <a:bodyPr wrap="square" lIns="0" tIns="0" rIns="0" bIns="0" rtlCol="0" anchor="t"/>
          <a:lstStyle/>
          <a:p>
            <a:pPr marL="0" indent="0">
              <a:buNone/>
            </a:pPr>
            <a:r>
              <a:rPr lang="en-US" sz="3000" b="1" dirty="0">
                <a:solidFill>
                  <a:srgbClr val="DE6B12"/>
                </a:solidFill>
                <a:latin typeface="Arial" pitchFamily="34" charset="0"/>
                <a:ea typeface="Arial" pitchFamily="34" charset="-122"/>
                <a:cs typeface="Arial" pitchFamily="34" charset="-120"/>
              </a:rPr>
              <a:t>CAP </a:t>
            </a:r>
            <a:r>
              <a:rPr lang="en-US" sz="3000" b="1" dirty="0">
                <a:solidFill>
                  <a:srgbClr val="355D64"/>
                </a:solidFill>
                <a:latin typeface="Arial" pitchFamily="34" charset="0"/>
                <a:ea typeface="Arial" pitchFamily="34" charset="-122"/>
                <a:cs typeface="Arial" pitchFamily="34" charset="-120"/>
              </a:rPr>
              <a:t>· Respuestas</a:t>
            </a:r>
            <a:endParaRPr lang="en-US" sz="3000" dirty="0"/>
          </a:p>
        </p:txBody>
      </p:sp>
      <p:sp>
        <p:nvSpPr>
          <p:cNvPr id="4" name="Shape 2"/>
          <p:cNvSpPr/>
          <p:nvPr/>
        </p:nvSpPr>
        <p:spPr>
          <a:xfrm>
            <a:off x="777240" y="1554480"/>
            <a:ext cx="3364992" cy="3108960"/>
          </a:xfrm>
          <a:prstGeom prst="rect">
            <a:avLst/>
          </a:prstGeom>
          <a:solidFill>
            <a:srgbClr val="EDEDED"/>
          </a:solidFill>
          <a:ln/>
        </p:spPr>
      </p:sp>
      <p:sp>
        <p:nvSpPr>
          <p:cNvPr id="5" name="Shape 3"/>
          <p:cNvSpPr/>
          <p:nvPr/>
        </p:nvSpPr>
        <p:spPr>
          <a:xfrm>
            <a:off x="777240" y="1554480"/>
            <a:ext cx="68580" cy="3108960"/>
          </a:xfrm>
          <a:prstGeom prst="rect">
            <a:avLst/>
          </a:prstGeom>
          <a:solidFill>
            <a:srgbClr val="4BABA0"/>
          </a:solidFill>
          <a:ln/>
        </p:spPr>
      </p:sp>
      <p:sp>
        <p:nvSpPr>
          <p:cNvPr id="6" name="Text 4"/>
          <p:cNvSpPr txBox="1"/>
          <p:nvPr/>
        </p:nvSpPr>
        <p:spPr>
          <a:xfrm>
            <a:off x="996696" y="1691640"/>
            <a:ext cx="298094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Caso 1 → CP</a:t>
            </a:r>
            <a:endParaRPr lang="en-US" sz="1500" dirty="0"/>
          </a:p>
        </p:txBody>
      </p:sp>
      <p:sp>
        <p:nvSpPr>
          <p:cNvPr id="7" name="Text 5"/>
          <p:cNvSpPr txBox="1"/>
          <p:nvPr/>
        </p:nvSpPr>
        <p:spPr>
          <a:xfrm>
            <a:off x="996696" y="2039112"/>
            <a:ext cx="2980944" cy="2514600"/>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Vender dos veces un asiento es un error grave. Se sacrifica disponibilidad: mejor bloquear que responder mal.</a:t>
            </a:r>
            <a:endParaRPr lang="en-US" sz="1250" dirty="0"/>
          </a:p>
        </p:txBody>
      </p:sp>
      <p:sp>
        <p:nvSpPr>
          <p:cNvPr id="8" name="Shape 6"/>
          <p:cNvSpPr/>
          <p:nvPr/>
        </p:nvSpPr>
        <p:spPr>
          <a:xfrm>
            <a:off x="4411980" y="1554480"/>
            <a:ext cx="3364992" cy="3108960"/>
          </a:xfrm>
          <a:prstGeom prst="rect">
            <a:avLst/>
          </a:prstGeom>
          <a:solidFill>
            <a:srgbClr val="EDEDED"/>
          </a:solidFill>
          <a:ln/>
        </p:spPr>
      </p:sp>
      <p:sp>
        <p:nvSpPr>
          <p:cNvPr id="9" name="Shape 7"/>
          <p:cNvSpPr/>
          <p:nvPr/>
        </p:nvSpPr>
        <p:spPr>
          <a:xfrm>
            <a:off x="4411980" y="1554480"/>
            <a:ext cx="68580" cy="3108960"/>
          </a:xfrm>
          <a:prstGeom prst="rect">
            <a:avLst/>
          </a:prstGeom>
          <a:solidFill>
            <a:srgbClr val="4BABA0"/>
          </a:solidFill>
          <a:ln/>
        </p:spPr>
      </p:sp>
      <p:sp>
        <p:nvSpPr>
          <p:cNvPr id="10" name="Text 8"/>
          <p:cNvSpPr txBox="1"/>
          <p:nvPr/>
        </p:nvSpPr>
        <p:spPr>
          <a:xfrm>
            <a:off x="4631436" y="1691640"/>
            <a:ext cx="298094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Caso 2 → AP</a:t>
            </a:r>
            <a:endParaRPr lang="en-US" sz="1500" dirty="0"/>
          </a:p>
        </p:txBody>
      </p:sp>
      <p:sp>
        <p:nvSpPr>
          <p:cNvPr id="11" name="Text 9"/>
          <p:cNvSpPr txBox="1"/>
          <p:nvPr/>
        </p:nvSpPr>
        <p:spPr>
          <a:xfrm>
            <a:off x="4631436" y="2039112"/>
            <a:ext cx="2980944" cy="2514600"/>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Un carrito que no deja comprar es plata perdida. Se acepta una inconsistencia temporal y se fusiona después. Es el caso del Dynamo de Amazon.</a:t>
            </a:r>
            <a:endParaRPr lang="en-US" sz="1250" dirty="0"/>
          </a:p>
        </p:txBody>
      </p:sp>
      <p:sp>
        <p:nvSpPr>
          <p:cNvPr id="12" name="Shape 10"/>
          <p:cNvSpPr/>
          <p:nvPr/>
        </p:nvSpPr>
        <p:spPr>
          <a:xfrm>
            <a:off x="8046720" y="1554480"/>
            <a:ext cx="3364992" cy="3108960"/>
          </a:xfrm>
          <a:prstGeom prst="rect">
            <a:avLst/>
          </a:prstGeom>
          <a:solidFill>
            <a:srgbClr val="EDEDED"/>
          </a:solidFill>
          <a:ln/>
        </p:spPr>
      </p:sp>
      <p:sp>
        <p:nvSpPr>
          <p:cNvPr id="13" name="Shape 11"/>
          <p:cNvSpPr/>
          <p:nvPr/>
        </p:nvSpPr>
        <p:spPr>
          <a:xfrm>
            <a:off x="8046720" y="1554480"/>
            <a:ext cx="68580" cy="3108960"/>
          </a:xfrm>
          <a:prstGeom prst="rect">
            <a:avLst/>
          </a:prstGeom>
          <a:solidFill>
            <a:srgbClr val="4BABA0"/>
          </a:solidFill>
          <a:ln/>
        </p:spPr>
      </p:sp>
      <p:sp>
        <p:nvSpPr>
          <p:cNvPr id="14" name="Text 12"/>
          <p:cNvSpPr txBox="1"/>
          <p:nvPr/>
        </p:nvSpPr>
        <p:spPr>
          <a:xfrm>
            <a:off x="8266176" y="1691640"/>
            <a:ext cx="298094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Caso 3 → CA no existe</a:t>
            </a:r>
            <a:endParaRPr lang="en-US" sz="1500" dirty="0"/>
          </a:p>
        </p:txBody>
      </p:sp>
      <p:sp>
        <p:nvSpPr>
          <p:cNvPr id="15" name="Text 13"/>
          <p:cNvSpPr txBox="1"/>
          <p:nvPr/>
        </p:nvSpPr>
        <p:spPr>
          <a:xfrm>
            <a:off x="8266176" y="2039112"/>
            <a:ext cx="2980944" cy="2514600"/>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Con 3 regiones, la red </a:t>
            </a:r>
            <a:r>
              <a:rPr lang="en-US" sz="1250" b="1" dirty="0">
                <a:solidFill>
                  <a:srgbClr val="DE6B12"/>
                </a:solidFill>
                <a:latin typeface="Arial" pitchFamily="34" charset="0"/>
                <a:ea typeface="Arial" pitchFamily="34" charset="-122"/>
                <a:cs typeface="Arial" pitchFamily="34" charset="-120"/>
              </a:rPr>
              <a:t>se va a cortar</a:t>
            </a:r>
            <a:r>
              <a:rPr lang="en-US" sz="1250" dirty="0">
                <a:solidFill>
                  <a:srgbClr val="1A1A1A"/>
                </a:solidFill>
                <a:latin typeface="Arial" pitchFamily="34" charset="0"/>
                <a:ea typeface="Arial" pitchFamily="34" charset="-122"/>
                <a:cs typeface="Arial" pitchFamily="34" charset="-120"/>
              </a:rPr>
              <a:t>. CA solo es posible en un único nodo, sin red de por medio. Hay que elegir entre C y A.</a:t>
            </a:r>
            <a:endParaRPr lang="en-US" sz="1250" dirty="0"/>
          </a:p>
        </p:txBody>
      </p:sp>
      <p:sp>
        <p:nvSpPr>
          <p:cNvPr id="16" name="Shape 14"/>
          <p:cNvSpPr/>
          <p:nvPr/>
        </p:nvSpPr>
        <p:spPr>
          <a:xfrm>
            <a:off x="777240" y="5742432"/>
            <a:ext cx="10634472" cy="621792"/>
          </a:xfrm>
          <a:prstGeom prst="rect">
            <a:avLst/>
          </a:prstGeom>
          <a:solidFill>
            <a:srgbClr val="4BABA0"/>
          </a:solidFill>
          <a:ln/>
        </p:spPr>
      </p:sp>
      <p:sp>
        <p:nvSpPr>
          <p:cNvPr id="17" name="Text 15"/>
          <p:cNvSpPr txBox="1"/>
          <p:nvPr/>
        </p:nvSpPr>
        <p:spPr>
          <a:xfrm>
            <a:off x="978408" y="5815584"/>
            <a:ext cx="10232136" cy="475488"/>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Si hay plata o recursos únicos de por medio: CP. Si lo crítico es que nunca se caiga: AP.</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9">
    <p:bg>
      <p:bgPr>
        <a:solidFill>
          <a:srgbClr val="83C8BD"/>
        </a:solidFill>
        <a:effectLst/>
      </p:bgPr>
    </p:bg>
    <p:spTree>
      <p:nvGrpSpPr>
        <p:cNvPr id="1" name=""/>
        <p:cNvGrpSpPr/>
        <p:nvPr/>
      </p:nvGrpSpPr>
      <p:grpSpPr>
        <a:xfrm>
          <a:off x="0" y="0"/>
          <a:ext cx="0" cy="0"/>
          <a:chOff x="0" y="0"/>
          <a:chExt cx="0" cy="0"/>
        </a:xfrm>
      </p:grpSpPr>
      <p:sp>
        <p:nvSpPr>
          <p:cNvPr id="2" name="Shape 0"/>
          <p:cNvSpPr/>
          <p:nvPr/>
        </p:nvSpPr>
        <p:spPr>
          <a:xfrm>
            <a:off x="292608" y="201168"/>
            <a:ext cx="11603736" cy="6455664"/>
          </a:xfrm>
          <a:prstGeom prst="roundRect">
            <a:avLst>
              <a:gd name="adj" fmla="val 779"/>
            </a:avLst>
          </a:prstGeom>
          <a:solidFill>
            <a:srgbClr val="FFFFFF"/>
          </a:solidFill>
          <a:ln w="50800">
            <a:solidFill>
              <a:srgbClr val="5A99D1"/>
            </a:solidFill>
            <a:prstDash val="solid"/>
          </a:ln>
        </p:spPr>
      </p:sp>
      <p:sp>
        <p:nvSpPr>
          <p:cNvPr id="3" name="Text 1"/>
          <p:cNvSpPr txBox="1"/>
          <p:nvPr/>
        </p:nvSpPr>
        <p:spPr>
          <a:xfrm>
            <a:off x="777240" y="420624"/>
            <a:ext cx="10634472" cy="502920"/>
          </a:xfrm>
          <a:prstGeom prst="rect">
            <a:avLst/>
          </a:prstGeom>
          <a:noFill/>
          <a:ln/>
        </p:spPr>
        <p:txBody>
          <a:bodyPr wrap="square" lIns="0" tIns="0" rIns="0" bIns="0" rtlCol="0" anchor="t"/>
          <a:lstStyle/>
          <a:p>
            <a:pPr marL="0" indent="0">
              <a:buNone/>
            </a:pPr>
            <a:r>
              <a:rPr lang="en-US" sz="3000" b="1" dirty="0">
                <a:solidFill>
                  <a:srgbClr val="DE6B12"/>
                </a:solidFill>
                <a:latin typeface="Arial" pitchFamily="34" charset="0"/>
                <a:ea typeface="Arial" pitchFamily="34" charset="-122"/>
                <a:cs typeface="Arial" pitchFamily="34" charset="-120"/>
              </a:rPr>
              <a:t>NoSQL </a:t>
            </a:r>
            <a:r>
              <a:rPr lang="en-US" sz="3000" b="1" dirty="0">
                <a:solidFill>
                  <a:srgbClr val="355D64"/>
                </a:solidFill>
                <a:latin typeface="Arial" pitchFamily="34" charset="0"/>
                <a:ea typeface="Arial" pitchFamily="34" charset="-122"/>
                <a:cs typeface="Arial" pitchFamily="34" charset="-120"/>
              </a:rPr>
              <a:t>· Los 4 tipos</a:t>
            </a:r>
            <a:endParaRPr lang="en-US" sz="3000" dirty="0"/>
          </a:p>
        </p:txBody>
      </p:sp>
      <p:sp>
        <p:nvSpPr>
          <p:cNvPr id="4" name="Text 2"/>
          <p:cNvSpPr txBox="1"/>
          <p:nvPr/>
        </p:nvSpPr>
        <p:spPr>
          <a:xfrm>
            <a:off x="777240" y="941832"/>
            <a:ext cx="10634472" cy="274320"/>
          </a:xfrm>
          <a:prstGeom prst="rect">
            <a:avLst/>
          </a:prstGeom>
          <a:noFill/>
          <a:ln/>
        </p:spPr>
        <p:txBody>
          <a:bodyPr wrap="square" lIns="0" tIns="0" rIns="0" bIns="0" rtlCol="0" anchor="t"/>
          <a:lstStyle/>
          <a:p>
            <a:pPr marL="0" indent="0">
              <a:buNone/>
            </a:pPr>
            <a:r>
              <a:rPr lang="en-US" sz="1200" b="1" dirty="0">
                <a:solidFill>
                  <a:srgbClr val="355D64"/>
                </a:solidFill>
                <a:latin typeface="Arial" pitchFamily="34" charset="0"/>
                <a:ea typeface="Arial" pitchFamily="34" charset="-122"/>
                <a:cs typeface="Arial" pitchFamily="34" charset="-120"/>
              </a:rPr>
              <a:t>Cada uno resuelve un problema distinto</a:t>
            </a:r>
            <a:endParaRPr lang="en-US" sz="1200" dirty="0"/>
          </a:p>
        </p:txBody>
      </p:sp>
      <p:sp>
        <p:nvSpPr>
          <p:cNvPr id="5" name="Shape 3"/>
          <p:cNvSpPr/>
          <p:nvPr/>
        </p:nvSpPr>
        <p:spPr>
          <a:xfrm>
            <a:off x="777240" y="1417320"/>
            <a:ext cx="5239512" cy="1783080"/>
          </a:xfrm>
          <a:prstGeom prst="rect">
            <a:avLst/>
          </a:prstGeom>
          <a:solidFill>
            <a:srgbClr val="EDEDED"/>
          </a:solidFill>
          <a:ln/>
        </p:spPr>
      </p:sp>
      <p:sp>
        <p:nvSpPr>
          <p:cNvPr id="6" name="Shape 4"/>
          <p:cNvSpPr/>
          <p:nvPr/>
        </p:nvSpPr>
        <p:spPr>
          <a:xfrm>
            <a:off x="777240" y="1417320"/>
            <a:ext cx="68580" cy="1783080"/>
          </a:xfrm>
          <a:prstGeom prst="rect">
            <a:avLst/>
          </a:prstGeom>
          <a:solidFill>
            <a:srgbClr val="4BABA0"/>
          </a:solidFill>
          <a:ln/>
        </p:spPr>
      </p:sp>
      <p:sp>
        <p:nvSpPr>
          <p:cNvPr id="7" name="Text 5"/>
          <p:cNvSpPr txBox="1"/>
          <p:nvPr/>
        </p:nvSpPr>
        <p:spPr>
          <a:xfrm>
            <a:off x="996696" y="1554480"/>
            <a:ext cx="485546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Key-Value</a:t>
            </a:r>
            <a:endParaRPr lang="en-US" sz="1500" dirty="0"/>
          </a:p>
        </p:txBody>
      </p:sp>
      <p:sp>
        <p:nvSpPr>
          <p:cNvPr id="8" name="Text 6"/>
          <p:cNvSpPr txBox="1"/>
          <p:nvPr/>
        </p:nvSpPr>
        <p:spPr>
          <a:xfrm>
            <a:off x="996696" y="1901952"/>
            <a:ext cx="4855464" cy="1188720"/>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Una clave → un valor. Acceso directo por clave, latencia mínima. No consulta por otros atributos.</a:t>
            </a:r>
            <a:endParaRPr lang="en-US" sz="1250" dirty="0"/>
          </a:p>
          <a:p>
            <a:pPr marL="0" indent="0">
              <a:lnSpc>
                <a:spcPct val="116000"/>
              </a:lnSpc>
              <a:buNone/>
            </a:pPr>
            <a:r>
              <a:rPr lang="en-US" sz="1250" b="1" dirty="0">
                <a:solidFill>
                  <a:srgbClr val="238C82"/>
                </a:solidFill>
                <a:latin typeface="Arial" pitchFamily="34" charset="0"/>
                <a:ea typeface="Arial" pitchFamily="34" charset="-122"/>
                <a:cs typeface="Arial" pitchFamily="34" charset="-120"/>
              </a:rPr>
              <a:t>Redis · DynamoDB</a:t>
            </a:r>
            <a:endParaRPr lang="en-US" sz="1250" dirty="0"/>
          </a:p>
        </p:txBody>
      </p:sp>
      <p:sp>
        <p:nvSpPr>
          <p:cNvPr id="9" name="Shape 7"/>
          <p:cNvSpPr/>
          <p:nvPr/>
        </p:nvSpPr>
        <p:spPr>
          <a:xfrm>
            <a:off x="6172200" y="1417320"/>
            <a:ext cx="5239512" cy="1783080"/>
          </a:xfrm>
          <a:prstGeom prst="rect">
            <a:avLst/>
          </a:prstGeom>
          <a:solidFill>
            <a:srgbClr val="EDEDED"/>
          </a:solidFill>
          <a:ln/>
        </p:spPr>
      </p:sp>
      <p:sp>
        <p:nvSpPr>
          <p:cNvPr id="10" name="Shape 8"/>
          <p:cNvSpPr/>
          <p:nvPr/>
        </p:nvSpPr>
        <p:spPr>
          <a:xfrm>
            <a:off x="6172200" y="1417320"/>
            <a:ext cx="68580" cy="1783080"/>
          </a:xfrm>
          <a:prstGeom prst="rect">
            <a:avLst/>
          </a:prstGeom>
          <a:solidFill>
            <a:srgbClr val="4BABA0"/>
          </a:solidFill>
          <a:ln/>
        </p:spPr>
      </p:sp>
      <p:sp>
        <p:nvSpPr>
          <p:cNvPr id="11" name="Text 9"/>
          <p:cNvSpPr txBox="1"/>
          <p:nvPr/>
        </p:nvSpPr>
        <p:spPr>
          <a:xfrm>
            <a:off x="6391656" y="1554480"/>
            <a:ext cx="485546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Documental</a:t>
            </a:r>
            <a:endParaRPr lang="en-US" sz="1500" dirty="0"/>
          </a:p>
        </p:txBody>
      </p:sp>
      <p:sp>
        <p:nvSpPr>
          <p:cNvPr id="12" name="Text 10"/>
          <p:cNvSpPr txBox="1"/>
          <p:nvPr/>
        </p:nvSpPr>
        <p:spPr>
          <a:xfrm>
            <a:off x="6391656" y="1901952"/>
            <a:ext cx="4855464" cy="1188720"/>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Documentos tipo JSON con </a:t>
            </a:r>
            <a:r>
              <a:rPr lang="en-US" sz="1250" b="1" dirty="0">
                <a:solidFill>
                  <a:srgbClr val="DE6B12"/>
                </a:solidFill>
                <a:latin typeface="Arial" pitchFamily="34" charset="0"/>
                <a:ea typeface="Arial" pitchFamily="34" charset="-122"/>
                <a:cs typeface="Arial" pitchFamily="34" charset="-120"/>
              </a:rPr>
              <a:t>esquema flexible</a:t>
            </a:r>
            <a:r>
              <a:rPr lang="en-US" sz="1250" dirty="0">
                <a:solidFill>
                  <a:srgbClr val="1A1A1A"/>
                </a:solidFill>
                <a:latin typeface="Arial" pitchFamily="34" charset="0"/>
                <a:ea typeface="Arial" pitchFamily="34" charset="-122"/>
                <a:cs typeface="Arial" pitchFamily="34" charset="-120"/>
              </a:rPr>
              <a:t>: cada registro puede traer campos distintos.</a:t>
            </a:r>
            <a:endParaRPr lang="en-US" sz="1250" dirty="0"/>
          </a:p>
          <a:p>
            <a:pPr marL="0" indent="0">
              <a:lnSpc>
                <a:spcPct val="116000"/>
              </a:lnSpc>
              <a:buNone/>
            </a:pPr>
            <a:r>
              <a:rPr lang="en-US" sz="1250" b="1" dirty="0">
                <a:solidFill>
                  <a:srgbClr val="238C82"/>
                </a:solidFill>
                <a:latin typeface="Arial" pitchFamily="34" charset="0"/>
                <a:ea typeface="Arial" pitchFamily="34" charset="-122"/>
                <a:cs typeface="Arial" pitchFamily="34" charset="-120"/>
              </a:rPr>
              <a:t>MongoDB · CouchDB</a:t>
            </a:r>
            <a:endParaRPr lang="en-US" sz="1250" dirty="0"/>
          </a:p>
        </p:txBody>
      </p:sp>
      <p:sp>
        <p:nvSpPr>
          <p:cNvPr id="13" name="Shape 11"/>
          <p:cNvSpPr/>
          <p:nvPr/>
        </p:nvSpPr>
        <p:spPr>
          <a:xfrm>
            <a:off x="777240" y="3429000"/>
            <a:ext cx="5239512" cy="1783080"/>
          </a:xfrm>
          <a:prstGeom prst="rect">
            <a:avLst/>
          </a:prstGeom>
          <a:solidFill>
            <a:srgbClr val="EDEDED"/>
          </a:solidFill>
          <a:ln/>
        </p:spPr>
      </p:sp>
      <p:sp>
        <p:nvSpPr>
          <p:cNvPr id="14" name="Shape 12"/>
          <p:cNvSpPr/>
          <p:nvPr/>
        </p:nvSpPr>
        <p:spPr>
          <a:xfrm>
            <a:off x="777240" y="3429000"/>
            <a:ext cx="68580" cy="1783080"/>
          </a:xfrm>
          <a:prstGeom prst="rect">
            <a:avLst/>
          </a:prstGeom>
          <a:solidFill>
            <a:srgbClr val="4BABA0"/>
          </a:solidFill>
          <a:ln/>
        </p:spPr>
      </p:sp>
      <p:sp>
        <p:nvSpPr>
          <p:cNvPr id="15" name="Text 13"/>
          <p:cNvSpPr txBox="1"/>
          <p:nvPr/>
        </p:nvSpPr>
        <p:spPr>
          <a:xfrm>
            <a:off x="996696" y="3566160"/>
            <a:ext cx="485546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Familia de columnas</a:t>
            </a:r>
            <a:endParaRPr lang="en-US" sz="1500" dirty="0"/>
          </a:p>
        </p:txBody>
      </p:sp>
      <p:sp>
        <p:nvSpPr>
          <p:cNvPr id="16" name="Text 14"/>
          <p:cNvSpPr txBox="1"/>
          <p:nvPr/>
        </p:nvSpPr>
        <p:spPr>
          <a:xfrm>
            <a:off x="996696" y="3913632"/>
            <a:ext cx="4855464" cy="1188720"/>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Filas por clave con columnas agrupadas. Escrituras masivas y consultas por clave y rango.</a:t>
            </a:r>
            <a:endParaRPr lang="en-US" sz="1250" dirty="0"/>
          </a:p>
          <a:p>
            <a:pPr marL="0" indent="0">
              <a:lnSpc>
                <a:spcPct val="116000"/>
              </a:lnSpc>
              <a:buNone/>
            </a:pPr>
            <a:r>
              <a:rPr lang="en-US" sz="1250" b="1" dirty="0">
                <a:solidFill>
                  <a:srgbClr val="238C82"/>
                </a:solidFill>
                <a:latin typeface="Arial" pitchFamily="34" charset="0"/>
                <a:ea typeface="Arial" pitchFamily="34" charset="-122"/>
                <a:cs typeface="Arial" pitchFamily="34" charset="-120"/>
              </a:rPr>
              <a:t>Cassandra · HBase</a:t>
            </a:r>
            <a:endParaRPr lang="en-US" sz="1250" dirty="0"/>
          </a:p>
        </p:txBody>
      </p:sp>
      <p:sp>
        <p:nvSpPr>
          <p:cNvPr id="17" name="Shape 15"/>
          <p:cNvSpPr/>
          <p:nvPr/>
        </p:nvSpPr>
        <p:spPr>
          <a:xfrm>
            <a:off x="6172200" y="3429000"/>
            <a:ext cx="5239512" cy="1783080"/>
          </a:xfrm>
          <a:prstGeom prst="rect">
            <a:avLst/>
          </a:prstGeom>
          <a:solidFill>
            <a:srgbClr val="EDEDED"/>
          </a:solidFill>
          <a:ln/>
        </p:spPr>
      </p:sp>
      <p:sp>
        <p:nvSpPr>
          <p:cNvPr id="18" name="Shape 16"/>
          <p:cNvSpPr/>
          <p:nvPr/>
        </p:nvSpPr>
        <p:spPr>
          <a:xfrm>
            <a:off x="6172200" y="3429000"/>
            <a:ext cx="68580" cy="1783080"/>
          </a:xfrm>
          <a:prstGeom prst="rect">
            <a:avLst/>
          </a:prstGeom>
          <a:solidFill>
            <a:srgbClr val="4BABA0"/>
          </a:solidFill>
          <a:ln/>
        </p:spPr>
      </p:sp>
      <p:sp>
        <p:nvSpPr>
          <p:cNvPr id="19" name="Text 17"/>
          <p:cNvSpPr txBox="1"/>
          <p:nvPr/>
        </p:nvSpPr>
        <p:spPr>
          <a:xfrm>
            <a:off x="6391656" y="3566160"/>
            <a:ext cx="485546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Grafos</a:t>
            </a:r>
            <a:endParaRPr lang="en-US" sz="1500" dirty="0"/>
          </a:p>
        </p:txBody>
      </p:sp>
      <p:sp>
        <p:nvSpPr>
          <p:cNvPr id="20" name="Text 18"/>
          <p:cNvSpPr txBox="1"/>
          <p:nvPr/>
        </p:nvSpPr>
        <p:spPr>
          <a:xfrm>
            <a:off x="6391656" y="3913632"/>
            <a:ext cx="4855464" cy="1188720"/>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Nodos y relaciones. Recorre conexiones de varios saltos sin joins recursivos.</a:t>
            </a:r>
            <a:endParaRPr lang="en-US" sz="1250" dirty="0"/>
          </a:p>
          <a:p>
            <a:pPr marL="0" indent="0">
              <a:lnSpc>
                <a:spcPct val="116000"/>
              </a:lnSpc>
              <a:buNone/>
            </a:pPr>
            <a:r>
              <a:rPr lang="en-US" sz="1250" b="1" dirty="0">
                <a:solidFill>
                  <a:srgbClr val="238C82"/>
                </a:solidFill>
                <a:latin typeface="Arial" pitchFamily="34" charset="0"/>
                <a:ea typeface="Arial" pitchFamily="34" charset="-122"/>
                <a:cs typeface="Arial" pitchFamily="34" charset="-120"/>
              </a:rPr>
              <a:t>Neo4j</a:t>
            </a:r>
            <a:endParaRPr lang="en-US" sz="1250" dirty="0"/>
          </a:p>
        </p:txBody>
      </p:sp>
      <p:sp>
        <p:nvSpPr>
          <p:cNvPr id="21" name="Shape 19"/>
          <p:cNvSpPr/>
          <p:nvPr/>
        </p:nvSpPr>
        <p:spPr>
          <a:xfrm>
            <a:off x="777240" y="5742432"/>
            <a:ext cx="10634472" cy="621792"/>
          </a:xfrm>
          <a:prstGeom prst="rect">
            <a:avLst/>
          </a:prstGeom>
          <a:solidFill>
            <a:srgbClr val="EDEDED"/>
          </a:solidFill>
          <a:ln/>
        </p:spPr>
      </p:sp>
      <p:sp>
        <p:nvSpPr>
          <p:cNvPr id="22" name="Text 20"/>
          <p:cNvSpPr txBox="1"/>
          <p:nvPr/>
        </p:nvSpPr>
        <p:spPr>
          <a:xfrm>
            <a:off x="978408" y="5815584"/>
            <a:ext cx="10232136" cy="475488"/>
          </a:xfrm>
          <a:prstGeom prst="rect">
            <a:avLst/>
          </a:prstGeom>
          <a:noFill/>
          <a:ln/>
        </p:spPr>
        <p:txBody>
          <a:bodyPr wrap="square" lIns="0" tIns="0" rIns="0" bIns="0" rtlCol="0" anchor="ctr"/>
          <a:lstStyle/>
          <a:p>
            <a:pPr marL="0" indent="0">
              <a:buNone/>
            </a:pPr>
            <a:r>
              <a:rPr lang="en-US" sz="1350" b="1" dirty="0">
                <a:solidFill>
                  <a:srgbClr val="1A1A1A"/>
                </a:solidFill>
                <a:latin typeface="Arial" pitchFamily="34" charset="0"/>
                <a:ea typeface="Arial" pitchFamily="34" charset="-122"/>
                <a:cs typeface="Arial" pitchFamily="34" charset="-120"/>
              </a:rPr>
              <a:t>NoSQL cambia </a:t>
            </a:r>
            <a:r>
              <a:rPr lang="en-US" sz="1350" b="1" dirty="0">
                <a:solidFill>
                  <a:srgbClr val="DE6B12"/>
                </a:solidFill>
                <a:latin typeface="Arial" pitchFamily="34" charset="0"/>
                <a:ea typeface="Arial" pitchFamily="34" charset="-122"/>
                <a:cs typeface="Arial" pitchFamily="34" charset="-120"/>
              </a:rPr>
              <a:t>ACID</a:t>
            </a:r>
            <a:r>
              <a:rPr lang="en-US" sz="1350" b="1" dirty="0">
                <a:solidFill>
                  <a:srgbClr val="1A1A1A"/>
                </a:solidFill>
                <a:latin typeface="Arial" pitchFamily="34" charset="0"/>
                <a:ea typeface="Arial" pitchFamily="34" charset="-122"/>
                <a:cs typeface="Arial" pitchFamily="34" charset="-120"/>
              </a:rPr>
              <a:t> por </a:t>
            </a:r>
            <a:r>
              <a:rPr lang="en-US" sz="1350" b="1" dirty="0">
                <a:solidFill>
                  <a:srgbClr val="DE6B12"/>
                </a:solidFill>
                <a:latin typeface="Arial" pitchFamily="34" charset="0"/>
                <a:ea typeface="Arial" pitchFamily="34" charset="-122"/>
                <a:cs typeface="Arial" pitchFamily="34" charset="-120"/>
              </a:rPr>
              <a:t>BASE</a:t>
            </a:r>
            <a:r>
              <a:rPr lang="en-US" sz="1350" b="1" dirty="0">
                <a:solidFill>
                  <a:srgbClr val="1A1A1A"/>
                </a:solidFill>
                <a:latin typeface="Arial" pitchFamily="34" charset="0"/>
                <a:ea typeface="Arial" pitchFamily="34" charset="-122"/>
                <a:cs typeface="Arial" pitchFamily="34" charset="-120"/>
              </a:rPr>
              <a:t>: básicamente disponible, estado flexible, consistencia eventual. A cambio, escala horizontal.</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0">
    <p:bg>
      <p:bgPr>
        <a:solidFill>
          <a:srgbClr val="83C8BD"/>
        </a:solidFill>
        <a:effectLst/>
      </p:bgPr>
    </p:bg>
    <p:spTree>
      <p:nvGrpSpPr>
        <p:cNvPr id="1" name=""/>
        <p:cNvGrpSpPr/>
        <p:nvPr/>
      </p:nvGrpSpPr>
      <p:grpSpPr>
        <a:xfrm>
          <a:off x="0" y="0"/>
          <a:ext cx="0" cy="0"/>
          <a:chOff x="0" y="0"/>
          <a:chExt cx="0" cy="0"/>
        </a:xfrm>
      </p:grpSpPr>
      <p:sp>
        <p:nvSpPr>
          <p:cNvPr id="2" name="Shape 0"/>
          <p:cNvSpPr/>
          <p:nvPr/>
        </p:nvSpPr>
        <p:spPr>
          <a:xfrm>
            <a:off x="292608" y="201168"/>
            <a:ext cx="11603736" cy="6455664"/>
          </a:xfrm>
          <a:prstGeom prst="roundRect">
            <a:avLst>
              <a:gd name="adj" fmla="val 779"/>
            </a:avLst>
          </a:prstGeom>
          <a:solidFill>
            <a:srgbClr val="FFFFFF"/>
          </a:solidFill>
          <a:ln w="50800">
            <a:solidFill>
              <a:srgbClr val="5A99D1"/>
            </a:solidFill>
            <a:prstDash val="solid"/>
          </a:ln>
        </p:spPr>
      </p:sp>
      <p:sp>
        <p:nvSpPr>
          <p:cNvPr id="3" name="Text 1"/>
          <p:cNvSpPr txBox="1"/>
          <p:nvPr/>
        </p:nvSpPr>
        <p:spPr>
          <a:xfrm>
            <a:off x="777240" y="420624"/>
            <a:ext cx="10634472" cy="502920"/>
          </a:xfrm>
          <a:prstGeom prst="rect">
            <a:avLst/>
          </a:prstGeom>
          <a:noFill/>
          <a:ln/>
        </p:spPr>
        <p:txBody>
          <a:bodyPr wrap="square" lIns="0" tIns="0" rIns="0" bIns="0" rtlCol="0" anchor="t"/>
          <a:lstStyle/>
          <a:p>
            <a:pPr marL="0" indent="0">
              <a:buNone/>
            </a:pPr>
            <a:r>
              <a:rPr lang="en-US" sz="3000" b="1" dirty="0">
                <a:solidFill>
                  <a:srgbClr val="DE6B12"/>
                </a:solidFill>
                <a:latin typeface="Arial" pitchFamily="34" charset="0"/>
                <a:ea typeface="Arial" pitchFamily="34" charset="-122"/>
                <a:cs typeface="Arial" pitchFamily="34" charset="-120"/>
              </a:rPr>
              <a:t>Ejercicio NoSQL </a:t>
            </a:r>
            <a:r>
              <a:rPr lang="en-US" sz="3000" b="1" dirty="0">
                <a:solidFill>
                  <a:srgbClr val="355D64"/>
                </a:solidFill>
                <a:latin typeface="Arial" pitchFamily="34" charset="0"/>
                <a:ea typeface="Arial" pitchFamily="34" charset="-122"/>
                <a:cs typeface="Arial" pitchFamily="34" charset="-120"/>
              </a:rPr>
              <a:t>· 4 casos</a:t>
            </a:r>
            <a:endParaRPr lang="en-US" sz="3000" dirty="0"/>
          </a:p>
        </p:txBody>
      </p:sp>
      <p:sp>
        <p:nvSpPr>
          <p:cNvPr id="4" name="Text 2"/>
          <p:cNvSpPr txBox="1"/>
          <p:nvPr/>
        </p:nvSpPr>
        <p:spPr>
          <a:xfrm>
            <a:off x="777240" y="941832"/>
            <a:ext cx="10634472" cy="274320"/>
          </a:xfrm>
          <a:prstGeom prst="rect">
            <a:avLst/>
          </a:prstGeom>
          <a:noFill/>
          <a:ln/>
        </p:spPr>
        <p:txBody>
          <a:bodyPr wrap="square" lIns="0" tIns="0" rIns="0" bIns="0" rtlCol="0" anchor="t"/>
          <a:lstStyle/>
          <a:p>
            <a:pPr marL="0" indent="0">
              <a:buNone/>
            </a:pPr>
            <a:r>
              <a:rPr lang="en-US" sz="1200" b="1" dirty="0">
                <a:solidFill>
                  <a:srgbClr val="355D64"/>
                </a:solidFill>
                <a:latin typeface="Arial" pitchFamily="34" charset="0"/>
                <a:ea typeface="Arial" pitchFamily="34" charset="-122"/>
                <a:cs typeface="Arial" pitchFamily="34" charset="-120"/>
              </a:rPr>
              <a:t>Elija:  A) Key-Value   B) Documental   C) Familia de columnas   D) Grafos</a:t>
            </a:r>
            <a:endParaRPr lang="en-US" sz="1200" dirty="0"/>
          </a:p>
        </p:txBody>
      </p:sp>
      <p:sp>
        <p:nvSpPr>
          <p:cNvPr id="5" name="Shape 3"/>
          <p:cNvSpPr/>
          <p:nvPr/>
        </p:nvSpPr>
        <p:spPr>
          <a:xfrm>
            <a:off x="777240" y="1463040"/>
            <a:ext cx="5239512" cy="1691640"/>
          </a:xfrm>
          <a:prstGeom prst="rect">
            <a:avLst/>
          </a:prstGeom>
          <a:solidFill>
            <a:srgbClr val="EDEDED"/>
          </a:solidFill>
          <a:ln/>
        </p:spPr>
      </p:sp>
      <p:sp>
        <p:nvSpPr>
          <p:cNvPr id="6" name="Shape 4"/>
          <p:cNvSpPr/>
          <p:nvPr/>
        </p:nvSpPr>
        <p:spPr>
          <a:xfrm>
            <a:off x="777240" y="1463040"/>
            <a:ext cx="68580" cy="1691640"/>
          </a:xfrm>
          <a:prstGeom prst="rect">
            <a:avLst/>
          </a:prstGeom>
          <a:solidFill>
            <a:srgbClr val="4BABA0"/>
          </a:solidFill>
          <a:ln/>
        </p:spPr>
      </p:sp>
      <p:sp>
        <p:nvSpPr>
          <p:cNvPr id="7" name="Text 5"/>
          <p:cNvSpPr txBox="1"/>
          <p:nvPr/>
        </p:nvSpPr>
        <p:spPr>
          <a:xfrm>
            <a:off x="996696" y="1600200"/>
            <a:ext cx="485546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Caso 1</a:t>
            </a:r>
            <a:endParaRPr lang="en-US" sz="1500" dirty="0"/>
          </a:p>
        </p:txBody>
      </p:sp>
      <p:sp>
        <p:nvSpPr>
          <p:cNvPr id="8" name="Text 6"/>
          <p:cNvSpPr txBox="1"/>
          <p:nvPr/>
        </p:nvSpPr>
        <p:spPr>
          <a:xfrm>
            <a:off x="996696" y="1947672"/>
            <a:ext cx="4855464" cy="1097280"/>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Fichas clínicas: cada especialidad registra campos distintos, y cada año se agregan especialidades nuevas.</a:t>
            </a:r>
            <a:endParaRPr lang="en-US" sz="1250" dirty="0"/>
          </a:p>
        </p:txBody>
      </p:sp>
      <p:sp>
        <p:nvSpPr>
          <p:cNvPr id="9" name="Shape 7"/>
          <p:cNvSpPr/>
          <p:nvPr/>
        </p:nvSpPr>
        <p:spPr>
          <a:xfrm>
            <a:off x="6172200" y="1463040"/>
            <a:ext cx="5239512" cy="1691640"/>
          </a:xfrm>
          <a:prstGeom prst="rect">
            <a:avLst/>
          </a:prstGeom>
          <a:solidFill>
            <a:srgbClr val="EDEDED"/>
          </a:solidFill>
          <a:ln/>
        </p:spPr>
      </p:sp>
      <p:sp>
        <p:nvSpPr>
          <p:cNvPr id="10" name="Shape 8"/>
          <p:cNvSpPr/>
          <p:nvPr/>
        </p:nvSpPr>
        <p:spPr>
          <a:xfrm>
            <a:off x="6172200" y="1463040"/>
            <a:ext cx="68580" cy="1691640"/>
          </a:xfrm>
          <a:prstGeom prst="rect">
            <a:avLst/>
          </a:prstGeom>
          <a:solidFill>
            <a:srgbClr val="4BABA0"/>
          </a:solidFill>
          <a:ln/>
        </p:spPr>
      </p:sp>
      <p:sp>
        <p:nvSpPr>
          <p:cNvPr id="11" name="Text 9"/>
          <p:cNvSpPr txBox="1"/>
          <p:nvPr/>
        </p:nvSpPr>
        <p:spPr>
          <a:xfrm>
            <a:off x="6391656" y="1600200"/>
            <a:ext cx="485546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Caso 2</a:t>
            </a:r>
            <a:endParaRPr lang="en-US" sz="1500" dirty="0"/>
          </a:p>
        </p:txBody>
      </p:sp>
      <p:sp>
        <p:nvSpPr>
          <p:cNvPr id="12" name="Text 10"/>
          <p:cNvSpPr txBox="1"/>
          <p:nvPr/>
        </p:nvSpPr>
        <p:spPr>
          <a:xfrm>
            <a:off x="6391656" y="1947672"/>
            <a:ext cx="4855464" cy="1097280"/>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Estado de la partida de 5 millones de jugadores, siempre por id del jugador, leído y escrito en menos de 1 ms.</a:t>
            </a:r>
            <a:endParaRPr lang="en-US" sz="1250" dirty="0"/>
          </a:p>
        </p:txBody>
      </p:sp>
      <p:sp>
        <p:nvSpPr>
          <p:cNvPr id="13" name="Shape 11"/>
          <p:cNvSpPr/>
          <p:nvPr/>
        </p:nvSpPr>
        <p:spPr>
          <a:xfrm>
            <a:off x="777240" y="3429000"/>
            <a:ext cx="5239512" cy="1691640"/>
          </a:xfrm>
          <a:prstGeom prst="rect">
            <a:avLst/>
          </a:prstGeom>
          <a:solidFill>
            <a:srgbClr val="EDEDED"/>
          </a:solidFill>
          <a:ln/>
        </p:spPr>
      </p:sp>
      <p:sp>
        <p:nvSpPr>
          <p:cNvPr id="14" name="Shape 12"/>
          <p:cNvSpPr/>
          <p:nvPr/>
        </p:nvSpPr>
        <p:spPr>
          <a:xfrm>
            <a:off x="777240" y="3429000"/>
            <a:ext cx="68580" cy="1691640"/>
          </a:xfrm>
          <a:prstGeom prst="rect">
            <a:avLst/>
          </a:prstGeom>
          <a:solidFill>
            <a:srgbClr val="4BABA0"/>
          </a:solidFill>
          <a:ln/>
        </p:spPr>
      </p:sp>
      <p:sp>
        <p:nvSpPr>
          <p:cNvPr id="15" name="Text 13"/>
          <p:cNvSpPr txBox="1"/>
          <p:nvPr/>
        </p:nvSpPr>
        <p:spPr>
          <a:xfrm>
            <a:off x="996696" y="3566160"/>
            <a:ext cx="485546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Caso 3</a:t>
            </a:r>
            <a:endParaRPr lang="en-US" sz="1500" dirty="0"/>
          </a:p>
        </p:txBody>
      </p:sp>
      <p:sp>
        <p:nvSpPr>
          <p:cNvPr id="16" name="Text 14"/>
          <p:cNvSpPr txBox="1"/>
          <p:nvPr/>
        </p:nvSpPr>
        <p:spPr>
          <a:xfrm>
            <a:off x="996696" y="3913632"/>
            <a:ext cx="4855464" cy="1097280"/>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Red social profesional que sugiere «personas que quizás conozcas» recorriendo contactos hasta el tercer grado.</a:t>
            </a:r>
            <a:endParaRPr lang="en-US" sz="1250" dirty="0"/>
          </a:p>
        </p:txBody>
      </p:sp>
      <p:sp>
        <p:nvSpPr>
          <p:cNvPr id="17" name="Shape 15"/>
          <p:cNvSpPr/>
          <p:nvPr/>
        </p:nvSpPr>
        <p:spPr>
          <a:xfrm>
            <a:off x="6172200" y="3429000"/>
            <a:ext cx="5239512" cy="1691640"/>
          </a:xfrm>
          <a:prstGeom prst="rect">
            <a:avLst/>
          </a:prstGeom>
          <a:solidFill>
            <a:srgbClr val="EDEDED"/>
          </a:solidFill>
          <a:ln/>
        </p:spPr>
      </p:sp>
      <p:sp>
        <p:nvSpPr>
          <p:cNvPr id="18" name="Shape 16"/>
          <p:cNvSpPr/>
          <p:nvPr/>
        </p:nvSpPr>
        <p:spPr>
          <a:xfrm>
            <a:off x="6172200" y="3429000"/>
            <a:ext cx="68580" cy="1691640"/>
          </a:xfrm>
          <a:prstGeom prst="rect">
            <a:avLst/>
          </a:prstGeom>
          <a:solidFill>
            <a:srgbClr val="4BABA0"/>
          </a:solidFill>
          <a:ln/>
        </p:spPr>
      </p:sp>
      <p:sp>
        <p:nvSpPr>
          <p:cNvPr id="19" name="Text 17"/>
          <p:cNvSpPr txBox="1"/>
          <p:nvPr/>
        </p:nvSpPr>
        <p:spPr>
          <a:xfrm>
            <a:off x="6391656" y="3566160"/>
            <a:ext cx="485546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Caso 4</a:t>
            </a:r>
            <a:endParaRPr lang="en-US" sz="1500" dirty="0"/>
          </a:p>
        </p:txBody>
      </p:sp>
      <p:sp>
        <p:nvSpPr>
          <p:cNvPr id="20" name="Text 18"/>
          <p:cNvSpPr txBox="1"/>
          <p:nvPr/>
        </p:nvSpPr>
        <p:spPr>
          <a:xfrm>
            <a:off x="6391656" y="3913632"/>
            <a:ext cx="4855464" cy="1097280"/>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Sensores IoT que escriben millones de lecturas por segundo (sensor, hora, valor) y se consultan por sensor y rango de tiempo.</a:t>
            </a:r>
            <a:endParaRPr lang="en-US" sz="1250" dirty="0"/>
          </a:p>
        </p:txBody>
      </p:sp>
      <p:sp>
        <p:nvSpPr>
          <p:cNvPr id="21" name="Shape 19"/>
          <p:cNvSpPr/>
          <p:nvPr/>
        </p:nvSpPr>
        <p:spPr>
          <a:xfrm>
            <a:off x="777240" y="5742432"/>
            <a:ext cx="10634472" cy="621792"/>
          </a:xfrm>
          <a:prstGeom prst="rect">
            <a:avLst/>
          </a:prstGeom>
          <a:solidFill>
            <a:srgbClr val="EDEDED"/>
          </a:solidFill>
          <a:ln/>
        </p:spPr>
      </p:sp>
      <p:sp>
        <p:nvSpPr>
          <p:cNvPr id="22" name="Text 20"/>
          <p:cNvSpPr txBox="1"/>
          <p:nvPr/>
        </p:nvSpPr>
        <p:spPr>
          <a:xfrm>
            <a:off x="978408" y="5815584"/>
            <a:ext cx="10232136" cy="475488"/>
          </a:xfrm>
          <a:prstGeom prst="rect">
            <a:avLst/>
          </a:prstGeom>
          <a:noFill/>
          <a:ln/>
        </p:spPr>
        <p:txBody>
          <a:bodyPr wrap="square" lIns="0" tIns="0" rIns="0" bIns="0" rtlCol="0" anchor="ctr"/>
          <a:lstStyle/>
          <a:p>
            <a:pPr marL="0" indent="0">
              <a:buNone/>
            </a:pPr>
            <a:r>
              <a:rPr lang="en-US" sz="1350" b="1" dirty="0">
                <a:solidFill>
                  <a:srgbClr val="1A1A1A"/>
                </a:solidFill>
                <a:latin typeface="Arial" pitchFamily="34" charset="0"/>
                <a:ea typeface="Arial" pitchFamily="34" charset="-122"/>
                <a:cs typeface="Arial" pitchFamily="34" charset="-120"/>
              </a:rPr>
              <a:t>Pista: fíjense en </a:t>
            </a:r>
            <a:r>
              <a:rPr lang="en-US" sz="1350" b="1" dirty="0">
                <a:solidFill>
                  <a:srgbClr val="DE6B12"/>
                </a:solidFill>
                <a:latin typeface="Arial" pitchFamily="34" charset="0"/>
                <a:ea typeface="Arial" pitchFamily="34" charset="-122"/>
                <a:cs typeface="Arial" pitchFamily="34" charset="-120"/>
              </a:rPr>
              <a:t>cómo se consulta</a:t>
            </a:r>
            <a:r>
              <a:rPr lang="en-US" sz="1350" b="1" dirty="0">
                <a:solidFill>
                  <a:srgbClr val="1A1A1A"/>
                </a:solidFill>
                <a:latin typeface="Arial" pitchFamily="34" charset="0"/>
                <a:ea typeface="Arial" pitchFamily="34" charset="-122"/>
                <a:cs typeface="Arial" pitchFamily="34" charset="-120"/>
              </a:rPr>
              <a:t> el dato, no solo en cómo se guarda.</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1">
    <p:bg>
      <p:bgPr>
        <a:solidFill>
          <a:srgbClr val="83C8BD"/>
        </a:solidFill>
        <a:effectLst/>
      </p:bgPr>
    </p:bg>
    <p:spTree>
      <p:nvGrpSpPr>
        <p:cNvPr id="1" name=""/>
        <p:cNvGrpSpPr/>
        <p:nvPr/>
      </p:nvGrpSpPr>
      <p:grpSpPr>
        <a:xfrm>
          <a:off x="0" y="0"/>
          <a:ext cx="0" cy="0"/>
          <a:chOff x="0" y="0"/>
          <a:chExt cx="0" cy="0"/>
        </a:xfrm>
      </p:grpSpPr>
      <p:sp>
        <p:nvSpPr>
          <p:cNvPr id="2" name="Shape 0"/>
          <p:cNvSpPr/>
          <p:nvPr/>
        </p:nvSpPr>
        <p:spPr>
          <a:xfrm>
            <a:off x="292608" y="201168"/>
            <a:ext cx="11603736" cy="6455664"/>
          </a:xfrm>
          <a:prstGeom prst="roundRect">
            <a:avLst>
              <a:gd name="adj" fmla="val 779"/>
            </a:avLst>
          </a:prstGeom>
          <a:solidFill>
            <a:srgbClr val="FFFFFF"/>
          </a:solidFill>
          <a:ln w="50800">
            <a:solidFill>
              <a:srgbClr val="5A99D1"/>
            </a:solidFill>
            <a:prstDash val="solid"/>
          </a:ln>
        </p:spPr>
      </p:sp>
      <p:sp>
        <p:nvSpPr>
          <p:cNvPr id="3" name="Text 1"/>
          <p:cNvSpPr txBox="1"/>
          <p:nvPr/>
        </p:nvSpPr>
        <p:spPr>
          <a:xfrm>
            <a:off x="777240" y="420624"/>
            <a:ext cx="10634472" cy="502920"/>
          </a:xfrm>
          <a:prstGeom prst="rect">
            <a:avLst/>
          </a:prstGeom>
          <a:noFill/>
          <a:ln/>
        </p:spPr>
        <p:txBody>
          <a:bodyPr wrap="square" lIns="0" tIns="0" rIns="0" bIns="0" rtlCol="0" anchor="t"/>
          <a:lstStyle/>
          <a:p>
            <a:pPr marL="0" indent="0">
              <a:buNone/>
            </a:pPr>
            <a:r>
              <a:rPr lang="en-US" sz="3000" b="1" dirty="0">
                <a:solidFill>
                  <a:srgbClr val="DE6B12"/>
                </a:solidFill>
                <a:latin typeface="Arial" pitchFamily="34" charset="0"/>
                <a:ea typeface="Arial" pitchFamily="34" charset="-122"/>
                <a:cs typeface="Arial" pitchFamily="34" charset="-120"/>
              </a:rPr>
              <a:t>NoSQL </a:t>
            </a:r>
            <a:r>
              <a:rPr lang="en-US" sz="3000" b="1" dirty="0">
                <a:solidFill>
                  <a:srgbClr val="355D64"/>
                </a:solidFill>
                <a:latin typeface="Arial" pitchFamily="34" charset="0"/>
                <a:ea typeface="Arial" pitchFamily="34" charset="-122"/>
                <a:cs typeface="Arial" pitchFamily="34" charset="-120"/>
              </a:rPr>
              <a:t>· Respuestas</a:t>
            </a:r>
            <a:endParaRPr lang="en-US" sz="3000" dirty="0"/>
          </a:p>
        </p:txBody>
      </p:sp>
      <p:sp>
        <p:nvSpPr>
          <p:cNvPr id="4" name="Shape 2"/>
          <p:cNvSpPr/>
          <p:nvPr/>
        </p:nvSpPr>
        <p:spPr>
          <a:xfrm>
            <a:off x="777240" y="1371600"/>
            <a:ext cx="5239512" cy="1737360"/>
          </a:xfrm>
          <a:prstGeom prst="roundRect">
            <a:avLst>
              <a:gd name="adj" fmla="val 5263"/>
            </a:avLst>
          </a:prstGeom>
          <a:solidFill>
            <a:srgbClr val="FFFFFF"/>
          </a:solidFill>
          <a:ln w="19050">
            <a:solidFill>
              <a:srgbClr val="DCDCDC"/>
            </a:solidFill>
            <a:prstDash val="solid"/>
          </a:ln>
        </p:spPr>
      </p:sp>
      <p:sp>
        <p:nvSpPr>
          <p:cNvPr id="5" name="Text 3"/>
          <p:cNvSpPr txBox="1"/>
          <p:nvPr/>
        </p:nvSpPr>
        <p:spPr>
          <a:xfrm>
            <a:off x="978408" y="1517904"/>
            <a:ext cx="4873752"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Caso 1 → B) Documental</a:t>
            </a:r>
            <a:endParaRPr lang="en-US" sz="1500" dirty="0"/>
          </a:p>
        </p:txBody>
      </p:sp>
      <p:sp>
        <p:nvSpPr>
          <p:cNvPr id="6" name="Text 4"/>
          <p:cNvSpPr txBox="1"/>
          <p:nvPr/>
        </p:nvSpPr>
        <p:spPr>
          <a:xfrm>
            <a:off x="978408" y="1865376"/>
            <a:ext cx="4873752" cy="1133856"/>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Esquema flexible: cada ficha trae sus propios campos sin rediseñar tablas.</a:t>
            </a:r>
            <a:endParaRPr lang="en-US" sz="1250" dirty="0"/>
          </a:p>
        </p:txBody>
      </p:sp>
      <p:sp>
        <p:nvSpPr>
          <p:cNvPr id="7" name="Shape 5"/>
          <p:cNvSpPr/>
          <p:nvPr/>
        </p:nvSpPr>
        <p:spPr>
          <a:xfrm>
            <a:off x="6172200" y="1371600"/>
            <a:ext cx="5239512" cy="1737360"/>
          </a:xfrm>
          <a:prstGeom prst="roundRect">
            <a:avLst>
              <a:gd name="adj" fmla="val 5263"/>
            </a:avLst>
          </a:prstGeom>
          <a:solidFill>
            <a:srgbClr val="FFFFFF"/>
          </a:solidFill>
          <a:ln w="19050">
            <a:solidFill>
              <a:srgbClr val="DCDCDC"/>
            </a:solidFill>
            <a:prstDash val="solid"/>
          </a:ln>
        </p:spPr>
      </p:sp>
      <p:sp>
        <p:nvSpPr>
          <p:cNvPr id="8" name="Text 6"/>
          <p:cNvSpPr txBox="1"/>
          <p:nvPr/>
        </p:nvSpPr>
        <p:spPr>
          <a:xfrm>
            <a:off x="6373368" y="1517904"/>
            <a:ext cx="4873752"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Caso 2 → A) Key-Value</a:t>
            </a:r>
            <a:endParaRPr lang="en-US" sz="1500" dirty="0"/>
          </a:p>
        </p:txBody>
      </p:sp>
      <p:sp>
        <p:nvSpPr>
          <p:cNvPr id="9" name="Text 7"/>
          <p:cNvSpPr txBox="1"/>
          <p:nvPr/>
        </p:nvSpPr>
        <p:spPr>
          <a:xfrm>
            <a:off x="6373368" y="1865376"/>
            <a:ext cx="4873752" cy="1133856"/>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Siempre se accede por la clave. Latencia mínima, sin motor de consultas de por medio.</a:t>
            </a:r>
            <a:endParaRPr lang="en-US" sz="1250" dirty="0"/>
          </a:p>
        </p:txBody>
      </p:sp>
      <p:sp>
        <p:nvSpPr>
          <p:cNvPr id="10" name="Shape 8"/>
          <p:cNvSpPr/>
          <p:nvPr/>
        </p:nvSpPr>
        <p:spPr>
          <a:xfrm>
            <a:off x="777240" y="3383280"/>
            <a:ext cx="5239512" cy="1737360"/>
          </a:xfrm>
          <a:prstGeom prst="roundRect">
            <a:avLst>
              <a:gd name="adj" fmla="val 5263"/>
            </a:avLst>
          </a:prstGeom>
          <a:solidFill>
            <a:srgbClr val="FFFFFF"/>
          </a:solidFill>
          <a:ln w="19050">
            <a:solidFill>
              <a:srgbClr val="DCDCDC"/>
            </a:solidFill>
            <a:prstDash val="solid"/>
          </a:ln>
        </p:spPr>
      </p:sp>
      <p:sp>
        <p:nvSpPr>
          <p:cNvPr id="11" name="Text 9"/>
          <p:cNvSpPr txBox="1"/>
          <p:nvPr/>
        </p:nvSpPr>
        <p:spPr>
          <a:xfrm>
            <a:off x="978408" y="3529584"/>
            <a:ext cx="4873752"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Caso 3 → D) Grafos</a:t>
            </a:r>
            <a:endParaRPr lang="en-US" sz="1500" dirty="0"/>
          </a:p>
        </p:txBody>
      </p:sp>
      <p:sp>
        <p:nvSpPr>
          <p:cNvPr id="12" name="Text 10"/>
          <p:cNvSpPr txBox="1"/>
          <p:nvPr/>
        </p:nvSpPr>
        <p:spPr>
          <a:xfrm>
            <a:off x="978408" y="3877056"/>
            <a:ext cx="4873752" cy="1133856"/>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Recorrer relaciones de varios saltos es su operación nativa. En relacional serían joins recursivos.</a:t>
            </a:r>
            <a:endParaRPr lang="en-US" sz="1250" dirty="0"/>
          </a:p>
        </p:txBody>
      </p:sp>
      <p:sp>
        <p:nvSpPr>
          <p:cNvPr id="13" name="Shape 11"/>
          <p:cNvSpPr/>
          <p:nvPr/>
        </p:nvSpPr>
        <p:spPr>
          <a:xfrm>
            <a:off x="6172200" y="3383280"/>
            <a:ext cx="5239512" cy="1737360"/>
          </a:xfrm>
          <a:prstGeom prst="roundRect">
            <a:avLst>
              <a:gd name="adj" fmla="val 5263"/>
            </a:avLst>
          </a:prstGeom>
          <a:solidFill>
            <a:srgbClr val="FFFFFF"/>
          </a:solidFill>
          <a:ln w="19050">
            <a:solidFill>
              <a:srgbClr val="DCDCDC"/>
            </a:solidFill>
            <a:prstDash val="solid"/>
          </a:ln>
        </p:spPr>
      </p:sp>
      <p:sp>
        <p:nvSpPr>
          <p:cNvPr id="14" name="Text 12"/>
          <p:cNvSpPr txBox="1"/>
          <p:nvPr/>
        </p:nvSpPr>
        <p:spPr>
          <a:xfrm>
            <a:off x="6373368" y="3529584"/>
            <a:ext cx="4873752"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Caso 4 → C) Familia de columnas</a:t>
            </a:r>
            <a:endParaRPr lang="en-US" sz="1500" dirty="0"/>
          </a:p>
        </p:txBody>
      </p:sp>
      <p:sp>
        <p:nvSpPr>
          <p:cNvPr id="15" name="Text 13"/>
          <p:cNvSpPr txBox="1"/>
          <p:nvPr/>
        </p:nvSpPr>
        <p:spPr>
          <a:xfrm>
            <a:off x="6373368" y="3877056"/>
            <a:ext cx="4873752" cy="1133856"/>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Escrituras masivas y consultas por clave y rango de tiempo: el caso típico de Cassandra.</a:t>
            </a:r>
            <a:endParaRPr lang="en-US" sz="1250" dirty="0"/>
          </a:p>
        </p:txBody>
      </p:sp>
      <p:sp>
        <p:nvSpPr>
          <p:cNvPr id="16" name="Shape 14"/>
          <p:cNvSpPr/>
          <p:nvPr/>
        </p:nvSpPr>
        <p:spPr>
          <a:xfrm>
            <a:off x="777240" y="5742432"/>
            <a:ext cx="10634472" cy="621792"/>
          </a:xfrm>
          <a:prstGeom prst="rect">
            <a:avLst/>
          </a:prstGeom>
          <a:solidFill>
            <a:srgbClr val="4BABA0"/>
          </a:solidFill>
          <a:ln/>
        </p:spPr>
      </p:sp>
      <p:sp>
        <p:nvSpPr>
          <p:cNvPr id="17" name="Text 15"/>
          <p:cNvSpPr txBox="1"/>
          <p:nvPr/>
        </p:nvSpPr>
        <p:spPr>
          <a:xfrm>
            <a:off x="978408" y="5815584"/>
            <a:ext cx="10232136" cy="475488"/>
          </a:xfrm>
          <a:prstGeom prst="rect">
            <a:avLst/>
          </a:prstGeom>
          <a:noFill/>
          <a:ln/>
        </p:spPr>
        <p:txBody>
          <a:bodyPr wrap="square" lIns="0" tIns="0" rIns="0" bIns="0" rtlCol="0" anchor="ctr"/>
          <a:lstStyle/>
          <a:p>
            <a:pPr marL="0" indent="0">
              <a:buNone/>
            </a:pPr>
            <a:r>
              <a:rPr lang="en-US" sz="1350" b="1" dirty="0">
                <a:solidFill>
                  <a:srgbClr val="FFFFFF"/>
                </a:solidFill>
                <a:latin typeface="Arial"/>
                <a:ea typeface="Arial" pitchFamily="34" charset="-122"/>
                <a:cs typeface="Arial"/>
              </a:rPr>
              <a:t>El error </a:t>
            </a:r>
            <a:r>
              <a:rPr lang="en-US" sz="1350" b="1" dirty="0" err="1">
                <a:solidFill>
                  <a:srgbClr val="FFFFFF"/>
                </a:solidFill>
                <a:latin typeface="Arial"/>
                <a:ea typeface="Arial" pitchFamily="34" charset="-122"/>
                <a:cs typeface="Arial"/>
              </a:rPr>
              <a:t>típico</a:t>
            </a:r>
            <a:r>
              <a:rPr lang="en-US" sz="1350" b="1" dirty="0">
                <a:solidFill>
                  <a:srgbClr val="FFFFFF"/>
                </a:solidFill>
                <a:latin typeface="Arial"/>
                <a:ea typeface="Arial" pitchFamily="34" charset="-122"/>
                <a:cs typeface="Arial"/>
              </a:rPr>
              <a:t> es </a:t>
            </a:r>
            <a:r>
              <a:rPr lang="en-US" sz="1350" b="1" dirty="0" err="1">
                <a:solidFill>
                  <a:srgbClr val="FFFFFF"/>
                </a:solidFill>
                <a:latin typeface="Arial"/>
                <a:ea typeface="Arial" pitchFamily="34" charset="-122"/>
                <a:cs typeface="Arial"/>
              </a:rPr>
              <a:t>elegir</a:t>
            </a:r>
            <a:r>
              <a:rPr lang="en-US" sz="1350" b="1" dirty="0">
                <a:solidFill>
                  <a:srgbClr val="FFFFFF"/>
                </a:solidFill>
                <a:latin typeface="Arial"/>
                <a:ea typeface="Arial" pitchFamily="34" charset="-122"/>
                <a:cs typeface="Arial"/>
              </a:rPr>
              <a:t> </a:t>
            </a:r>
            <a:r>
              <a:rPr lang="en-US" sz="1350" b="1" dirty="0" err="1">
                <a:solidFill>
                  <a:srgbClr val="FFFFFF"/>
                </a:solidFill>
                <a:latin typeface="Arial"/>
                <a:ea typeface="Arial" pitchFamily="34" charset="-122"/>
                <a:cs typeface="Arial"/>
              </a:rPr>
              <a:t>relacional</a:t>
            </a:r>
            <a:r>
              <a:rPr lang="en-US" sz="1350" b="1" dirty="0">
                <a:solidFill>
                  <a:srgbClr val="FFFFFF"/>
                </a:solidFill>
                <a:latin typeface="Arial"/>
                <a:ea typeface="Arial" pitchFamily="34" charset="-122"/>
                <a:cs typeface="Arial"/>
              </a:rPr>
              <a:t> </a:t>
            </a:r>
            <a:r>
              <a:rPr lang="en-US" sz="1350" b="1" dirty="0" err="1">
                <a:solidFill>
                  <a:srgbClr val="FFFFFF"/>
                </a:solidFill>
                <a:latin typeface="Arial"/>
                <a:ea typeface="Arial" pitchFamily="34" charset="-122"/>
                <a:cs typeface="Arial"/>
              </a:rPr>
              <a:t>por</a:t>
            </a:r>
            <a:r>
              <a:rPr lang="en-US" sz="1350" b="1" dirty="0">
                <a:solidFill>
                  <a:srgbClr val="FFFFFF"/>
                </a:solidFill>
                <a:latin typeface="Arial"/>
                <a:ea typeface="Arial" pitchFamily="34" charset="-122"/>
                <a:cs typeface="Arial"/>
              </a:rPr>
              <a:t> </a:t>
            </a:r>
            <a:r>
              <a:rPr lang="en-US" sz="1350" b="1" dirty="0" err="1">
                <a:solidFill>
                  <a:srgbClr val="FFFFFF"/>
                </a:solidFill>
                <a:latin typeface="Arial"/>
                <a:ea typeface="Arial" pitchFamily="34" charset="-122"/>
                <a:cs typeface="Arial"/>
              </a:rPr>
              <a:t>costumbre</a:t>
            </a:r>
            <a:r>
              <a:rPr lang="en-US" sz="1350" b="1" dirty="0">
                <a:solidFill>
                  <a:srgbClr val="FFFFFF"/>
                </a:solidFill>
                <a:latin typeface="Arial"/>
                <a:ea typeface="Arial" pitchFamily="34" charset="-122"/>
                <a:cs typeface="Arial"/>
              </a:rPr>
              <a:t>. </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2">
    <p:bg>
      <p:bgPr>
        <a:solidFill>
          <a:srgbClr val="83C8BD"/>
        </a:solidFill>
        <a:effectLst/>
      </p:bgPr>
    </p:bg>
    <p:spTree>
      <p:nvGrpSpPr>
        <p:cNvPr id="1" name=""/>
        <p:cNvGrpSpPr/>
        <p:nvPr/>
      </p:nvGrpSpPr>
      <p:grpSpPr>
        <a:xfrm>
          <a:off x="0" y="0"/>
          <a:ext cx="0" cy="0"/>
          <a:chOff x="0" y="0"/>
          <a:chExt cx="0" cy="0"/>
        </a:xfrm>
      </p:grpSpPr>
      <p:sp>
        <p:nvSpPr>
          <p:cNvPr id="2" name="Shape 0"/>
          <p:cNvSpPr/>
          <p:nvPr/>
        </p:nvSpPr>
        <p:spPr>
          <a:xfrm>
            <a:off x="292608" y="201168"/>
            <a:ext cx="11603736" cy="6455664"/>
          </a:xfrm>
          <a:prstGeom prst="roundRect">
            <a:avLst>
              <a:gd name="adj" fmla="val 779"/>
            </a:avLst>
          </a:prstGeom>
          <a:solidFill>
            <a:srgbClr val="FFFFFF"/>
          </a:solidFill>
          <a:ln w="50800">
            <a:solidFill>
              <a:srgbClr val="5A99D1"/>
            </a:solidFill>
            <a:prstDash val="solid"/>
          </a:ln>
        </p:spPr>
      </p:sp>
      <p:sp>
        <p:nvSpPr>
          <p:cNvPr id="3" name="Text 1"/>
          <p:cNvSpPr txBox="1"/>
          <p:nvPr/>
        </p:nvSpPr>
        <p:spPr>
          <a:xfrm>
            <a:off x="777240" y="420624"/>
            <a:ext cx="10634472" cy="502920"/>
          </a:xfrm>
          <a:prstGeom prst="rect">
            <a:avLst/>
          </a:prstGeom>
          <a:noFill/>
          <a:ln/>
        </p:spPr>
        <p:txBody>
          <a:bodyPr wrap="square" lIns="0" tIns="0" rIns="0" bIns="0" rtlCol="0" anchor="t"/>
          <a:lstStyle/>
          <a:p>
            <a:pPr marL="0" indent="0">
              <a:buNone/>
            </a:pPr>
            <a:r>
              <a:rPr lang="en-US" sz="3000" b="1" dirty="0">
                <a:solidFill>
                  <a:srgbClr val="DE6B12"/>
                </a:solidFill>
                <a:latin typeface="Arial" pitchFamily="34" charset="0"/>
                <a:ea typeface="Arial" pitchFamily="34" charset="-122"/>
                <a:cs typeface="Arial" pitchFamily="34" charset="-120"/>
              </a:rPr>
              <a:t>NewSQL </a:t>
            </a:r>
            <a:r>
              <a:rPr lang="en-US" sz="3000" b="1" dirty="0">
                <a:solidFill>
                  <a:srgbClr val="355D64"/>
                </a:solidFill>
                <a:latin typeface="Arial" pitchFamily="34" charset="0"/>
                <a:ea typeface="Arial" pitchFamily="34" charset="-122"/>
                <a:cs typeface="Arial" pitchFamily="34" charset="-120"/>
              </a:rPr>
              <a:t>· ¿Qué es?</a:t>
            </a:r>
            <a:endParaRPr lang="en-US" sz="3000" dirty="0"/>
          </a:p>
        </p:txBody>
      </p:sp>
      <p:sp>
        <p:nvSpPr>
          <p:cNvPr id="4" name="Text 2"/>
          <p:cNvSpPr txBox="1"/>
          <p:nvPr/>
        </p:nvSpPr>
        <p:spPr>
          <a:xfrm>
            <a:off x="777240" y="941832"/>
            <a:ext cx="10634472" cy="274320"/>
          </a:xfrm>
          <a:prstGeom prst="rect">
            <a:avLst/>
          </a:prstGeom>
          <a:noFill/>
          <a:ln/>
        </p:spPr>
        <p:txBody>
          <a:bodyPr wrap="square" lIns="0" tIns="0" rIns="0" bIns="0" rtlCol="0" anchor="t"/>
          <a:lstStyle/>
          <a:p>
            <a:pPr marL="0" indent="0">
              <a:buNone/>
            </a:pPr>
            <a:r>
              <a:rPr lang="en-US" sz="1200" b="1" dirty="0">
                <a:solidFill>
                  <a:srgbClr val="355D64"/>
                </a:solidFill>
                <a:latin typeface="Arial" pitchFamily="34" charset="0"/>
                <a:ea typeface="Arial" pitchFamily="34" charset="-122"/>
                <a:cs typeface="Arial" pitchFamily="34" charset="-120"/>
              </a:rPr>
              <a:t>Lo mejor de los dos mundos</a:t>
            </a:r>
            <a:endParaRPr lang="en-US" sz="1200" dirty="0"/>
          </a:p>
        </p:txBody>
      </p:sp>
      <p:sp>
        <p:nvSpPr>
          <p:cNvPr id="5" name="Shape 3"/>
          <p:cNvSpPr/>
          <p:nvPr/>
        </p:nvSpPr>
        <p:spPr>
          <a:xfrm>
            <a:off x="777240" y="1371600"/>
            <a:ext cx="10634472" cy="559308"/>
          </a:xfrm>
          <a:prstGeom prst="rect">
            <a:avLst/>
          </a:prstGeom>
          <a:solidFill>
            <a:srgbClr val="EDEDED"/>
          </a:solidFill>
          <a:ln/>
        </p:spPr>
      </p:sp>
      <p:sp>
        <p:nvSpPr>
          <p:cNvPr id="6" name="Shape 4"/>
          <p:cNvSpPr/>
          <p:nvPr/>
        </p:nvSpPr>
        <p:spPr>
          <a:xfrm>
            <a:off x="777240" y="1371600"/>
            <a:ext cx="68580" cy="559308"/>
          </a:xfrm>
          <a:prstGeom prst="rect">
            <a:avLst/>
          </a:prstGeom>
          <a:solidFill>
            <a:srgbClr val="4BABA0"/>
          </a:solidFill>
          <a:ln/>
        </p:spPr>
      </p:sp>
      <p:sp>
        <p:nvSpPr>
          <p:cNvPr id="7" name="Text 5"/>
          <p:cNvSpPr txBox="1"/>
          <p:nvPr/>
        </p:nvSpPr>
        <p:spPr>
          <a:xfrm>
            <a:off x="1014984" y="1499616"/>
            <a:ext cx="10232136" cy="303276"/>
          </a:xfrm>
          <a:prstGeom prst="rect">
            <a:avLst/>
          </a:prstGeom>
          <a:noFill/>
          <a:ln/>
        </p:spPr>
        <p:txBody>
          <a:bodyPr wrap="square" lIns="0" tIns="0" rIns="0" bIns="0" rtlCol="0" anchor="t"/>
          <a:lstStyle/>
          <a:p>
            <a:pPr marL="0" indent="0">
              <a:lnSpc>
                <a:spcPct val="118000"/>
              </a:lnSpc>
              <a:buNone/>
            </a:pPr>
            <a:r>
              <a:rPr lang="en-US" sz="1700" dirty="0">
                <a:solidFill>
                  <a:srgbClr val="1F2430"/>
                </a:solidFill>
                <a:latin typeface="Consolas" pitchFamily="34" charset="0"/>
                <a:ea typeface="Consolas" pitchFamily="34" charset="-122"/>
                <a:cs typeface="Consolas" pitchFamily="34" charset="-120"/>
              </a:rPr>
              <a:t>[ Modelo relacional + ACID ]   +   [ Escala horizontal ]</a:t>
            </a:r>
            <a:endParaRPr lang="en-US" sz="1700" dirty="0"/>
          </a:p>
        </p:txBody>
      </p:sp>
      <p:sp>
        <p:nvSpPr>
          <p:cNvPr id="8" name="Shape 6"/>
          <p:cNvSpPr/>
          <p:nvPr/>
        </p:nvSpPr>
        <p:spPr>
          <a:xfrm>
            <a:off x="797118" y="2331720"/>
            <a:ext cx="5695122" cy="2427665"/>
          </a:xfrm>
          <a:prstGeom prst="rect">
            <a:avLst/>
          </a:prstGeom>
          <a:solidFill>
            <a:srgbClr val="EDEDED"/>
          </a:solidFill>
          <a:ln/>
        </p:spPr>
      </p:sp>
      <p:sp>
        <p:nvSpPr>
          <p:cNvPr id="9" name="Shape 7"/>
          <p:cNvSpPr/>
          <p:nvPr/>
        </p:nvSpPr>
        <p:spPr>
          <a:xfrm>
            <a:off x="757362" y="2331720"/>
            <a:ext cx="68580" cy="2421039"/>
          </a:xfrm>
          <a:prstGeom prst="rect">
            <a:avLst/>
          </a:prstGeom>
          <a:solidFill>
            <a:srgbClr val="4BABA0"/>
          </a:solidFill>
          <a:ln/>
        </p:spPr>
      </p:sp>
      <p:sp>
        <p:nvSpPr>
          <p:cNvPr id="10" name="Text 8"/>
          <p:cNvSpPr txBox="1"/>
          <p:nvPr/>
        </p:nvSpPr>
        <p:spPr>
          <a:xfrm>
            <a:off x="995106" y="2466362"/>
            <a:ext cx="5332542" cy="1899964"/>
          </a:xfrm>
          <a:prstGeom prst="rect">
            <a:avLst/>
          </a:prstGeom>
          <a:noFill/>
          <a:ln/>
        </p:spPr>
        <p:txBody>
          <a:bodyPr wrap="square" lIns="0" tIns="0" rIns="0" bIns="0" rtlCol="0" anchor="t"/>
          <a:lstStyle/>
          <a:p>
            <a:pPr>
              <a:lnSpc>
                <a:spcPct val="118000"/>
              </a:lnSpc>
            </a:pPr>
            <a:r>
              <a:rPr lang="en-US" sz="1100" dirty="0">
                <a:solidFill>
                  <a:srgbClr val="1F2430"/>
                </a:solidFill>
                <a:latin typeface="Consolas"/>
                <a:ea typeface="Consolas" pitchFamily="34" charset="-122"/>
                <a:cs typeface="Consolas" pitchFamily="34" charset="-120"/>
              </a:rPr>
              <a:t>                   </a:t>
            </a:r>
            <a:r>
              <a:rPr lang="en-US" sz="1400" dirty="0">
                <a:solidFill>
                  <a:srgbClr val="1F2430"/>
                </a:solidFill>
                <a:latin typeface="Consolas"/>
                <a:ea typeface="Consolas" pitchFamily="34" charset="-122"/>
                <a:cs typeface="Consolas" pitchFamily="34" charset="-120"/>
              </a:rPr>
              <a:t> SQL       NoSQL        NewSQL</a:t>
            </a:r>
            <a:endParaRPr lang="en-US" sz="1400" dirty="0">
              <a:latin typeface="Consolas"/>
              <a:ea typeface="Calibri"/>
              <a:cs typeface="Calibri"/>
            </a:endParaRPr>
          </a:p>
          <a:p>
            <a:pPr marL="0" indent="0">
              <a:lnSpc>
                <a:spcPct val="118000"/>
              </a:lnSpc>
              <a:buNone/>
            </a:pPr>
            <a:r>
              <a:rPr lang="en-US" sz="1400" dirty="0">
                <a:solidFill>
                  <a:srgbClr val="1F2430"/>
                </a:solidFill>
                <a:latin typeface="Consolas"/>
                <a:ea typeface="Consolas" pitchFamily="34" charset="-122"/>
                <a:cs typeface="Consolas" pitchFamily="34" charset="-120"/>
              </a:rPr>
              <a:t> </a:t>
            </a:r>
            <a:endParaRPr lang="en-US" sz="1400">
              <a:latin typeface="Consolas"/>
              <a:ea typeface="Calibri"/>
              <a:cs typeface="Calibri"/>
            </a:endParaRPr>
          </a:p>
          <a:p>
            <a:pPr marL="0" indent="0">
              <a:lnSpc>
                <a:spcPct val="118000"/>
              </a:lnSpc>
              <a:buNone/>
            </a:pPr>
            <a:r>
              <a:rPr lang="en-US" sz="1400" dirty="0">
                <a:solidFill>
                  <a:srgbClr val="1F2430"/>
                </a:solidFill>
                <a:latin typeface="Consolas"/>
                <a:ea typeface="Consolas" pitchFamily="34" charset="-122"/>
                <a:cs typeface="Consolas" pitchFamily="34" charset="-120"/>
              </a:rPr>
              <a:t>Esquema        rigido     flexible     </a:t>
            </a:r>
            <a:r>
              <a:rPr lang="en-US" sz="1400" b="1" dirty="0">
                <a:solidFill>
                  <a:srgbClr val="DE6B12"/>
                </a:solidFill>
                <a:latin typeface="Consolas"/>
                <a:ea typeface="Consolas" pitchFamily="34" charset="-122"/>
                <a:cs typeface="Consolas" pitchFamily="34" charset="-120"/>
              </a:rPr>
              <a:t>rigido</a:t>
            </a:r>
            <a:endParaRPr lang="en-US" sz="1400">
              <a:latin typeface="Consolas"/>
              <a:ea typeface="Calibri"/>
              <a:cs typeface="Calibri"/>
            </a:endParaRPr>
          </a:p>
          <a:p>
            <a:pPr marL="0" indent="0">
              <a:lnSpc>
                <a:spcPct val="118000"/>
              </a:lnSpc>
              <a:buNone/>
            </a:pPr>
            <a:r>
              <a:rPr lang="en-US" sz="1400" dirty="0">
                <a:solidFill>
                  <a:srgbClr val="1F2430"/>
                </a:solidFill>
                <a:latin typeface="Consolas"/>
                <a:ea typeface="Consolas" pitchFamily="34" charset="-122"/>
                <a:cs typeface="Consolas" pitchFamily="34" charset="-120"/>
              </a:rPr>
              <a:t>Escala         vertical   horizontal   </a:t>
            </a:r>
            <a:r>
              <a:rPr lang="en-US" sz="1400" b="1" dirty="0">
                <a:solidFill>
                  <a:srgbClr val="DE6B12"/>
                </a:solidFill>
                <a:latin typeface="Consolas"/>
                <a:ea typeface="Consolas" pitchFamily="34" charset="-122"/>
                <a:cs typeface="Consolas" pitchFamily="34" charset="-120"/>
              </a:rPr>
              <a:t>horizontal</a:t>
            </a:r>
            <a:endParaRPr lang="en-US" sz="1400">
              <a:latin typeface="Consolas"/>
              <a:ea typeface="Calibri"/>
              <a:cs typeface="Calibri"/>
            </a:endParaRPr>
          </a:p>
          <a:p>
            <a:pPr marL="0" indent="0">
              <a:lnSpc>
                <a:spcPct val="118000"/>
              </a:lnSpc>
              <a:buNone/>
            </a:pPr>
            <a:r>
              <a:rPr lang="en-US" sz="1400" dirty="0">
                <a:solidFill>
                  <a:srgbClr val="1F2430"/>
                </a:solidFill>
                <a:latin typeface="Consolas"/>
                <a:ea typeface="Consolas" pitchFamily="34" charset="-122"/>
                <a:cs typeface="Consolas" pitchFamily="34" charset="-120"/>
              </a:rPr>
              <a:t>Transacciones  ACID       BASE         </a:t>
            </a:r>
            <a:r>
              <a:rPr lang="en-US" sz="1400" b="1" dirty="0">
                <a:solidFill>
                  <a:srgbClr val="DE6B12"/>
                </a:solidFill>
                <a:latin typeface="Consolas"/>
                <a:ea typeface="Consolas" pitchFamily="34" charset="-122"/>
                <a:cs typeface="Consolas" pitchFamily="34" charset="-120"/>
              </a:rPr>
              <a:t>ACID distrib.</a:t>
            </a:r>
            <a:endParaRPr lang="en-US" sz="1400">
              <a:latin typeface="Consolas"/>
              <a:ea typeface="Calibri"/>
              <a:cs typeface="Calibri"/>
            </a:endParaRPr>
          </a:p>
          <a:p>
            <a:pPr marL="0" indent="0">
              <a:lnSpc>
                <a:spcPct val="118000"/>
              </a:lnSpc>
              <a:buNone/>
            </a:pPr>
            <a:r>
              <a:rPr lang="en-US" sz="1400" dirty="0">
                <a:solidFill>
                  <a:srgbClr val="1F2430"/>
                </a:solidFill>
                <a:latin typeface="Consolas"/>
                <a:ea typeface="Consolas" pitchFamily="34" charset="-122"/>
                <a:cs typeface="Consolas" pitchFamily="34" charset="-120"/>
              </a:rPr>
              <a:t>Lenguaje       SQL        APIs propias </a:t>
            </a:r>
            <a:r>
              <a:rPr lang="en-US" sz="1400" b="1" dirty="0">
                <a:solidFill>
                  <a:srgbClr val="DE6B12"/>
                </a:solidFill>
                <a:latin typeface="Consolas"/>
                <a:ea typeface="Consolas" pitchFamily="34" charset="-122"/>
                <a:cs typeface="Consolas" pitchFamily="34" charset="-120"/>
              </a:rPr>
              <a:t>SQL</a:t>
            </a:r>
            <a:endParaRPr lang="en-US" sz="1400">
              <a:latin typeface="Consolas"/>
              <a:ea typeface="Calibri"/>
              <a:cs typeface="Calibri"/>
            </a:endParaRPr>
          </a:p>
        </p:txBody>
      </p:sp>
      <p:sp>
        <p:nvSpPr>
          <p:cNvPr id="11" name="Shape 9"/>
          <p:cNvSpPr/>
          <p:nvPr/>
        </p:nvSpPr>
        <p:spPr>
          <a:xfrm>
            <a:off x="6740718" y="2331720"/>
            <a:ext cx="4670994" cy="2706447"/>
          </a:xfrm>
          <a:prstGeom prst="rect">
            <a:avLst/>
          </a:prstGeom>
          <a:solidFill>
            <a:srgbClr val="EDEDED"/>
          </a:solidFill>
          <a:ln/>
        </p:spPr>
      </p:sp>
      <p:sp>
        <p:nvSpPr>
          <p:cNvPr id="12" name="Shape 10"/>
          <p:cNvSpPr/>
          <p:nvPr/>
        </p:nvSpPr>
        <p:spPr>
          <a:xfrm>
            <a:off x="6641327" y="2331720"/>
            <a:ext cx="121589" cy="2706447"/>
          </a:xfrm>
          <a:prstGeom prst="rect">
            <a:avLst/>
          </a:prstGeom>
          <a:solidFill>
            <a:srgbClr val="4BABA0"/>
          </a:solidFill>
          <a:ln/>
        </p:spPr>
      </p:sp>
      <p:sp>
        <p:nvSpPr>
          <p:cNvPr id="13" name="Text 11"/>
          <p:cNvSpPr txBox="1"/>
          <p:nvPr/>
        </p:nvSpPr>
        <p:spPr>
          <a:xfrm>
            <a:off x="6940296" y="2468880"/>
            <a:ext cx="4306824" cy="292608"/>
          </a:xfrm>
          <a:prstGeom prst="rect">
            <a:avLst/>
          </a:prstGeom>
          <a:noFill/>
          <a:ln/>
        </p:spPr>
        <p:txBody>
          <a:bodyPr wrap="square" lIns="0" tIns="0" rIns="0" bIns="0" rtlCol="0" anchor="t"/>
          <a:lstStyle/>
          <a:p>
            <a:pPr marL="0" indent="0">
              <a:buNone/>
            </a:pPr>
            <a:r>
              <a:rPr lang="en-US" b="1" dirty="0">
                <a:solidFill>
                  <a:srgbClr val="DE6B12"/>
                </a:solidFill>
                <a:latin typeface="Arial"/>
                <a:ea typeface="Arial" pitchFamily="34" charset="-122"/>
                <a:cs typeface="Arial"/>
              </a:rPr>
              <a:t>Cómo lo logra</a:t>
            </a:r>
            <a:endParaRPr lang="en-US">
              <a:latin typeface="Arial"/>
              <a:ea typeface="Calibri"/>
              <a:cs typeface="Calibri"/>
            </a:endParaRPr>
          </a:p>
        </p:txBody>
      </p:sp>
      <p:sp>
        <p:nvSpPr>
          <p:cNvPr id="14" name="Text 12"/>
          <p:cNvSpPr txBox="1"/>
          <p:nvPr/>
        </p:nvSpPr>
        <p:spPr>
          <a:xfrm>
            <a:off x="6940296" y="2789848"/>
            <a:ext cx="4286946" cy="1575373"/>
          </a:xfrm>
          <a:prstGeom prst="rect">
            <a:avLst/>
          </a:prstGeom>
          <a:noFill/>
          <a:ln/>
        </p:spPr>
        <p:txBody>
          <a:bodyPr wrap="square" lIns="0" tIns="0" rIns="0" bIns="0" rtlCol="0" anchor="t"/>
          <a:lstStyle/>
          <a:p>
            <a:pPr marL="0" indent="0">
              <a:lnSpc>
                <a:spcPct val="116000"/>
              </a:lnSpc>
              <a:buNone/>
            </a:pPr>
            <a:r>
              <a:rPr lang="en-US" sz="1600" dirty="0">
                <a:solidFill>
                  <a:srgbClr val="1A1A1A"/>
                </a:solidFill>
                <a:latin typeface="Arial"/>
                <a:ea typeface="Arial" pitchFamily="34" charset="-122"/>
                <a:cs typeface="Arial"/>
              </a:rPr>
              <a:t>1. </a:t>
            </a:r>
            <a:r>
              <a:rPr lang="en-US" sz="1600" b="1" dirty="0">
                <a:solidFill>
                  <a:srgbClr val="DE6B12"/>
                </a:solidFill>
                <a:latin typeface="Arial"/>
                <a:ea typeface="Arial" pitchFamily="34" charset="-122"/>
                <a:cs typeface="Arial"/>
              </a:rPr>
              <a:t>Sharding automático</a:t>
            </a:r>
            <a:r>
              <a:rPr lang="en-US" sz="1600" dirty="0">
                <a:solidFill>
                  <a:srgbClr val="1A1A1A"/>
                </a:solidFill>
                <a:latin typeface="Arial"/>
                <a:ea typeface="Arial" pitchFamily="34" charset="-122"/>
                <a:cs typeface="Arial"/>
              </a:rPr>
              <a:t> por rango de clave.</a:t>
            </a:r>
            <a:endParaRPr lang="en-US" sz="1600">
              <a:latin typeface="Arial"/>
              <a:ea typeface="Calibri"/>
              <a:cs typeface="Arial"/>
            </a:endParaRPr>
          </a:p>
          <a:p>
            <a:pPr marL="0" indent="0">
              <a:lnSpc>
                <a:spcPct val="116000"/>
              </a:lnSpc>
              <a:buNone/>
            </a:pPr>
            <a:r>
              <a:rPr lang="en-US" sz="1600" dirty="0">
                <a:solidFill>
                  <a:srgbClr val="1A1A1A"/>
                </a:solidFill>
                <a:latin typeface="Arial"/>
                <a:ea typeface="Arial" pitchFamily="34" charset="-122"/>
                <a:cs typeface="Arial"/>
              </a:rPr>
              <a:t>2. </a:t>
            </a:r>
            <a:r>
              <a:rPr lang="en-US" sz="1600" b="1" dirty="0">
                <a:solidFill>
                  <a:srgbClr val="DE6B12"/>
                </a:solidFill>
                <a:latin typeface="Arial"/>
                <a:ea typeface="Arial" pitchFamily="34" charset="-122"/>
                <a:cs typeface="Arial"/>
              </a:rPr>
              <a:t>Consenso</a:t>
            </a:r>
            <a:r>
              <a:rPr lang="en-US" sz="1600" dirty="0">
                <a:solidFill>
                  <a:srgbClr val="1A1A1A"/>
                </a:solidFill>
                <a:latin typeface="Arial"/>
                <a:ea typeface="Arial" pitchFamily="34" charset="-122"/>
                <a:cs typeface="Arial"/>
              </a:rPr>
              <a:t> (Raft o Paxos) en vez de maestro-esclavo.</a:t>
            </a:r>
            <a:endParaRPr lang="en-US" sz="1600">
              <a:latin typeface="Arial"/>
              <a:ea typeface="Calibri"/>
              <a:cs typeface="Arial"/>
            </a:endParaRPr>
          </a:p>
          <a:p>
            <a:pPr marL="0" indent="0">
              <a:lnSpc>
                <a:spcPct val="116000"/>
              </a:lnSpc>
              <a:buNone/>
            </a:pPr>
            <a:r>
              <a:rPr lang="en-US" sz="1600" dirty="0">
                <a:solidFill>
                  <a:srgbClr val="1A1A1A"/>
                </a:solidFill>
                <a:latin typeface="Arial"/>
                <a:ea typeface="Arial" pitchFamily="34" charset="-122"/>
                <a:cs typeface="Arial"/>
              </a:rPr>
              <a:t>3. </a:t>
            </a:r>
            <a:r>
              <a:rPr lang="en-US" sz="1600" b="1" dirty="0">
                <a:solidFill>
                  <a:srgbClr val="DE6B12"/>
                </a:solidFill>
                <a:latin typeface="Arial"/>
                <a:ea typeface="Arial" pitchFamily="34" charset="-122"/>
                <a:cs typeface="Arial"/>
              </a:rPr>
              <a:t>Relojes</a:t>
            </a:r>
            <a:r>
              <a:rPr lang="en-US" sz="1600" dirty="0">
                <a:solidFill>
                  <a:srgbClr val="1A1A1A"/>
                </a:solidFill>
                <a:latin typeface="Arial"/>
                <a:ea typeface="Arial" pitchFamily="34" charset="-122"/>
                <a:cs typeface="Arial"/>
              </a:rPr>
              <a:t> sincronizados: TrueTime o HLC.</a:t>
            </a:r>
            <a:endParaRPr lang="en-US" sz="1600">
              <a:latin typeface="Arial"/>
              <a:ea typeface="Calibri"/>
              <a:cs typeface="Arial"/>
            </a:endParaRPr>
          </a:p>
          <a:p>
            <a:pPr marL="0" indent="0">
              <a:lnSpc>
                <a:spcPct val="116000"/>
              </a:lnSpc>
              <a:buNone/>
            </a:pPr>
            <a:r>
              <a:rPr lang="en-US" sz="1600" dirty="0">
                <a:solidFill>
                  <a:srgbClr val="1A1A1A"/>
                </a:solidFill>
                <a:latin typeface="Arial"/>
                <a:ea typeface="Arial" pitchFamily="34" charset="-122"/>
                <a:cs typeface="Arial"/>
              </a:rPr>
              <a:t>4. Transacciones sin el costo de bloqueos y logs.</a:t>
            </a:r>
            <a:endParaRPr lang="en-US" sz="1600">
              <a:latin typeface="Arial"/>
              <a:ea typeface="Calibri"/>
              <a:cs typeface="Arial"/>
            </a:endParaRPr>
          </a:p>
        </p:txBody>
      </p:sp>
      <p:sp>
        <p:nvSpPr>
          <p:cNvPr id="15" name="Shape 13"/>
          <p:cNvSpPr/>
          <p:nvPr/>
        </p:nvSpPr>
        <p:spPr>
          <a:xfrm>
            <a:off x="777240" y="5742432"/>
            <a:ext cx="10634472" cy="621792"/>
          </a:xfrm>
          <a:prstGeom prst="rect">
            <a:avLst/>
          </a:prstGeom>
          <a:solidFill>
            <a:srgbClr val="4BABA0"/>
          </a:solidFill>
          <a:ln/>
        </p:spPr>
      </p:sp>
      <p:sp>
        <p:nvSpPr>
          <p:cNvPr id="16" name="Text 14"/>
          <p:cNvSpPr txBox="1"/>
          <p:nvPr/>
        </p:nvSpPr>
        <p:spPr>
          <a:xfrm>
            <a:off x="978408" y="5815584"/>
            <a:ext cx="10232136" cy="475488"/>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No es un SQL nuevo: es el mismo SQL sobre un motor rediseñado para ser distribuido.</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3">
    <p:bg>
      <p:bgPr>
        <a:solidFill>
          <a:srgbClr val="83C8BD"/>
        </a:solidFill>
        <a:effectLst/>
      </p:bgPr>
    </p:bg>
    <p:spTree>
      <p:nvGrpSpPr>
        <p:cNvPr id="1" name=""/>
        <p:cNvGrpSpPr/>
        <p:nvPr/>
      </p:nvGrpSpPr>
      <p:grpSpPr>
        <a:xfrm>
          <a:off x="0" y="0"/>
          <a:ext cx="0" cy="0"/>
          <a:chOff x="0" y="0"/>
          <a:chExt cx="0" cy="0"/>
        </a:xfrm>
      </p:grpSpPr>
      <p:sp>
        <p:nvSpPr>
          <p:cNvPr id="2" name="Shape 0"/>
          <p:cNvSpPr/>
          <p:nvPr/>
        </p:nvSpPr>
        <p:spPr>
          <a:xfrm>
            <a:off x="292608" y="201168"/>
            <a:ext cx="11603736" cy="6455664"/>
          </a:xfrm>
          <a:prstGeom prst="roundRect">
            <a:avLst>
              <a:gd name="adj" fmla="val 779"/>
            </a:avLst>
          </a:prstGeom>
          <a:solidFill>
            <a:srgbClr val="FFFFFF"/>
          </a:solidFill>
          <a:ln w="50800">
            <a:solidFill>
              <a:srgbClr val="5A99D1"/>
            </a:solidFill>
            <a:prstDash val="solid"/>
          </a:ln>
        </p:spPr>
      </p:sp>
      <p:sp>
        <p:nvSpPr>
          <p:cNvPr id="3" name="Text 1"/>
          <p:cNvSpPr txBox="1"/>
          <p:nvPr/>
        </p:nvSpPr>
        <p:spPr>
          <a:xfrm>
            <a:off x="777240" y="420624"/>
            <a:ext cx="10634472" cy="502920"/>
          </a:xfrm>
          <a:prstGeom prst="rect">
            <a:avLst/>
          </a:prstGeom>
          <a:noFill/>
          <a:ln/>
        </p:spPr>
        <p:txBody>
          <a:bodyPr wrap="square" lIns="0" tIns="0" rIns="0" bIns="0" rtlCol="0" anchor="t"/>
          <a:lstStyle/>
          <a:p>
            <a:pPr marL="0" indent="0">
              <a:buNone/>
            </a:pPr>
            <a:r>
              <a:rPr lang="en-US" sz="3000" b="1" dirty="0">
                <a:solidFill>
                  <a:srgbClr val="DE6B12"/>
                </a:solidFill>
                <a:latin typeface="Arial" pitchFamily="34" charset="0"/>
                <a:ea typeface="Arial" pitchFamily="34" charset="-122"/>
                <a:cs typeface="Arial" pitchFamily="34" charset="-120"/>
              </a:rPr>
              <a:t>NewSQL </a:t>
            </a:r>
            <a:r>
              <a:rPr lang="en-US" sz="3000" b="1" dirty="0">
                <a:solidFill>
                  <a:srgbClr val="355D64"/>
                </a:solidFill>
                <a:latin typeface="Arial" pitchFamily="34" charset="0"/>
                <a:ea typeface="Arial" pitchFamily="34" charset="-122"/>
                <a:cs typeface="Arial" pitchFamily="34" charset="-120"/>
              </a:rPr>
              <a:t>· Raft, quórum y PACELC</a:t>
            </a:r>
            <a:endParaRPr lang="en-US" sz="3000" dirty="0"/>
          </a:p>
        </p:txBody>
      </p:sp>
      <p:sp>
        <p:nvSpPr>
          <p:cNvPr id="5" name="Shape 3"/>
          <p:cNvSpPr/>
          <p:nvPr/>
        </p:nvSpPr>
        <p:spPr>
          <a:xfrm>
            <a:off x="777240" y="1417320"/>
            <a:ext cx="5120640" cy="1783080"/>
          </a:xfrm>
          <a:prstGeom prst="rect">
            <a:avLst/>
          </a:prstGeom>
          <a:solidFill>
            <a:srgbClr val="EDEDED"/>
          </a:solidFill>
          <a:ln/>
        </p:spPr>
      </p:sp>
      <p:sp>
        <p:nvSpPr>
          <p:cNvPr id="6" name="Shape 4"/>
          <p:cNvSpPr/>
          <p:nvPr/>
        </p:nvSpPr>
        <p:spPr>
          <a:xfrm>
            <a:off x="777240" y="1417320"/>
            <a:ext cx="68580" cy="1783080"/>
          </a:xfrm>
          <a:prstGeom prst="rect">
            <a:avLst/>
          </a:prstGeom>
          <a:solidFill>
            <a:srgbClr val="4BABA0"/>
          </a:solidFill>
          <a:ln/>
        </p:spPr>
      </p:sp>
      <p:sp>
        <p:nvSpPr>
          <p:cNvPr id="7" name="Text 5"/>
          <p:cNvSpPr txBox="1"/>
          <p:nvPr/>
        </p:nvSpPr>
        <p:spPr>
          <a:xfrm>
            <a:off x="996696" y="1554480"/>
            <a:ext cx="4736592"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Quórum de mayoría (Raft)</a:t>
            </a:r>
            <a:endParaRPr lang="en-US" sz="1500" dirty="0"/>
          </a:p>
        </p:txBody>
      </p:sp>
      <p:sp>
        <p:nvSpPr>
          <p:cNvPr id="8" name="Text 6"/>
          <p:cNvSpPr txBox="1"/>
          <p:nvPr/>
        </p:nvSpPr>
        <p:spPr>
          <a:xfrm>
            <a:off x="996696" y="1901952"/>
            <a:ext cx="4736592" cy="1188720"/>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Toda escritura entra por el </a:t>
            </a:r>
            <a:r>
              <a:rPr lang="en-US" sz="1250" b="1" dirty="0">
                <a:solidFill>
                  <a:srgbClr val="DE6B12"/>
                </a:solidFill>
                <a:latin typeface="Arial" pitchFamily="34" charset="0"/>
                <a:ea typeface="Arial" pitchFamily="34" charset="-122"/>
                <a:cs typeface="Arial" pitchFamily="34" charset="-120"/>
              </a:rPr>
              <a:t>líder</a:t>
            </a:r>
            <a:r>
              <a:rPr lang="en-US" sz="1250" dirty="0">
                <a:solidFill>
                  <a:srgbClr val="1A1A1A"/>
                </a:solidFill>
                <a:latin typeface="Arial" pitchFamily="34" charset="0"/>
                <a:ea typeface="Arial" pitchFamily="34" charset="-122"/>
                <a:cs typeface="Arial" pitchFamily="34" charset="-120"/>
              </a:rPr>
              <a:t> y se confirma cuando la </a:t>
            </a:r>
            <a:r>
              <a:rPr lang="en-US" sz="1250" b="1" dirty="0">
                <a:solidFill>
                  <a:srgbClr val="DE6B12"/>
                </a:solidFill>
                <a:latin typeface="Arial" pitchFamily="34" charset="0"/>
                <a:ea typeface="Arial" pitchFamily="34" charset="-122"/>
                <a:cs typeface="Arial" pitchFamily="34" charset="-120"/>
              </a:rPr>
              <a:t>mayoría</a:t>
            </a:r>
            <a:r>
              <a:rPr lang="en-US" sz="1250" dirty="0">
                <a:solidFill>
                  <a:srgbClr val="1A1A1A"/>
                </a:solidFill>
                <a:latin typeface="Arial" pitchFamily="34" charset="0"/>
                <a:ea typeface="Arial" pitchFamily="34" charset="-122"/>
                <a:cs typeface="Arial" pitchFamily="34" charset="-120"/>
              </a:rPr>
              <a:t> la guardó.</a:t>
            </a:r>
            <a:endParaRPr lang="en-US" sz="1250" dirty="0"/>
          </a:p>
          <a:p>
            <a:pPr marL="0" indent="0">
              <a:lnSpc>
                <a:spcPct val="116000"/>
              </a:lnSpc>
              <a:buNone/>
            </a:pPr>
            <a:r>
              <a:rPr lang="en-US" sz="1250" dirty="0">
                <a:solidFill>
                  <a:srgbClr val="1A1A1A"/>
                </a:solidFill>
                <a:latin typeface="Arial" pitchFamily="34" charset="0"/>
                <a:ea typeface="Arial" pitchFamily="34" charset="-122"/>
                <a:cs typeface="Arial" pitchFamily="34" charset="-120"/>
              </a:rPr>
              <a:t>Quórum = n ÷ 2 (sin decimales) + 1</a:t>
            </a:r>
            <a:endParaRPr lang="en-US" sz="1250" dirty="0"/>
          </a:p>
          <a:p>
            <a:pPr marL="0" indent="0">
              <a:lnSpc>
                <a:spcPct val="116000"/>
              </a:lnSpc>
              <a:buNone/>
            </a:pPr>
            <a:r>
              <a:rPr lang="en-US" sz="1250" dirty="0">
                <a:solidFill>
                  <a:srgbClr val="1A1A1A"/>
                </a:solidFill>
                <a:latin typeface="Arial" pitchFamily="34" charset="0"/>
                <a:ea typeface="Arial" pitchFamily="34" charset="-122"/>
                <a:cs typeface="Arial" pitchFamily="34" charset="-120"/>
              </a:rPr>
              <a:t>Si se corta la red, </a:t>
            </a:r>
            <a:r>
              <a:rPr lang="en-US" sz="1250" b="1" dirty="0">
                <a:solidFill>
                  <a:srgbClr val="DE6B12"/>
                </a:solidFill>
                <a:latin typeface="Arial" pitchFamily="34" charset="0"/>
                <a:ea typeface="Arial" pitchFamily="34" charset="-122"/>
                <a:cs typeface="Arial" pitchFamily="34" charset="-120"/>
              </a:rPr>
              <a:t>solo el lado con mayoría</a:t>
            </a:r>
            <a:r>
              <a:rPr lang="en-US" sz="1250" dirty="0">
                <a:solidFill>
                  <a:srgbClr val="1A1A1A"/>
                </a:solidFill>
                <a:latin typeface="Arial" pitchFamily="34" charset="0"/>
                <a:ea typeface="Arial" pitchFamily="34" charset="-122"/>
                <a:cs typeface="Arial" pitchFamily="34" charset="-120"/>
              </a:rPr>
              <a:t> sigue escribiendo.</a:t>
            </a:r>
            <a:endParaRPr lang="en-US" sz="1250" dirty="0"/>
          </a:p>
        </p:txBody>
      </p:sp>
      <p:sp>
        <p:nvSpPr>
          <p:cNvPr id="9" name="Shape 7"/>
          <p:cNvSpPr/>
          <p:nvPr/>
        </p:nvSpPr>
        <p:spPr>
          <a:xfrm>
            <a:off x="6172200" y="1417320"/>
            <a:ext cx="5239512" cy="1783080"/>
          </a:xfrm>
          <a:prstGeom prst="rect">
            <a:avLst/>
          </a:prstGeom>
          <a:solidFill>
            <a:srgbClr val="EDEDED"/>
          </a:solidFill>
          <a:ln/>
        </p:spPr>
      </p:sp>
      <p:sp>
        <p:nvSpPr>
          <p:cNvPr id="10" name="Shape 8"/>
          <p:cNvSpPr/>
          <p:nvPr/>
        </p:nvSpPr>
        <p:spPr>
          <a:xfrm>
            <a:off x="6172200" y="1417320"/>
            <a:ext cx="68580" cy="1783080"/>
          </a:xfrm>
          <a:prstGeom prst="rect">
            <a:avLst/>
          </a:prstGeom>
          <a:solidFill>
            <a:srgbClr val="4BABA0"/>
          </a:solidFill>
          <a:ln/>
        </p:spPr>
      </p:sp>
      <p:sp>
        <p:nvSpPr>
          <p:cNvPr id="11" name="Text 9"/>
          <p:cNvSpPr txBox="1"/>
          <p:nvPr/>
        </p:nvSpPr>
        <p:spPr>
          <a:xfrm>
            <a:off x="6391656" y="1554480"/>
            <a:ext cx="485546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PACELC: CAP + el día a día</a:t>
            </a:r>
            <a:endParaRPr lang="en-US" sz="1500" dirty="0"/>
          </a:p>
        </p:txBody>
      </p:sp>
      <p:sp>
        <p:nvSpPr>
          <p:cNvPr id="12" name="Text 10"/>
          <p:cNvSpPr txBox="1"/>
          <p:nvPr/>
        </p:nvSpPr>
        <p:spPr>
          <a:xfrm>
            <a:off x="6391656" y="1901952"/>
            <a:ext cx="4855464" cy="1188720"/>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Si hay </a:t>
            </a:r>
            <a:r>
              <a:rPr lang="en-US" sz="1250" b="1" dirty="0">
                <a:solidFill>
                  <a:srgbClr val="DE6B12"/>
                </a:solidFill>
                <a:latin typeface="Arial" pitchFamily="34" charset="0"/>
                <a:ea typeface="Arial" pitchFamily="34" charset="-122"/>
                <a:cs typeface="Arial" pitchFamily="34" charset="-120"/>
              </a:rPr>
              <a:t>Partición</a:t>
            </a:r>
            <a:r>
              <a:rPr lang="en-US" sz="1250" dirty="0">
                <a:solidFill>
                  <a:srgbClr val="1A1A1A"/>
                </a:solidFill>
                <a:latin typeface="Arial" pitchFamily="34" charset="0"/>
                <a:ea typeface="Arial" pitchFamily="34" charset="-122"/>
                <a:cs typeface="Arial" pitchFamily="34" charset="-120"/>
              </a:rPr>
              <a:t>: elige </a:t>
            </a:r>
            <a:r>
              <a:rPr lang="en-US" sz="1250" b="1" dirty="0">
                <a:solidFill>
                  <a:srgbClr val="DE6B12"/>
                </a:solidFill>
                <a:latin typeface="Arial" pitchFamily="34" charset="0"/>
                <a:ea typeface="Arial" pitchFamily="34" charset="-122"/>
                <a:cs typeface="Arial" pitchFamily="34" charset="-120"/>
              </a:rPr>
              <a:t>A</a:t>
            </a:r>
            <a:r>
              <a:rPr lang="en-US" sz="1250" dirty="0">
                <a:solidFill>
                  <a:srgbClr val="1A1A1A"/>
                </a:solidFill>
                <a:latin typeface="Arial" pitchFamily="34" charset="0"/>
                <a:ea typeface="Arial" pitchFamily="34" charset="-122"/>
                <a:cs typeface="Arial" pitchFamily="34" charset="-120"/>
              </a:rPr>
              <a:t> o </a:t>
            </a:r>
            <a:r>
              <a:rPr lang="en-US" sz="1250" b="1" dirty="0">
                <a:solidFill>
                  <a:srgbClr val="DE6B12"/>
                </a:solidFill>
                <a:latin typeface="Arial" pitchFamily="34" charset="0"/>
                <a:ea typeface="Arial" pitchFamily="34" charset="-122"/>
                <a:cs typeface="Arial" pitchFamily="34" charset="-120"/>
              </a:rPr>
              <a:t>C</a:t>
            </a:r>
            <a:r>
              <a:rPr lang="en-US" sz="1250" dirty="0">
                <a:solidFill>
                  <a:srgbClr val="1A1A1A"/>
                </a:solidFill>
                <a:latin typeface="Arial" pitchFamily="34" charset="0"/>
                <a:ea typeface="Arial" pitchFamily="34" charset="-122"/>
                <a:cs typeface="Arial" pitchFamily="34" charset="-120"/>
              </a:rPr>
              <a:t>.</a:t>
            </a:r>
            <a:endParaRPr lang="en-US" sz="1250" dirty="0"/>
          </a:p>
          <a:p>
            <a:pPr marL="0" indent="0">
              <a:lnSpc>
                <a:spcPct val="116000"/>
              </a:lnSpc>
              <a:buNone/>
            </a:pPr>
            <a:r>
              <a:rPr lang="en-US" sz="1250" dirty="0">
                <a:solidFill>
                  <a:srgbClr val="1A1A1A"/>
                </a:solidFill>
                <a:latin typeface="Arial" pitchFamily="34" charset="0"/>
                <a:ea typeface="Arial" pitchFamily="34" charset="-122"/>
                <a:cs typeface="Arial" pitchFamily="34" charset="-120"/>
              </a:rPr>
              <a:t>Si no (</a:t>
            </a:r>
            <a:r>
              <a:rPr lang="en-US" sz="1250" b="1" dirty="0">
                <a:solidFill>
                  <a:srgbClr val="DE6B12"/>
                </a:solidFill>
                <a:latin typeface="Arial" pitchFamily="34" charset="0"/>
                <a:ea typeface="Arial" pitchFamily="34" charset="-122"/>
                <a:cs typeface="Arial" pitchFamily="34" charset="-120"/>
              </a:rPr>
              <a:t>Else</a:t>
            </a:r>
            <a:r>
              <a:rPr lang="en-US" sz="1250" dirty="0">
                <a:solidFill>
                  <a:srgbClr val="1A1A1A"/>
                </a:solidFill>
                <a:latin typeface="Arial" pitchFamily="34" charset="0"/>
                <a:ea typeface="Arial" pitchFamily="34" charset="-122"/>
                <a:cs typeface="Arial" pitchFamily="34" charset="-120"/>
              </a:rPr>
              <a:t>): elige </a:t>
            </a:r>
            <a:r>
              <a:rPr lang="en-US" sz="1250" b="1" dirty="0">
                <a:solidFill>
                  <a:srgbClr val="DE6B12"/>
                </a:solidFill>
                <a:latin typeface="Arial" pitchFamily="34" charset="0"/>
                <a:ea typeface="Arial" pitchFamily="34" charset="-122"/>
                <a:cs typeface="Arial" pitchFamily="34" charset="-120"/>
              </a:rPr>
              <a:t>Latencia</a:t>
            </a:r>
            <a:r>
              <a:rPr lang="en-US" sz="1250" dirty="0">
                <a:solidFill>
                  <a:srgbClr val="1A1A1A"/>
                </a:solidFill>
                <a:latin typeface="Arial" pitchFamily="34" charset="0"/>
                <a:ea typeface="Arial" pitchFamily="34" charset="-122"/>
                <a:cs typeface="Arial" pitchFamily="34" charset="-120"/>
              </a:rPr>
              <a:t> o </a:t>
            </a:r>
            <a:r>
              <a:rPr lang="en-US" sz="1250" b="1" dirty="0">
                <a:solidFill>
                  <a:srgbClr val="DE6B12"/>
                </a:solidFill>
                <a:latin typeface="Arial" pitchFamily="34" charset="0"/>
                <a:ea typeface="Arial" pitchFamily="34" charset="-122"/>
                <a:cs typeface="Arial" pitchFamily="34" charset="-120"/>
              </a:rPr>
              <a:t>Consistencia</a:t>
            </a:r>
            <a:r>
              <a:rPr lang="en-US" sz="1250" dirty="0">
                <a:solidFill>
                  <a:srgbClr val="1A1A1A"/>
                </a:solidFill>
                <a:latin typeface="Arial" pitchFamily="34" charset="0"/>
                <a:ea typeface="Arial" pitchFamily="34" charset="-122"/>
                <a:cs typeface="Arial" pitchFamily="34" charset="-120"/>
              </a:rPr>
              <a:t>.</a:t>
            </a:r>
            <a:endParaRPr lang="en-US" sz="1250" dirty="0"/>
          </a:p>
          <a:p>
            <a:pPr marL="0" indent="0">
              <a:lnSpc>
                <a:spcPct val="116000"/>
              </a:lnSpc>
              <a:buNone/>
            </a:pPr>
            <a:r>
              <a:rPr lang="en-US" sz="1250" dirty="0">
                <a:solidFill>
                  <a:srgbClr val="1A1A1A"/>
                </a:solidFill>
                <a:latin typeface="Arial" pitchFamily="34" charset="0"/>
                <a:ea typeface="Arial" pitchFamily="34" charset="-122"/>
                <a:cs typeface="Arial" pitchFamily="34" charset="-120"/>
              </a:rPr>
              <a:t>Spanner, CockroachDB → </a:t>
            </a:r>
            <a:r>
              <a:rPr lang="en-US" sz="1250" b="1" dirty="0">
                <a:solidFill>
                  <a:srgbClr val="238C82"/>
                </a:solidFill>
                <a:latin typeface="Arial" pitchFamily="34" charset="0"/>
                <a:ea typeface="Arial" pitchFamily="34" charset="-122"/>
                <a:cs typeface="Arial" pitchFamily="34" charset="-120"/>
              </a:rPr>
              <a:t>PC/EC</a:t>
            </a:r>
            <a:endParaRPr lang="en-US" sz="1250" dirty="0"/>
          </a:p>
          <a:p>
            <a:pPr marL="0" indent="0">
              <a:lnSpc>
                <a:spcPct val="116000"/>
              </a:lnSpc>
              <a:buNone/>
            </a:pPr>
            <a:r>
              <a:rPr lang="en-US" sz="1250" dirty="0">
                <a:solidFill>
                  <a:srgbClr val="1A1A1A"/>
                </a:solidFill>
                <a:latin typeface="Arial" pitchFamily="34" charset="0"/>
                <a:ea typeface="Arial" pitchFamily="34" charset="-122"/>
                <a:cs typeface="Arial" pitchFamily="34" charset="-120"/>
              </a:rPr>
              <a:t>Cassandra, DynamoDB → </a:t>
            </a:r>
            <a:r>
              <a:rPr lang="en-US" sz="1250" b="1" dirty="0">
                <a:solidFill>
                  <a:srgbClr val="238C82"/>
                </a:solidFill>
                <a:latin typeface="Arial" pitchFamily="34" charset="0"/>
                <a:ea typeface="Arial" pitchFamily="34" charset="-122"/>
                <a:cs typeface="Arial" pitchFamily="34" charset="-120"/>
              </a:rPr>
              <a:t>PA/EL</a:t>
            </a:r>
            <a:endParaRPr lang="en-US" sz="1250" dirty="0"/>
          </a:p>
        </p:txBody>
      </p:sp>
      <p:sp>
        <p:nvSpPr>
          <p:cNvPr id="13" name="Shape 11"/>
          <p:cNvSpPr/>
          <p:nvPr/>
        </p:nvSpPr>
        <p:spPr>
          <a:xfrm>
            <a:off x="777240" y="3520440"/>
            <a:ext cx="3364992" cy="1325880"/>
          </a:xfrm>
          <a:prstGeom prst="roundRect">
            <a:avLst>
              <a:gd name="adj" fmla="val 6897"/>
            </a:avLst>
          </a:prstGeom>
          <a:solidFill>
            <a:srgbClr val="FFFFFF"/>
          </a:solidFill>
          <a:ln w="19050">
            <a:solidFill>
              <a:srgbClr val="DCDCDC"/>
            </a:solidFill>
            <a:prstDash val="solid"/>
          </a:ln>
        </p:spPr>
      </p:sp>
      <p:sp>
        <p:nvSpPr>
          <p:cNvPr id="14" name="Text 12"/>
          <p:cNvSpPr txBox="1"/>
          <p:nvPr/>
        </p:nvSpPr>
        <p:spPr>
          <a:xfrm>
            <a:off x="978408" y="3666744"/>
            <a:ext cx="2999232"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Spanner</a:t>
            </a:r>
            <a:endParaRPr lang="en-US" sz="1500" dirty="0"/>
          </a:p>
        </p:txBody>
      </p:sp>
      <p:sp>
        <p:nvSpPr>
          <p:cNvPr id="15" name="Text 13"/>
          <p:cNvSpPr txBox="1"/>
          <p:nvPr/>
        </p:nvSpPr>
        <p:spPr>
          <a:xfrm>
            <a:off x="978408" y="4014216"/>
            <a:ext cx="2999232" cy="722376"/>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Paxos + TrueTime: relojes atómicos y GPS en cada datacenter.</a:t>
            </a:r>
            <a:endParaRPr lang="en-US" sz="1250" dirty="0"/>
          </a:p>
        </p:txBody>
      </p:sp>
      <p:sp>
        <p:nvSpPr>
          <p:cNvPr id="16" name="Shape 14"/>
          <p:cNvSpPr/>
          <p:nvPr/>
        </p:nvSpPr>
        <p:spPr>
          <a:xfrm>
            <a:off x="4411980" y="3520440"/>
            <a:ext cx="3364992" cy="1325880"/>
          </a:xfrm>
          <a:prstGeom prst="roundRect">
            <a:avLst>
              <a:gd name="adj" fmla="val 6897"/>
            </a:avLst>
          </a:prstGeom>
          <a:solidFill>
            <a:srgbClr val="FFFFFF"/>
          </a:solidFill>
          <a:ln w="19050">
            <a:solidFill>
              <a:srgbClr val="DCDCDC"/>
            </a:solidFill>
            <a:prstDash val="solid"/>
          </a:ln>
        </p:spPr>
      </p:sp>
      <p:sp>
        <p:nvSpPr>
          <p:cNvPr id="17" name="Text 15"/>
          <p:cNvSpPr txBox="1"/>
          <p:nvPr/>
        </p:nvSpPr>
        <p:spPr>
          <a:xfrm>
            <a:off x="4613148" y="3666744"/>
            <a:ext cx="2999232"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CockroachDB</a:t>
            </a:r>
            <a:endParaRPr lang="en-US" sz="1500" dirty="0"/>
          </a:p>
        </p:txBody>
      </p:sp>
      <p:sp>
        <p:nvSpPr>
          <p:cNvPr id="18" name="Text 16"/>
          <p:cNvSpPr txBox="1"/>
          <p:nvPr/>
        </p:nvSpPr>
        <p:spPr>
          <a:xfrm>
            <a:off x="4613148" y="4014216"/>
            <a:ext cx="2999232" cy="722376"/>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Raft + relojes híbridos (HLC). Compatible con PostgreSQL.</a:t>
            </a:r>
            <a:endParaRPr lang="en-US" sz="1250" dirty="0"/>
          </a:p>
        </p:txBody>
      </p:sp>
      <p:sp>
        <p:nvSpPr>
          <p:cNvPr id="19" name="Shape 17"/>
          <p:cNvSpPr/>
          <p:nvPr/>
        </p:nvSpPr>
        <p:spPr>
          <a:xfrm>
            <a:off x="8046720" y="3520440"/>
            <a:ext cx="3364992" cy="1325880"/>
          </a:xfrm>
          <a:prstGeom prst="roundRect">
            <a:avLst>
              <a:gd name="adj" fmla="val 6897"/>
            </a:avLst>
          </a:prstGeom>
          <a:solidFill>
            <a:srgbClr val="FFFFFF"/>
          </a:solidFill>
          <a:ln w="19050">
            <a:solidFill>
              <a:srgbClr val="DCDCDC"/>
            </a:solidFill>
            <a:prstDash val="solid"/>
          </a:ln>
        </p:spPr>
      </p:sp>
      <p:sp>
        <p:nvSpPr>
          <p:cNvPr id="20" name="Text 18"/>
          <p:cNvSpPr txBox="1"/>
          <p:nvPr/>
        </p:nvSpPr>
        <p:spPr>
          <a:xfrm>
            <a:off x="8247888" y="3666744"/>
            <a:ext cx="2999232"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VoltDB</a:t>
            </a:r>
            <a:endParaRPr lang="en-US" sz="1500" dirty="0"/>
          </a:p>
        </p:txBody>
      </p:sp>
      <p:sp>
        <p:nvSpPr>
          <p:cNvPr id="21" name="Text 19"/>
          <p:cNvSpPr txBox="1"/>
          <p:nvPr/>
        </p:nvSpPr>
        <p:spPr>
          <a:xfrm>
            <a:off x="8247888" y="4014216"/>
            <a:ext cx="2999232" cy="722376"/>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Todo en memoria, un hilo por partición, sin bloqueos.</a:t>
            </a:r>
            <a:endParaRPr lang="en-US" sz="1250" dirty="0"/>
          </a:p>
        </p:txBody>
      </p:sp>
      <p:sp>
        <p:nvSpPr>
          <p:cNvPr id="22" name="Shape 20"/>
          <p:cNvSpPr/>
          <p:nvPr/>
        </p:nvSpPr>
        <p:spPr>
          <a:xfrm>
            <a:off x="777240" y="5742432"/>
            <a:ext cx="10634472" cy="621792"/>
          </a:xfrm>
          <a:prstGeom prst="rect">
            <a:avLst/>
          </a:prstGeom>
          <a:solidFill>
            <a:srgbClr val="4BABA0"/>
          </a:solidFill>
          <a:ln/>
        </p:spPr>
      </p:sp>
      <p:sp>
        <p:nvSpPr>
          <p:cNvPr id="23" name="Text 21"/>
          <p:cNvSpPr txBox="1"/>
          <p:nvPr/>
        </p:nvSpPr>
        <p:spPr>
          <a:xfrm>
            <a:off x="978408" y="5815584"/>
            <a:ext cx="10232136" cy="475488"/>
          </a:xfrm>
          <a:prstGeom prst="rect">
            <a:avLst/>
          </a:prstGeom>
          <a:noFill/>
          <a:ln/>
        </p:spPr>
        <p:txBody>
          <a:bodyPr wrap="square" lIns="0" tIns="0" rIns="0" bIns="0" rtlCol="0" anchor="ctr"/>
          <a:lstStyle/>
          <a:p>
            <a:r>
              <a:rPr lang="en-US" sz="1350" b="1" dirty="0">
                <a:solidFill>
                  <a:srgbClr val="FFFFFF"/>
                </a:solidFill>
                <a:latin typeface="Arial"/>
                <a:ea typeface="Arial" pitchFamily="34" charset="-122"/>
                <a:cs typeface="Arial"/>
              </a:rPr>
              <a:t>Para </a:t>
            </a:r>
            <a:r>
              <a:rPr lang="en-US" sz="1350" b="1" dirty="0" err="1">
                <a:solidFill>
                  <a:srgbClr val="FFFFFF"/>
                </a:solidFill>
                <a:latin typeface="Arial"/>
                <a:ea typeface="Arial" pitchFamily="34" charset="-122"/>
                <a:cs typeface="Arial"/>
              </a:rPr>
              <a:t>tener</a:t>
            </a:r>
            <a:r>
              <a:rPr lang="en-US" sz="1350" b="1" dirty="0">
                <a:solidFill>
                  <a:srgbClr val="FFFFFF"/>
                </a:solidFill>
                <a:latin typeface="Arial"/>
                <a:ea typeface="Arial" pitchFamily="34" charset="-122"/>
                <a:cs typeface="Arial"/>
              </a:rPr>
              <a:t> ACID a </a:t>
            </a:r>
            <a:r>
              <a:rPr lang="en-US" sz="1350" b="1" dirty="0" err="1">
                <a:solidFill>
                  <a:srgbClr val="FFFFFF"/>
                </a:solidFill>
                <a:latin typeface="Arial"/>
                <a:ea typeface="Arial" pitchFamily="34" charset="-122"/>
                <a:cs typeface="Arial"/>
              </a:rPr>
              <a:t>escala</a:t>
            </a:r>
            <a:r>
              <a:rPr lang="en-US" sz="1350" b="1" dirty="0">
                <a:solidFill>
                  <a:srgbClr val="FFFFFF"/>
                </a:solidFill>
                <a:latin typeface="Arial"/>
                <a:ea typeface="Arial" pitchFamily="34" charset="-122"/>
                <a:cs typeface="Arial"/>
              </a:rPr>
              <a:t> global se </a:t>
            </a:r>
            <a:r>
              <a:rPr lang="en-US" sz="1350" b="1" dirty="0" err="1">
                <a:solidFill>
                  <a:srgbClr val="FFFFFF"/>
                </a:solidFill>
                <a:latin typeface="Arial"/>
                <a:ea typeface="Arial" pitchFamily="34" charset="-122"/>
                <a:cs typeface="Arial"/>
              </a:rPr>
              <a:t>demora</a:t>
            </a:r>
            <a:r>
              <a:rPr lang="en-US" sz="1350" b="1" dirty="0">
                <a:solidFill>
                  <a:srgbClr val="FFFFFF"/>
                </a:solidFill>
                <a:latin typeface="Arial"/>
                <a:ea typeface="Arial" pitchFamily="34" charset="-122"/>
                <a:cs typeface="Arial"/>
              </a:rPr>
              <a:t> </a:t>
            </a:r>
            <a:r>
              <a:rPr lang="en-US" sz="1350" b="1" dirty="0" err="1">
                <a:solidFill>
                  <a:srgbClr val="FFFFFF"/>
                </a:solidFill>
                <a:latin typeface="Arial"/>
                <a:ea typeface="Arial" pitchFamily="34" charset="-122"/>
                <a:cs typeface="Arial"/>
              </a:rPr>
              <a:t>por</a:t>
            </a:r>
            <a:r>
              <a:rPr lang="en-US" sz="1350" b="1" dirty="0">
                <a:solidFill>
                  <a:srgbClr val="FFFFFF"/>
                </a:solidFill>
                <a:latin typeface="Arial"/>
                <a:ea typeface="Arial" pitchFamily="34" charset="-122"/>
                <a:cs typeface="Arial"/>
              </a:rPr>
              <a:t> </a:t>
            </a:r>
            <a:r>
              <a:rPr lang="en-US" sz="1350" b="1" dirty="0" err="1">
                <a:solidFill>
                  <a:srgbClr val="FFFFFF"/>
                </a:solidFill>
                <a:latin typeface="Arial"/>
                <a:ea typeface="Arial" pitchFamily="34" charset="-122"/>
                <a:cs typeface="Arial"/>
              </a:rPr>
              <a:t>latencia</a:t>
            </a:r>
            <a:r>
              <a:rPr lang="en-US" sz="1350" b="1" dirty="0">
                <a:solidFill>
                  <a:srgbClr val="FFFFFF"/>
                </a:solidFill>
                <a:latin typeface="Arial"/>
                <a:ea typeface="Arial" pitchFamily="34" charset="-122"/>
                <a:cs typeface="Arial"/>
              </a:rPr>
              <a:t>: </a:t>
            </a:r>
            <a:r>
              <a:rPr lang="en-US" sz="1350" b="1" dirty="0" err="1">
                <a:solidFill>
                  <a:srgbClr val="FFFFFF"/>
                </a:solidFill>
                <a:latin typeface="Arial"/>
                <a:ea typeface="Arial" pitchFamily="34" charset="-122"/>
                <a:cs typeface="Arial"/>
              </a:rPr>
              <a:t>cada</a:t>
            </a:r>
            <a:r>
              <a:rPr lang="en-US" sz="1350" b="1" dirty="0">
                <a:solidFill>
                  <a:srgbClr val="FFFFFF"/>
                </a:solidFill>
                <a:latin typeface="Arial"/>
                <a:ea typeface="Arial" pitchFamily="34" charset="-122"/>
                <a:cs typeface="Arial"/>
              </a:rPr>
              <a:t> </a:t>
            </a:r>
            <a:r>
              <a:rPr lang="en-US" sz="1350" b="1" dirty="0" err="1">
                <a:solidFill>
                  <a:srgbClr val="FFFFFF"/>
                </a:solidFill>
                <a:latin typeface="Arial"/>
                <a:ea typeface="Arial" pitchFamily="34" charset="-122"/>
                <a:cs typeface="Arial"/>
              </a:rPr>
              <a:t>escritura</a:t>
            </a:r>
            <a:r>
              <a:rPr lang="en-US" sz="1350" b="1" dirty="0">
                <a:solidFill>
                  <a:srgbClr val="FFFFFF"/>
                </a:solidFill>
                <a:latin typeface="Arial"/>
                <a:ea typeface="Arial" pitchFamily="34" charset="-122"/>
                <a:cs typeface="Arial"/>
              </a:rPr>
              <a:t> </a:t>
            </a:r>
            <a:r>
              <a:rPr lang="en-US" sz="1350" b="1" dirty="0" err="1">
                <a:solidFill>
                  <a:srgbClr val="FFFFFF"/>
                </a:solidFill>
                <a:latin typeface="Arial"/>
                <a:ea typeface="Arial" pitchFamily="34" charset="-122"/>
                <a:cs typeface="Arial"/>
              </a:rPr>
              <a:t>espera</a:t>
            </a:r>
            <a:r>
              <a:rPr lang="en-US" sz="1350" b="1" dirty="0">
                <a:solidFill>
                  <a:srgbClr val="FFFFFF"/>
                </a:solidFill>
                <a:latin typeface="Arial"/>
                <a:ea typeface="Arial" pitchFamily="34" charset="-122"/>
                <a:cs typeface="Arial"/>
              </a:rPr>
              <a:t> al </a:t>
            </a:r>
            <a:r>
              <a:rPr lang="en-US" sz="1350" b="1" dirty="0" err="1">
                <a:solidFill>
                  <a:srgbClr val="FFFFFF"/>
                </a:solidFill>
                <a:latin typeface="Arial"/>
                <a:ea typeface="Arial" pitchFamily="34" charset="-122"/>
                <a:cs typeface="Arial"/>
              </a:rPr>
              <a:t>quórum</a:t>
            </a:r>
            <a:r>
              <a:rPr lang="en-US" sz="1350" b="1" dirty="0">
                <a:solidFill>
                  <a:srgbClr val="FFFFFF"/>
                </a:solidFill>
                <a:latin typeface="Arial"/>
                <a:ea typeface="Arial" pitchFamily="34" charset="-122"/>
                <a:cs typeface="Arial"/>
              </a:rPr>
              <a:t>.</a:t>
            </a:r>
            <a:endParaRPr lang="en-US" sz="1350" dirty="0">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4">
    <p:bg>
      <p:bgPr>
        <a:solidFill>
          <a:srgbClr val="83C8BD"/>
        </a:solidFill>
        <a:effectLst/>
      </p:bgPr>
    </p:bg>
    <p:spTree>
      <p:nvGrpSpPr>
        <p:cNvPr id="1" name=""/>
        <p:cNvGrpSpPr/>
        <p:nvPr/>
      </p:nvGrpSpPr>
      <p:grpSpPr>
        <a:xfrm>
          <a:off x="0" y="0"/>
          <a:ext cx="0" cy="0"/>
          <a:chOff x="0" y="0"/>
          <a:chExt cx="0" cy="0"/>
        </a:xfrm>
      </p:grpSpPr>
      <p:sp>
        <p:nvSpPr>
          <p:cNvPr id="2" name="Shape 0"/>
          <p:cNvSpPr/>
          <p:nvPr/>
        </p:nvSpPr>
        <p:spPr>
          <a:xfrm>
            <a:off x="292608" y="201168"/>
            <a:ext cx="11603736" cy="6455664"/>
          </a:xfrm>
          <a:prstGeom prst="roundRect">
            <a:avLst>
              <a:gd name="adj" fmla="val 779"/>
            </a:avLst>
          </a:prstGeom>
          <a:solidFill>
            <a:srgbClr val="FFFFFF"/>
          </a:solidFill>
          <a:ln w="50800">
            <a:solidFill>
              <a:srgbClr val="5A99D1"/>
            </a:solidFill>
            <a:prstDash val="solid"/>
          </a:ln>
        </p:spPr>
      </p:sp>
      <p:sp>
        <p:nvSpPr>
          <p:cNvPr id="3" name="Text 1"/>
          <p:cNvSpPr txBox="1"/>
          <p:nvPr/>
        </p:nvSpPr>
        <p:spPr>
          <a:xfrm>
            <a:off x="777240" y="420624"/>
            <a:ext cx="10634472" cy="502920"/>
          </a:xfrm>
          <a:prstGeom prst="rect">
            <a:avLst/>
          </a:prstGeom>
          <a:noFill/>
          <a:ln/>
        </p:spPr>
        <p:txBody>
          <a:bodyPr wrap="square" lIns="0" tIns="0" rIns="0" bIns="0" rtlCol="0" anchor="t"/>
          <a:lstStyle/>
          <a:p>
            <a:pPr marL="0" indent="0">
              <a:buNone/>
            </a:pPr>
            <a:r>
              <a:rPr lang="en-US" sz="3000" b="1" dirty="0">
                <a:solidFill>
                  <a:srgbClr val="DE6B12"/>
                </a:solidFill>
                <a:latin typeface="Arial" pitchFamily="34" charset="0"/>
                <a:ea typeface="Arial" pitchFamily="34" charset="-122"/>
                <a:cs typeface="Arial" pitchFamily="34" charset="-120"/>
              </a:rPr>
              <a:t>Ejercicio N1 </a:t>
            </a:r>
            <a:r>
              <a:rPr lang="en-US" sz="3000" b="1" dirty="0">
                <a:solidFill>
                  <a:srgbClr val="355D64"/>
                </a:solidFill>
                <a:latin typeface="Arial" pitchFamily="34" charset="0"/>
                <a:ea typeface="Arial" pitchFamily="34" charset="-122"/>
                <a:cs typeface="Arial" pitchFamily="34" charset="-120"/>
              </a:rPr>
              <a:t>· Quórum y PACELC</a:t>
            </a:r>
            <a:endParaRPr lang="en-US" sz="3000" dirty="0"/>
          </a:p>
        </p:txBody>
      </p:sp>
      <p:sp>
        <p:nvSpPr>
          <p:cNvPr id="4" name="Text 2"/>
          <p:cNvSpPr txBox="1"/>
          <p:nvPr/>
        </p:nvSpPr>
        <p:spPr>
          <a:xfrm>
            <a:off x="777240" y="941832"/>
            <a:ext cx="10634472" cy="274320"/>
          </a:xfrm>
          <a:prstGeom prst="rect">
            <a:avLst/>
          </a:prstGeom>
          <a:noFill/>
          <a:ln/>
        </p:spPr>
        <p:txBody>
          <a:bodyPr wrap="square" lIns="0" tIns="0" rIns="0" bIns="0" rtlCol="0" anchor="t"/>
          <a:lstStyle/>
          <a:p>
            <a:pPr marL="0" indent="0">
              <a:buNone/>
            </a:pPr>
            <a:r>
              <a:rPr lang="en-US" sz="1200" b="1" dirty="0">
                <a:solidFill>
                  <a:srgbClr val="355D64"/>
                </a:solidFill>
                <a:latin typeface="Arial" pitchFamily="34" charset="0"/>
                <a:ea typeface="Arial" pitchFamily="34" charset="-122"/>
                <a:cs typeface="Arial" pitchFamily="34" charset="-120"/>
              </a:rPr>
              <a:t>Consenso en un clúster NewSQL</a:t>
            </a:r>
            <a:endParaRPr lang="en-US" sz="1200" dirty="0"/>
          </a:p>
        </p:txBody>
      </p:sp>
      <p:sp>
        <p:nvSpPr>
          <p:cNvPr id="5" name="Shape 3"/>
          <p:cNvSpPr/>
          <p:nvPr/>
        </p:nvSpPr>
        <p:spPr>
          <a:xfrm>
            <a:off x="777240" y="1371600"/>
            <a:ext cx="10634472" cy="457200"/>
          </a:xfrm>
          <a:prstGeom prst="rect">
            <a:avLst/>
          </a:prstGeom>
          <a:solidFill>
            <a:srgbClr val="EDEDED"/>
          </a:solidFill>
          <a:ln/>
        </p:spPr>
      </p:sp>
      <p:sp>
        <p:nvSpPr>
          <p:cNvPr id="6" name="Text 4"/>
          <p:cNvSpPr txBox="1"/>
          <p:nvPr/>
        </p:nvSpPr>
        <p:spPr>
          <a:xfrm>
            <a:off x="996696" y="1490472"/>
            <a:ext cx="914400" cy="237744"/>
          </a:xfrm>
          <a:prstGeom prst="rect">
            <a:avLst/>
          </a:prstGeom>
          <a:noFill/>
          <a:ln/>
        </p:spPr>
        <p:txBody>
          <a:bodyPr wrap="square" lIns="0" tIns="0" rIns="0" bIns="0" rtlCol="0" anchor="t"/>
          <a:lstStyle/>
          <a:p>
            <a:pPr marL="0" indent="0">
              <a:buNone/>
            </a:pPr>
            <a:r>
              <a:rPr lang="en-US" sz="1200" b="1" kern="0" spc="100" dirty="0">
                <a:solidFill>
                  <a:srgbClr val="DE6B12"/>
                </a:solidFill>
                <a:latin typeface="Arial" pitchFamily="34" charset="0"/>
                <a:ea typeface="Arial" pitchFamily="34" charset="-122"/>
                <a:cs typeface="Arial" pitchFamily="34" charset="-120"/>
              </a:rPr>
              <a:t>CLÚSTER</a:t>
            </a:r>
            <a:endParaRPr lang="en-US" sz="1200" dirty="0"/>
          </a:p>
        </p:txBody>
      </p:sp>
      <p:sp>
        <p:nvSpPr>
          <p:cNvPr id="7" name="Text 5"/>
          <p:cNvSpPr txBox="1"/>
          <p:nvPr/>
        </p:nvSpPr>
        <p:spPr>
          <a:xfrm>
            <a:off x="1929384" y="1490472"/>
            <a:ext cx="9262872" cy="237744"/>
          </a:xfrm>
          <a:prstGeom prst="rect">
            <a:avLst/>
          </a:prstGeom>
          <a:noFill/>
          <a:ln/>
        </p:spPr>
        <p:txBody>
          <a:bodyPr wrap="square" lIns="0" tIns="0" rIns="0" bIns="0" rtlCol="0" anchor="t"/>
          <a:lstStyle/>
          <a:p>
            <a:pPr marL="0" indent="0">
              <a:buNone/>
            </a:pPr>
            <a:r>
              <a:rPr lang="en-US" sz="1250" dirty="0">
                <a:solidFill>
                  <a:srgbClr val="1A1A1A"/>
                </a:solidFill>
                <a:latin typeface="Arial" pitchFamily="34" charset="0"/>
                <a:ea typeface="Arial" pitchFamily="34" charset="-122"/>
                <a:cs typeface="Arial" pitchFamily="34" charset="-120"/>
              </a:rPr>
              <a:t>CockroachDB · replicación por </a:t>
            </a:r>
            <a:r>
              <a:rPr lang="en-US" sz="1250" b="1" dirty="0">
                <a:solidFill>
                  <a:srgbClr val="238C82"/>
                </a:solidFill>
                <a:latin typeface="Arial" pitchFamily="34" charset="0"/>
                <a:ea typeface="Arial" pitchFamily="34" charset="-122"/>
                <a:cs typeface="Arial" pitchFamily="34" charset="-120"/>
              </a:rPr>
              <a:t>Raft</a:t>
            </a:r>
            <a:r>
              <a:rPr lang="en-US" sz="1250" dirty="0">
                <a:solidFill>
                  <a:srgbClr val="1A1A1A"/>
                </a:solidFill>
                <a:latin typeface="Arial" pitchFamily="34" charset="0"/>
                <a:ea typeface="Arial" pitchFamily="34" charset="-122"/>
                <a:cs typeface="Arial" pitchFamily="34" charset="-120"/>
              </a:rPr>
              <a:t> · cada rango de datos con </a:t>
            </a:r>
            <a:r>
              <a:rPr lang="en-US" sz="1250" b="1" dirty="0">
                <a:solidFill>
                  <a:srgbClr val="238C82"/>
                </a:solidFill>
                <a:latin typeface="Arial" pitchFamily="34" charset="0"/>
                <a:ea typeface="Arial" pitchFamily="34" charset="-122"/>
                <a:cs typeface="Arial" pitchFamily="34" charset="-120"/>
              </a:rPr>
              <a:t>5 réplicas</a:t>
            </a:r>
            <a:endParaRPr lang="en-US" sz="1250" dirty="0"/>
          </a:p>
        </p:txBody>
      </p:sp>
      <p:sp>
        <p:nvSpPr>
          <p:cNvPr id="8" name="Text 6"/>
          <p:cNvSpPr txBox="1"/>
          <p:nvPr/>
        </p:nvSpPr>
        <p:spPr>
          <a:xfrm>
            <a:off x="777240" y="2103120"/>
            <a:ext cx="365760" cy="274320"/>
          </a:xfrm>
          <a:prstGeom prst="rect">
            <a:avLst/>
          </a:prstGeom>
          <a:noFill/>
          <a:ln/>
        </p:spPr>
        <p:txBody>
          <a:bodyPr wrap="square" lIns="0" tIns="0" rIns="0" bIns="0" rtlCol="0" anchor="t"/>
          <a:lstStyle/>
          <a:p>
            <a:pPr marL="0" indent="0">
              <a:buNone/>
            </a:pPr>
            <a:r>
              <a:rPr lang="en-US" sz="1250" b="1" dirty="0">
                <a:solidFill>
                  <a:srgbClr val="DE6B12"/>
                </a:solidFill>
                <a:latin typeface="Arial" pitchFamily="34" charset="0"/>
                <a:ea typeface="Arial" pitchFamily="34" charset="-122"/>
                <a:cs typeface="Arial" pitchFamily="34" charset="-120"/>
              </a:rPr>
              <a:t>a)</a:t>
            </a:r>
            <a:endParaRPr lang="en-US" sz="1250" dirty="0"/>
          </a:p>
        </p:txBody>
      </p:sp>
      <p:sp>
        <p:nvSpPr>
          <p:cNvPr id="9" name="Text 7"/>
          <p:cNvSpPr txBox="1"/>
          <p:nvPr/>
        </p:nvSpPr>
        <p:spPr>
          <a:xfrm>
            <a:off x="1161288" y="2103120"/>
            <a:ext cx="10250424" cy="530352"/>
          </a:xfrm>
          <a:prstGeom prst="rect">
            <a:avLst/>
          </a:prstGeom>
          <a:noFill/>
          <a:ln/>
        </p:spPr>
        <p:txBody>
          <a:bodyPr wrap="square" lIns="0" tIns="0" rIns="0" bIns="0" rtlCol="0" anchor="t"/>
          <a:lstStyle/>
          <a:p>
            <a:pPr marL="0" indent="0">
              <a:lnSpc>
                <a:spcPct val="112000"/>
              </a:lnSpc>
              <a:buNone/>
            </a:pPr>
            <a:r>
              <a:rPr lang="en-US" sz="1250" dirty="0">
                <a:solidFill>
                  <a:srgbClr val="1A1A1A"/>
                </a:solidFill>
                <a:latin typeface="Arial" pitchFamily="34" charset="0"/>
                <a:ea typeface="Arial" pitchFamily="34" charset="-122"/>
                <a:cs typeface="Arial" pitchFamily="34" charset="-120"/>
              </a:rPr>
              <a:t>¿Cuántas réplicas tienen que confirmar una escritura? ¿Cuántos nodos pueden caerse sin detener las escrituras?</a:t>
            </a:r>
            <a:endParaRPr lang="en-US" sz="1250" dirty="0"/>
          </a:p>
        </p:txBody>
      </p:sp>
      <p:sp>
        <p:nvSpPr>
          <p:cNvPr id="10" name="Text 8"/>
          <p:cNvSpPr txBox="1"/>
          <p:nvPr/>
        </p:nvSpPr>
        <p:spPr>
          <a:xfrm>
            <a:off x="777240" y="2816352"/>
            <a:ext cx="365760" cy="274320"/>
          </a:xfrm>
          <a:prstGeom prst="rect">
            <a:avLst/>
          </a:prstGeom>
          <a:noFill/>
          <a:ln/>
        </p:spPr>
        <p:txBody>
          <a:bodyPr wrap="square" lIns="0" tIns="0" rIns="0" bIns="0" rtlCol="0" anchor="t"/>
          <a:lstStyle/>
          <a:p>
            <a:pPr marL="0" indent="0">
              <a:buNone/>
            </a:pPr>
            <a:r>
              <a:rPr lang="en-US" sz="1250" b="1" dirty="0">
                <a:solidFill>
                  <a:srgbClr val="DE6B12"/>
                </a:solidFill>
                <a:latin typeface="Arial" pitchFamily="34" charset="0"/>
                <a:ea typeface="Arial" pitchFamily="34" charset="-122"/>
                <a:cs typeface="Arial" pitchFamily="34" charset="-120"/>
              </a:rPr>
              <a:t>b)</a:t>
            </a:r>
            <a:endParaRPr lang="en-US" sz="1250" dirty="0"/>
          </a:p>
        </p:txBody>
      </p:sp>
      <p:sp>
        <p:nvSpPr>
          <p:cNvPr id="11" name="Text 9"/>
          <p:cNvSpPr txBox="1"/>
          <p:nvPr/>
        </p:nvSpPr>
        <p:spPr>
          <a:xfrm>
            <a:off x="1161288" y="2816352"/>
            <a:ext cx="10250424" cy="292608"/>
          </a:xfrm>
          <a:prstGeom prst="rect">
            <a:avLst/>
          </a:prstGeom>
          <a:noFill/>
          <a:ln/>
        </p:spPr>
        <p:txBody>
          <a:bodyPr wrap="square" lIns="0" tIns="0" rIns="0" bIns="0" rtlCol="0" anchor="t"/>
          <a:lstStyle/>
          <a:p>
            <a:pPr marL="0" indent="0">
              <a:lnSpc>
                <a:spcPct val="112000"/>
              </a:lnSpc>
              <a:buNone/>
            </a:pPr>
            <a:r>
              <a:rPr lang="en-US" sz="1250" dirty="0">
                <a:solidFill>
                  <a:srgbClr val="1A1A1A"/>
                </a:solidFill>
                <a:latin typeface="Arial" pitchFamily="34" charset="0"/>
                <a:ea typeface="Arial" pitchFamily="34" charset="-122"/>
                <a:cs typeface="Arial" pitchFamily="34" charset="-120"/>
              </a:rPr>
              <a:t>Repita (a) con </a:t>
            </a:r>
            <a:r>
              <a:rPr lang="en-US" sz="1250" b="1" dirty="0">
                <a:solidFill>
                  <a:srgbClr val="355D64"/>
                </a:solidFill>
                <a:latin typeface="Arial" pitchFamily="34" charset="0"/>
                <a:ea typeface="Arial" pitchFamily="34" charset="-122"/>
                <a:cs typeface="Arial" pitchFamily="34" charset="-120"/>
              </a:rPr>
              <a:t>7 réplicas</a:t>
            </a:r>
            <a:r>
              <a:rPr lang="en-US" sz="1250" dirty="0">
                <a:solidFill>
                  <a:srgbClr val="1A1A1A"/>
                </a:solidFill>
                <a:latin typeface="Arial" pitchFamily="34" charset="0"/>
                <a:ea typeface="Arial" pitchFamily="34" charset="-122"/>
                <a:cs typeface="Arial" pitchFamily="34" charset="-120"/>
              </a:rPr>
              <a:t>.</a:t>
            </a:r>
            <a:endParaRPr lang="en-US" sz="1250" dirty="0"/>
          </a:p>
        </p:txBody>
      </p:sp>
      <p:sp>
        <p:nvSpPr>
          <p:cNvPr id="12" name="Text 10"/>
          <p:cNvSpPr txBox="1"/>
          <p:nvPr/>
        </p:nvSpPr>
        <p:spPr>
          <a:xfrm>
            <a:off x="777240" y="3291840"/>
            <a:ext cx="365760" cy="274320"/>
          </a:xfrm>
          <a:prstGeom prst="rect">
            <a:avLst/>
          </a:prstGeom>
          <a:noFill/>
          <a:ln/>
        </p:spPr>
        <p:txBody>
          <a:bodyPr wrap="square" lIns="0" tIns="0" rIns="0" bIns="0" rtlCol="0" anchor="t"/>
          <a:lstStyle/>
          <a:p>
            <a:pPr marL="0" indent="0">
              <a:buNone/>
            </a:pPr>
            <a:r>
              <a:rPr lang="en-US" sz="1250" b="1" dirty="0">
                <a:solidFill>
                  <a:srgbClr val="DE6B12"/>
                </a:solidFill>
                <a:latin typeface="Arial" pitchFamily="34" charset="0"/>
                <a:ea typeface="Arial" pitchFamily="34" charset="-122"/>
                <a:cs typeface="Arial" pitchFamily="34" charset="-120"/>
              </a:rPr>
              <a:t>c)</a:t>
            </a:r>
            <a:endParaRPr lang="en-US" sz="1250" dirty="0"/>
          </a:p>
        </p:txBody>
      </p:sp>
      <p:sp>
        <p:nvSpPr>
          <p:cNvPr id="13" name="Text 11"/>
          <p:cNvSpPr txBox="1"/>
          <p:nvPr/>
        </p:nvSpPr>
        <p:spPr>
          <a:xfrm>
            <a:off x="1161288" y="3291840"/>
            <a:ext cx="10250424" cy="530352"/>
          </a:xfrm>
          <a:prstGeom prst="rect">
            <a:avLst/>
          </a:prstGeom>
          <a:noFill/>
          <a:ln/>
        </p:spPr>
        <p:txBody>
          <a:bodyPr wrap="square" lIns="0" tIns="0" rIns="0" bIns="0" rtlCol="0" anchor="t"/>
          <a:lstStyle/>
          <a:p>
            <a:pPr marL="0" indent="0">
              <a:lnSpc>
                <a:spcPct val="112000"/>
              </a:lnSpc>
              <a:buNone/>
            </a:pPr>
            <a:r>
              <a:rPr lang="en-US" sz="1250" dirty="0">
                <a:solidFill>
                  <a:srgbClr val="1A1A1A"/>
                </a:solidFill>
                <a:latin typeface="Arial" pitchFamily="34" charset="0"/>
                <a:ea typeface="Arial" pitchFamily="34" charset="-122"/>
                <a:cs typeface="Arial" pitchFamily="34" charset="-120"/>
              </a:rPr>
              <a:t>Alguien propone subir de 5 a </a:t>
            </a:r>
            <a:r>
              <a:rPr lang="en-US" sz="1250" b="1" dirty="0">
                <a:solidFill>
                  <a:srgbClr val="355D64"/>
                </a:solidFill>
                <a:latin typeface="Arial" pitchFamily="34" charset="0"/>
                <a:ea typeface="Arial" pitchFamily="34" charset="-122"/>
                <a:cs typeface="Arial" pitchFamily="34" charset="-120"/>
              </a:rPr>
              <a:t>6 réplicas</a:t>
            </a:r>
            <a:r>
              <a:rPr lang="en-US" sz="1250" dirty="0">
                <a:solidFill>
                  <a:srgbClr val="1A1A1A"/>
                </a:solidFill>
                <a:latin typeface="Arial" pitchFamily="34" charset="0"/>
                <a:ea typeface="Arial" pitchFamily="34" charset="-122"/>
                <a:cs typeface="Arial" pitchFamily="34" charset="-120"/>
              </a:rPr>
              <a:t> «para ser más tolerante». ¿Mejora? ¿Por qué se usan números impares?</a:t>
            </a:r>
            <a:endParaRPr lang="en-US" sz="1250" dirty="0"/>
          </a:p>
        </p:txBody>
      </p:sp>
      <p:sp>
        <p:nvSpPr>
          <p:cNvPr id="14" name="Text 12"/>
          <p:cNvSpPr txBox="1"/>
          <p:nvPr/>
        </p:nvSpPr>
        <p:spPr>
          <a:xfrm>
            <a:off x="777240" y="4005072"/>
            <a:ext cx="365760" cy="274320"/>
          </a:xfrm>
          <a:prstGeom prst="rect">
            <a:avLst/>
          </a:prstGeom>
          <a:noFill/>
          <a:ln/>
        </p:spPr>
        <p:txBody>
          <a:bodyPr wrap="square" lIns="0" tIns="0" rIns="0" bIns="0" rtlCol="0" anchor="t"/>
          <a:lstStyle/>
          <a:p>
            <a:pPr marL="0" indent="0">
              <a:buNone/>
            </a:pPr>
            <a:r>
              <a:rPr lang="en-US" sz="1250" b="1" dirty="0">
                <a:solidFill>
                  <a:srgbClr val="DE6B12"/>
                </a:solidFill>
                <a:latin typeface="Arial" pitchFamily="34" charset="0"/>
                <a:ea typeface="Arial" pitchFamily="34" charset="-122"/>
                <a:cs typeface="Arial" pitchFamily="34" charset="-120"/>
              </a:rPr>
              <a:t>d)</a:t>
            </a:r>
            <a:endParaRPr lang="en-US" sz="1250" dirty="0"/>
          </a:p>
        </p:txBody>
      </p:sp>
      <p:sp>
        <p:nvSpPr>
          <p:cNvPr id="15" name="Text 13"/>
          <p:cNvSpPr txBox="1"/>
          <p:nvPr/>
        </p:nvSpPr>
        <p:spPr>
          <a:xfrm>
            <a:off x="1161288" y="4005072"/>
            <a:ext cx="10250424" cy="530352"/>
          </a:xfrm>
          <a:prstGeom prst="rect">
            <a:avLst/>
          </a:prstGeom>
          <a:noFill/>
          <a:ln/>
        </p:spPr>
        <p:txBody>
          <a:bodyPr wrap="square" lIns="0" tIns="0" rIns="0" bIns="0" rtlCol="0" anchor="t"/>
          <a:lstStyle/>
          <a:p>
            <a:pPr marL="0" indent="0">
              <a:lnSpc>
                <a:spcPct val="112000"/>
              </a:lnSpc>
              <a:buNone/>
            </a:pPr>
            <a:r>
              <a:rPr lang="en-US" sz="1250" dirty="0">
                <a:solidFill>
                  <a:srgbClr val="1A1A1A"/>
                </a:solidFill>
                <a:latin typeface="Arial" pitchFamily="34" charset="0"/>
                <a:ea typeface="Arial" pitchFamily="34" charset="-122"/>
                <a:cs typeface="Arial" pitchFamily="34" charset="-120"/>
              </a:rPr>
              <a:t>Un corte de red deja </a:t>
            </a:r>
            <a:r>
              <a:rPr lang="en-US" sz="1250" b="1" dirty="0">
                <a:solidFill>
                  <a:srgbClr val="355D64"/>
                </a:solidFill>
                <a:latin typeface="Arial" pitchFamily="34" charset="0"/>
                <a:ea typeface="Arial" pitchFamily="34" charset="-122"/>
                <a:cs typeface="Arial" pitchFamily="34" charset="-120"/>
              </a:rPr>
              <a:t>2 nodos</a:t>
            </a:r>
            <a:r>
              <a:rPr lang="en-US" sz="1250" dirty="0">
                <a:solidFill>
                  <a:srgbClr val="1A1A1A"/>
                </a:solidFill>
                <a:latin typeface="Arial" pitchFamily="34" charset="0"/>
                <a:ea typeface="Arial" pitchFamily="34" charset="-122"/>
                <a:cs typeface="Arial" pitchFamily="34" charset="-120"/>
              </a:rPr>
              <a:t> de un lado y </a:t>
            </a:r>
            <a:r>
              <a:rPr lang="en-US" sz="1250" b="1" dirty="0">
                <a:solidFill>
                  <a:srgbClr val="355D64"/>
                </a:solidFill>
                <a:latin typeface="Arial" pitchFamily="34" charset="0"/>
                <a:ea typeface="Arial" pitchFamily="34" charset="-122"/>
                <a:cs typeface="Arial" pitchFamily="34" charset="-120"/>
              </a:rPr>
              <a:t>3</a:t>
            </a:r>
            <a:r>
              <a:rPr lang="en-US" sz="1250" dirty="0">
                <a:solidFill>
                  <a:srgbClr val="1A1A1A"/>
                </a:solidFill>
                <a:latin typeface="Arial" pitchFamily="34" charset="0"/>
                <a:ea typeface="Arial" pitchFamily="34" charset="-122"/>
                <a:cs typeface="Arial" pitchFamily="34" charset="-120"/>
              </a:rPr>
              <a:t> del otro. ¿Qué lado sigue aceptando escrituras? ¿Eso es CP o AP?</a:t>
            </a:r>
            <a:endParaRPr lang="en-US" sz="1250" dirty="0"/>
          </a:p>
        </p:txBody>
      </p:sp>
      <p:sp>
        <p:nvSpPr>
          <p:cNvPr id="16" name="Text 14"/>
          <p:cNvSpPr txBox="1"/>
          <p:nvPr/>
        </p:nvSpPr>
        <p:spPr>
          <a:xfrm>
            <a:off x="777240" y="4718304"/>
            <a:ext cx="365760" cy="274320"/>
          </a:xfrm>
          <a:prstGeom prst="rect">
            <a:avLst/>
          </a:prstGeom>
          <a:noFill/>
          <a:ln/>
        </p:spPr>
        <p:txBody>
          <a:bodyPr wrap="square" lIns="0" tIns="0" rIns="0" bIns="0" rtlCol="0" anchor="t"/>
          <a:lstStyle/>
          <a:p>
            <a:pPr marL="0" indent="0">
              <a:buNone/>
            </a:pPr>
            <a:r>
              <a:rPr lang="en-US" sz="1250" b="1" dirty="0">
                <a:solidFill>
                  <a:srgbClr val="DE6B12"/>
                </a:solidFill>
                <a:latin typeface="Arial" pitchFamily="34" charset="0"/>
                <a:ea typeface="Arial" pitchFamily="34" charset="-122"/>
                <a:cs typeface="Arial" pitchFamily="34" charset="-120"/>
              </a:rPr>
              <a:t>e)</a:t>
            </a:r>
            <a:endParaRPr lang="en-US" sz="1250" dirty="0"/>
          </a:p>
        </p:txBody>
      </p:sp>
      <p:sp>
        <p:nvSpPr>
          <p:cNvPr id="17" name="Text 15"/>
          <p:cNvSpPr txBox="1"/>
          <p:nvPr/>
        </p:nvSpPr>
        <p:spPr>
          <a:xfrm>
            <a:off x="1161288" y="4718304"/>
            <a:ext cx="10250424" cy="530352"/>
          </a:xfrm>
          <a:prstGeom prst="rect">
            <a:avLst/>
          </a:prstGeom>
          <a:noFill/>
          <a:ln/>
        </p:spPr>
        <p:txBody>
          <a:bodyPr wrap="square" lIns="0" tIns="0" rIns="0" bIns="0" rtlCol="0" anchor="t"/>
          <a:lstStyle/>
          <a:p>
            <a:pPr marL="0" indent="0">
              <a:lnSpc>
                <a:spcPct val="112000"/>
              </a:lnSpc>
              <a:buNone/>
            </a:pPr>
            <a:r>
              <a:rPr lang="en-US" sz="1250" dirty="0">
                <a:solidFill>
                  <a:srgbClr val="1A1A1A"/>
                </a:solidFill>
                <a:latin typeface="Arial" pitchFamily="34" charset="0"/>
                <a:ea typeface="Arial" pitchFamily="34" charset="-122"/>
                <a:cs typeface="Arial" pitchFamily="34" charset="-120"/>
              </a:rPr>
              <a:t>Clasifique en PACELC: </a:t>
            </a:r>
            <a:r>
              <a:rPr lang="en-US" sz="1250" b="1" dirty="0">
                <a:solidFill>
                  <a:srgbClr val="355D64"/>
                </a:solidFill>
                <a:latin typeface="Arial" pitchFamily="34" charset="0"/>
                <a:ea typeface="Arial" pitchFamily="34" charset="-122"/>
                <a:cs typeface="Arial" pitchFamily="34" charset="-120"/>
              </a:rPr>
              <a:t>Spanner</a:t>
            </a:r>
            <a:r>
              <a:rPr lang="en-US" sz="1250" dirty="0">
                <a:solidFill>
                  <a:srgbClr val="1A1A1A"/>
                </a:solidFill>
                <a:latin typeface="Arial" pitchFamily="34" charset="0"/>
                <a:ea typeface="Arial" pitchFamily="34" charset="-122"/>
                <a:cs typeface="Arial" pitchFamily="34" charset="-120"/>
              </a:rPr>
              <a:t> (espera unos milisegundos en cada commit para garantizar el orden) y </a:t>
            </a:r>
            <a:r>
              <a:rPr lang="en-US" sz="1250" b="1" dirty="0">
                <a:solidFill>
                  <a:srgbClr val="355D64"/>
                </a:solidFill>
                <a:latin typeface="Arial" pitchFamily="34" charset="0"/>
                <a:ea typeface="Arial" pitchFamily="34" charset="-122"/>
                <a:cs typeface="Arial" pitchFamily="34" charset="-120"/>
              </a:rPr>
              <a:t>Cassandra</a:t>
            </a:r>
            <a:r>
              <a:rPr lang="en-US" sz="1250" dirty="0">
                <a:solidFill>
                  <a:srgbClr val="1A1A1A"/>
                </a:solidFill>
                <a:latin typeface="Arial" pitchFamily="34" charset="0"/>
                <a:ea typeface="Arial" pitchFamily="34" charset="-122"/>
                <a:cs typeface="Arial" pitchFamily="34" charset="-120"/>
              </a:rPr>
              <a:t> (responde siempre con lo que tiene, lo más rápido posible).</a:t>
            </a:r>
            <a:endParaRPr lang="en-US" sz="1250" dirty="0"/>
          </a:p>
        </p:txBody>
      </p:sp>
      <p:sp>
        <p:nvSpPr>
          <p:cNvPr id="18" name="Shape 16"/>
          <p:cNvSpPr/>
          <p:nvPr/>
        </p:nvSpPr>
        <p:spPr>
          <a:xfrm>
            <a:off x="777240" y="5742432"/>
            <a:ext cx="10634472" cy="621792"/>
          </a:xfrm>
          <a:prstGeom prst="rect">
            <a:avLst/>
          </a:prstGeom>
          <a:solidFill>
            <a:srgbClr val="EDEDED"/>
          </a:solidFill>
          <a:ln/>
        </p:spPr>
      </p:sp>
      <p:sp>
        <p:nvSpPr>
          <p:cNvPr id="19" name="Text 17"/>
          <p:cNvSpPr txBox="1"/>
          <p:nvPr/>
        </p:nvSpPr>
        <p:spPr>
          <a:xfrm>
            <a:off x="978408" y="5815584"/>
            <a:ext cx="10232136" cy="475488"/>
          </a:xfrm>
          <a:prstGeom prst="rect">
            <a:avLst/>
          </a:prstGeom>
          <a:noFill/>
          <a:ln/>
        </p:spPr>
        <p:txBody>
          <a:bodyPr wrap="square" lIns="0" tIns="0" rIns="0" bIns="0" rtlCol="0" anchor="ctr"/>
          <a:lstStyle/>
          <a:p>
            <a:pPr marL="0" indent="0">
              <a:buNone/>
            </a:pPr>
            <a:r>
              <a:rPr lang="en-US" sz="1350" b="1" dirty="0">
                <a:solidFill>
                  <a:srgbClr val="1A1A1A"/>
                </a:solidFill>
                <a:latin typeface="Arial" pitchFamily="34" charset="0"/>
                <a:ea typeface="Arial" pitchFamily="34" charset="-122"/>
                <a:cs typeface="Arial" pitchFamily="34" charset="-120"/>
              </a:rPr>
              <a:t>Pista: quórum = </a:t>
            </a:r>
            <a:r>
              <a:rPr lang="en-US" sz="1350" b="1" dirty="0">
                <a:solidFill>
                  <a:srgbClr val="DE6B12"/>
                </a:solidFill>
                <a:latin typeface="Arial" pitchFamily="34" charset="0"/>
                <a:ea typeface="Arial" pitchFamily="34" charset="-122"/>
                <a:cs typeface="Arial" pitchFamily="34" charset="-120"/>
              </a:rPr>
              <a:t>mayoría estricta</a:t>
            </a:r>
            <a:r>
              <a:rPr lang="en-US" sz="1350" b="1" dirty="0">
                <a:solidFill>
                  <a:srgbClr val="1A1A1A"/>
                </a:solidFill>
                <a:latin typeface="Arial" pitchFamily="34" charset="0"/>
                <a:ea typeface="Arial" pitchFamily="34" charset="-122"/>
                <a:cs typeface="Arial" pitchFamily="34" charset="-120"/>
              </a:rPr>
              <a:t>, o sea más de la mitad.</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5">
    <p:bg>
      <p:bgPr>
        <a:solidFill>
          <a:srgbClr val="83C8BD"/>
        </a:solidFill>
        <a:effectLst/>
      </p:bgPr>
    </p:bg>
    <p:spTree>
      <p:nvGrpSpPr>
        <p:cNvPr id="1" name=""/>
        <p:cNvGrpSpPr/>
        <p:nvPr/>
      </p:nvGrpSpPr>
      <p:grpSpPr>
        <a:xfrm>
          <a:off x="0" y="0"/>
          <a:ext cx="0" cy="0"/>
          <a:chOff x="0" y="0"/>
          <a:chExt cx="0" cy="0"/>
        </a:xfrm>
      </p:grpSpPr>
      <p:sp>
        <p:nvSpPr>
          <p:cNvPr id="2" name="Shape 0"/>
          <p:cNvSpPr/>
          <p:nvPr/>
        </p:nvSpPr>
        <p:spPr>
          <a:xfrm>
            <a:off x="292608" y="201168"/>
            <a:ext cx="11603736" cy="6455664"/>
          </a:xfrm>
          <a:prstGeom prst="roundRect">
            <a:avLst>
              <a:gd name="adj" fmla="val 779"/>
            </a:avLst>
          </a:prstGeom>
          <a:solidFill>
            <a:srgbClr val="FFFFFF"/>
          </a:solidFill>
          <a:ln w="50800">
            <a:solidFill>
              <a:srgbClr val="5A99D1"/>
            </a:solidFill>
            <a:prstDash val="solid"/>
          </a:ln>
        </p:spPr>
      </p:sp>
      <p:sp>
        <p:nvSpPr>
          <p:cNvPr id="3" name="Text 1"/>
          <p:cNvSpPr txBox="1"/>
          <p:nvPr/>
        </p:nvSpPr>
        <p:spPr>
          <a:xfrm>
            <a:off x="777240" y="420624"/>
            <a:ext cx="10634472" cy="502920"/>
          </a:xfrm>
          <a:prstGeom prst="rect">
            <a:avLst/>
          </a:prstGeom>
          <a:noFill/>
          <a:ln/>
        </p:spPr>
        <p:txBody>
          <a:bodyPr wrap="square" lIns="0" tIns="0" rIns="0" bIns="0" rtlCol="0" anchor="t"/>
          <a:lstStyle/>
          <a:p>
            <a:pPr marL="0" indent="0">
              <a:buNone/>
            </a:pPr>
            <a:r>
              <a:rPr lang="en-US" sz="3000" b="1" dirty="0">
                <a:solidFill>
                  <a:srgbClr val="DE6B12"/>
                </a:solidFill>
                <a:latin typeface="Arial" pitchFamily="34" charset="0"/>
                <a:ea typeface="Arial" pitchFamily="34" charset="-122"/>
                <a:cs typeface="Arial" pitchFamily="34" charset="-120"/>
              </a:rPr>
              <a:t>N1 · Paso a paso</a:t>
            </a:r>
            <a:endParaRPr lang="en-US" sz="3000" dirty="0"/>
          </a:p>
        </p:txBody>
      </p:sp>
      <p:sp>
        <p:nvSpPr>
          <p:cNvPr id="4" name="Shape 2"/>
          <p:cNvSpPr/>
          <p:nvPr/>
        </p:nvSpPr>
        <p:spPr>
          <a:xfrm>
            <a:off x="777240" y="1325880"/>
            <a:ext cx="5120640" cy="2369820"/>
          </a:xfrm>
          <a:prstGeom prst="rect">
            <a:avLst/>
          </a:prstGeom>
          <a:solidFill>
            <a:srgbClr val="EDEDED"/>
          </a:solidFill>
          <a:ln/>
        </p:spPr>
      </p:sp>
      <p:sp>
        <p:nvSpPr>
          <p:cNvPr id="5" name="Shape 3"/>
          <p:cNvSpPr/>
          <p:nvPr/>
        </p:nvSpPr>
        <p:spPr>
          <a:xfrm>
            <a:off x="777240" y="1325880"/>
            <a:ext cx="68580" cy="2369820"/>
          </a:xfrm>
          <a:prstGeom prst="rect">
            <a:avLst/>
          </a:prstGeom>
          <a:solidFill>
            <a:srgbClr val="4BABA0"/>
          </a:solidFill>
          <a:ln/>
        </p:spPr>
      </p:sp>
      <p:sp>
        <p:nvSpPr>
          <p:cNvPr id="6" name="Text 4"/>
          <p:cNvSpPr txBox="1"/>
          <p:nvPr/>
        </p:nvSpPr>
        <p:spPr>
          <a:xfrm>
            <a:off x="1014984" y="1453896"/>
            <a:ext cx="4718304" cy="2113788"/>
          </a:xfrm>
          <a:prstGeom prst="rect">
            <a:avLst/>
          </a:prstGeom>
          <a:noFill/>
          <a:ln/>
        </p:spPr>
        <p:txBody>
          <a:bodyPr wrap="square" lIns="0" tIns="0" rIns="0" bIns="0" rtlCol="0" anchor="t"/>
          <a:lstStyle/>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(a) n = 5</a:t>
            </a:r>
            <a:endParaRPr lang="en-US" sz="1250" dirty="0"/>
          </a:p>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    quorum = 5/2 -&gt; 2 + 1 = </a:t>
            </a:r>
            <a:r>
              <a:rPr lang="en-US" sz="1250" b="1" dirty="0">
                <a:solidFill>
                  <a:srgbClr val="DE6B12"/>
                </a:solidFill>
                <a:latin typeface="Consolas" pitchFamily="34" charset="0"/>
                <a:ea typeface="Consolas" pitchFamily="34" charset="-122"/>
                <a:cs typeface="Consolas" pitchFamily="34" charset="-120"/>
              </a:rPr>
              <a:t>3</a:t>
            </a:r>
            <a:endParaRPr lang="en-US" sz="1250" dirty="0"/>
          </a:p>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    tolera 5 - 3 = </a:t>
            </a:r>
            <a:r>
              <a:rPr lang="en-US" sz="1250" b="1" dirty="0">
                <a:solidFill>
                  <a:srgbClr val="DE6B12"/>
                </a:solidFill>
                <a:latin typeface="Consolas" pitchFamily="34" charset="0"/>
                <a:ea typeface="Consolas" pitchFamily="34" charset="-122"/>
                <a:cs typeface="Consolas" pitchFamily="34" charset="-120"/>
              </a:rPr>
              <a:t>2 caidas</a:t>
            </a:r>
            <a:endParaRPr lang="en-US" sz="1250" dirty="0"/>
          </a:p>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 </a:t>
            </a:r>
            <a:endParaRPr lang="en-US" sz="1250" dirty="0"/>
          </a:p>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(b) n = 7</a:t>
            </a:r>
            <a:endParaRPr lang="en-US" sz="1250" dirty="0"/>
          </a:p>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    quorum = </a:t>
            </a:r>
            <a:r>
              <a:rPr lang="en-US" sz="1250" b="1" dirty="0">
                <a:solidFill>
                  <a:srgbClr val="DE6B12"/>
                </a:solidFill>
                <a:latin typeface="Consolas" pitchFamily="34" charset="0"/>
                <a:ea typeface="Consolas" pitchFamily="34" charset="-122"/>
                <a:cs typeface="Consolas" pitchFamily="34" charset="-120"/>
              </a:rPr>
              <a:t>4</a:t>
            </a:r>
            <a:r>
              <a:rPr lang="en-US" sz="1250" dirty="0">
                <a:solidFill>
                  <a:srgbClr val="1F2430"/>
                </a:solidFill>
                <a:latin typeface="Consolas" pitchFamily="34" charset="0"/>
                <a:ea typeface="Consolas" pitchFamily="34" charset="-122"/>
                <a:cs typeface="Consolas" pitchFamily="34" charset="-120"/>
              </a:rPr>
              <a:t>, tolera </a:t>
            </a:r>
            <a:r>
              <a:rPr lang="en-US" sz="1250" b="1" dirty="0">
                <a:solidFill>
                  <a:srgbClr val="DE6B12"/>
                </a:solidFill>
                <a:latin typeface="Consolas" pitchFamily="34" charset="0"/>
                <a:ea typeface="Consolas" pitchFamily="34" charset="-122"/>
                <a:cs typeface="Consolas" pitchFamily="34" charset="-120"/>
              </a:rPr>
              <a:t>3</a:t>
            </a:r>
            <a:endParaRPr lang="en-US" sz="1250" dirty="0"/>
          </a:p>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 </a:t>
            </a:r>
            <a:endParaRPr lang="en-US" sz="1250" dirty="0"/>
          </a:p>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(c) n = 6</a:t>
            </a:r>
            <a:endParaRPr lang="en-US" sz="1250" dirty="0"/>
          </a:p>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    quorum = </a:t>
            </a:r>
            <a:r>
              <a:rPr lang="en-US" sz="1250" b="1" dirty="0">
                <a:solidFill>
                  <a:srgbClr val="DE6B12"/>
                </a:solidFill>
                <a:latin typeface="Consolas" pitchFamily="34" charset="0"/>
                <a:ea typeface="Consolas" pitchFamily="34" charset="-122"/>
                <a:cs typeface="Consolas" pitchFamily="34" charset="-120"/>
              </a:rPr>
              <a:t>4</a:t>
            </a:r>
            <a:r>
              <a:rPr lang="en-US" sz="1250" dirty="0">
                <a:solidFill>
                  <a:srgbClr val="1F2430"/>
                </a:solidFill>
                <a:latin typeface="Consolas" pitchFamily="34" charset="0"/>
                <a:ea typeface="Consolas" pitchFamily="34" charset="-122"/>
                <a:cs typeface="Consolas" pitchFamily="34" charset="-120"/>
              </a:rPr>
              <a:t>, tolera </a:t>
            </a:r>
            <a:r>
              <a:rPr lang="en-US" sz="1250" b="1" dirty="0">
                <a:solidFill>
                  <a:srgbClr val="DE6B12"/>
                </a:solidFill>
                <a:latin typeface="Consolas" pitchFamily="34" charset="0"/>
                <a:ea typeface="Consolas" pitchFamily="34" charset="-122"/>
                <a:cs typeface="Consolas" pitchFamily="34" charset="-120"/>
              </a:rPr>
              <a:t>2</a:t>
            </a:r>
            <a:endParaRPr lang="en-US" sz="1250" dirty="0"/>
          </a:p>
          <a:p>
            <a:pPr marL="0" indent="0">
              <a:lnSpc>
                <a:spcPct val="118000"/>
              </a:lnSpc>
              <a:buNone/>
            </a:pPr>
            <a:r>
              <a:rPr lang="en-US" sz="1250" dirty="0">
                <a:solidFill>
                  <a:srgbClr val="1F2430"/>
                </a:solidFill>
                <a:latin typeface="Consolas" pitchFamily="34" charset="0"/>
                <a:ea typeface="Consolas" pitchFamily="34" charset="-122"/>
                <a:cs typeface="Consolas" pitchFamily="34" charset="-120"/>
              </a:rPr>
              <a:t>    -&gt; igual que con 5, pero mas caro</a:t>
            </a:r>
            <a:endParaRPr lang="en-US" sz="1250" dirty="0"/>
          </a:p>
        </p:txBody>
      </p:sp>
      <p:sp>
        <p:nvSpPr>
          <p:cNvPr id="7" name="Shape 5"/>
          <p:cNvSpPr/>
          <p:nvPr/>
        </p:nvSpPr>
        <p:spPr>
          <a:xfrm>
            <a:off x="6172200" y="1325880"/>
            <a:ext cx="5239512" cy="1108456"/>
          </a:xfrm>
          <a:prstGeom prst="rect">
            <a:avLst/>
          </a:prstGeom>
          <a:solidFill>
            <a:srgbClr val="EDEDED"/>
          </a:solidFill>
          <a:ln/>
        </p:spPr>
      </p:sp>
      <p:sp>
        <p:nvSpPr>
          <p:cNvPr id="8" name="Shape 6"/>
          <p:cNvSpPr/>
          <p:nvPr/>
        </p:nvSpPr>
        <p:spPr>
          <a:xfrm>
            <a:off x="6172200" y="1325880"/>
            <a:ext cx="68580" cy="1108456"/>
          </a:xfrm>
          <a:prstGeom prst="rect">
            <a:avLst/>
          </a:prstGeom>
          <a:solidFill>
            <a:srgbClr val="4BABA0"/>
          </a:solidFill>
          <a:ln/>
        </p:spPr>
      </p:sp>
      <p:sp>
        <p:nvSpPr>
          <p:cNvPr id="9" name="Text 7"/>
          <p:cNvSpPr txBox="1"/>
          <p:nvPr/>
        </p:nvSpPr>
        <p:spPr>
          <a:xfrm>
            <a:off x="6391656" y="1463040"/>
            <a:ext cx="485546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(d) Sigue el lado de 3</a:t>
            </a:r>
            <a:endParaRPr lang="en-US" sz="1500" dirty="0"/>
          </a:p>
        </p:txBody>
      </p:sp>
      <p:sp>
        <p:nvSpPr>
          <p:cNvPr id="10" name="Text 8"/>
          <p:cNvSpPr txBox="1"/>
          <p:nvPr/>
        </p:nvSpPr>
        <p:spPr>
          <a:xfrm>
            <a:off x="6391656" y="1810512"/>
            <a:ext cx="4855464" cy="514096"/>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Tiene mayoría (3 de 5). El lado de 2 rechaza escrituras para no divergir: prefiere consistencia sobre disponibilidad → </a:t>
            </a:r>
            <a:r>
              <a:rPr lang="en-US" sz="1250" b="1" dirty="0">
                <a:solidFill>
                  <a:srgbClr val="238C82"/>
                </a:solidFill>
                <a:latin typeface="Arial" pitchFamily="34" charset="0"/>
                <a:ea typeface="Arial" pitchFamily="34" charset="-122"/>
                <a:cs typeface="Arial" pitchFamily="34" charset="-120"/>
              </a:rPr>
              <a:t>CP</a:t>
            </a:r>
            <a:r>
              <a:rPr lang="en-US" sz="1250" dirty="0">
                <a:solidFill>
                  <a:srgbClr val="1A1A1A"/>
                </a:solidFill>
                <a:latin typeface="Arial" pitchFamily="34" charset="0"/>
                <a:ea typeface="Arial" pitchFamily="34" charset="-122"/>
                <a:cs typeface="Arial" pitchFamily="34" charset="-120"/>
              </a:rPr>
              <a:t>.</a:t>
            </a:r>
            <a:endParaRPr lang="en-US" sz="1250" dirty="0"/>
          </a:p>
        </p:txBody>
      </p:sp>
      <p:sp>
        <p:nvSpPr>
          <p:cNvPr id="11" name="Shape 9"/>
          <p:cNvSpPr/>
          <p:nvPr/>
        </p:nvSpPr>
        <p:spPr>
          <a:xfrm>
            <a:off x="6172200" y="3017520"/>
            <a:ext cx="5239512" cy="1108456"/>
          </a:xfrm>
          <a:prstGeom prst="rect">
            <a:avLst/>
          </a:prstGeom>
          <a:solidFill>
            <a:srgbClr val="EDEDED"/>
          </a:solidFill>
          <a:ln/>
        </p:spPr>
      </p:sp>
      <p:sp>
        <p:nvSpPr>
          <p:cNvPr id="12" name="Shape 10"/>
          <p:cNvSpPr/>
          <p:nvPr/>
        </p:nvSpPr>
        <p:spPr>
          <a:xfrm>
            <a:off x="6172200" y="3017520"/>
            <a:ext cx="68580" cy="1108456"/>
          </a:xfrm>
          <a:prstGeom prst="rect">
            <a:avLst/>
          </a:prstGeom>
          <a:solidFill>
            <a:srgbClr val="4BABA0"/>
          </a:solidFill>
          <a:ln/>
        </p:spPr>
      </p:sp>
      <p:sp>
        <p:nvSpPr>
          <p:cNvPr id="13" name="Text 11"/>
          <p:cNvSpPr txBox="1"/>
          <p:nvPr/>
        </p:nvSpPr>
        <p:spPr>
          <a:xfrm>
            <a:off x="6391656" y="3154680"/>
            <a:ext cx="485546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(e) Spanner PC/EC · Cassandra PA/EL</a:t>
            </a:r>
            <a:endParaRPr lang="en-US" sz="1500" dirty="0"/>
          </a:p>
        </p:txBody>
      </p:sp>
      <p:sp>
        <p:nvSpPr>
          <p:cNvPr id="14" name="Text 12"/>
          <p:cNvSpPr txBox="1"/>
          <p:nvPr/>
        </p:nvSpPr>
        <p:spPr>
          <a:xfrm>
            <a:off x="6391656" y="3502152"/>
            <a:ext cx="4855464" cy="514096"/>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Spanner elige consistencia incluso sin partición: el commit-wait es pagar latencia por orden. Cassandra elige disponibilidad y latencia.</a:t>
            </a:r>
            <a:endParaRPr lang="en-US" sz="1250" dirty="0"/>
          </a:p>
        </p:txBody>
      </p:sp>
      <p:sp>
        <p:nvSpPr>
          <p:cNvPr id="15" name="Shape 13"/>
          <p:cNvSpPr/>
          <p:nvPr/>
        </p:nvSpPr>
        <p:spPr>
          <a:xfrm>
            <a:off x="777240" y="5742432"/>
            <a:ext cx="10634472" cy="621792"/>
          </a:xfrm>
          <a:prstGeom prst="rect">
            <a:avLst/>
          </a:prstGeom>
          <a:solidFill>
            <a:srgbClr val="4BABA0"/>
          </a:solidFill>
          <a:ln/>
        </p:spPr>
      </p:sp>
      <p:sp>
        <p:nvSpPr>
          <p:cNvPr id="16" name="Text 14"/>
          <p:cNvSpPr txBox="1"/>
          <p:nvPr/>
        </p:nvSpPr>
        <p:spPr>
          <a:xfrm>
            <a:off x="978408" y="5815584"/>
            <a:ext cx="10232136" cy="475488"/>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Por eso los clústeres de consenso tienen 3, 5 o 7 nodos: un nodo par suma costo sin sumar tolerancia.</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6">
    <p:bg>
      <p:bgPr>
        <a:solidFill>
          <a:srgbClr val="83C8BD"/>
        </a:solidFill>
        <a:effectLst/>
      </p:bgPr>
    </p:bg>
    <p:spTree>
      <p:nvGrpSpPr>
        <p:cNvPr id="1" name=""/>
        <p:cNvGrpSpPr/>
        <p:nvPr/>
      </p:nvGrpSpPr>
      <p:grpSpPr>
        <a:xfrm>
          <a:off x="0" y="0"/>
          <a:ext cx="0" cy="0"/>
          <a:chOff x="0" y="0"/>
          <a:chExt cx="0" cy="0"/>
        </a:xfrm>
      </p:grpSpPr>
      <p:sp>
        <p:nvSpPr>
          <p:cNvPr id="2" name="Shape 0"/>
          <p:cNvSpPr/>
          <p:nvPr/>
        </p:nvSpPr>
        <p:spPr>
          <a:xfrm>
            <a:off x="292608" y="201168"/>
            <a:ext cx="11603736" cy="6455664"/>
          </a:xfrm>
          <a:prstGeom prst="roundRect">
            <a:avLst>
              <a:gd name="adj" fmla="val 779"/>
            </a:avLst>
          </a:prstGeom>
          <a:solidFill>
            <a:srgbClr val="FFFFFF"/>
          </a:solidFill>
          <a:ln w="50800">
            <a:solidFill>
              <a:srgbClr val="5A99D1"/>
            </a:solidFill>
            <a:prstDash val="solid"/>
          </a:ln>
        </p:spPr>
      </p:sp>
      <p:sp>
        <p:nvSpPr>
          <p:cNvPr id="3" name="Text 1"/>
          <p:cNvSpPr txBox="1"/>
          <p:nvPr/>
        </p:nvSpPr>
        <p:spPr>
          <a:xfrm>
            <a:off x="777240" y="420624"/>
            <a:ext cx="10634472" cy="502920"/>
          </a:xfrm>
          <a:prstGeom prst="rect">
            <a:avLst/>
          </a:prstGeom>
          <a:noFill/>
          <a:ln/>
        </p:spPr>
        <p:txBody>
          <a:bodyPr wrap="square" lIns="0" tIns="0" rIns="0" bIns="0" rtlCol="0" anchor="t"/>
          <a:lstStyle/>
          <a:p>
            <a:pPr marL="0" indent="0">
              <a:buNone/>
            </a:pPr>
            <a:r>
              <a:rPr lang="en-US" sz="3000" b="1" dirty="0">
                <a:solidFill>
                  <a:srgbClr val="DE6B12"/>
                </a:solidFill>
                <a:latin typeface="Arial" pitchFamily="34" charset="0"/>
                <a:ea typeface="Arial" pitchFamily="34" charset="-122"/>
                <a:cs typeface="Arial" pitchFamily="34" charset="-120"/>
              </a:rPr>
              <a:t>Índices </a:t>
            </a:r>
            <a:r>
              <a:rPr lang="en-US" sz="3000" b="1" dirty="0">
                <a:solidFill>
                  <a:srgbClr val="355D64"/>
                </a:solidFill>
                <a:latin typeface="Arial" pitchFamily="34" charset="0"/>
                <a:ea typeface="Arial" pitchFamily="34" charset="-122"/>
                <a:cs typeface="Arial" pitchFamily="34" charset="-120"/>
              </a:rPr>
              <a:t>· Repaso rápido</a:t>
            </a:r>
            <a:endParaRPr lang="en-US" sz="3000" dirty="0"/>
          </a:p>
        </p:txBody>
      </p:sp>
      <p:sp>
        <p:nvSpPr>
          <p:cNvPr id="4" name="Text 2"/>
          <p:cNvSpPr txBox="1"/>
          <p:nvPr/>
        </p:nvSpPr>
        <p:spPr>
          <a:xfrm>
            <a:off x="777240" y="941832"/>
            <a:ext cx="10634472" cy="274320"/>
          </a:xfrm>
          <a:prstGeom prst="rect">
            <a:avLst/>
          </a:prstGeom>
          <a:noFill/>
          <a:ln/>
        </p:spPr>
        <p:txBody>
          <a:bodyPr wrap="square" lIns="0" tIns="0" rIns="0" bIns="0" rtlCol="0" anchor="t"/>
          <a:lstStyle/>
          <a:p>
            <a:pPr marL="0" indent="0">
              <a:buNone/>
            </a:pPr>
            <a:r>
              <a:rPr lang="en-US" sz="1200" b="1" dirty="0">
                <a:solidFill>
                  <a:srgbClr val="355D64"/>
                </a:solidFill>
                <a:latin typeface="Arial" pitchFamily="34" charset="0"/>
                <a:ea typeface="Arial" pitchFamily="34" charset="-122"/>
                <a:cs typeface="Arial" pitchFamily="34" charset="-120"/>
              </a:rPr>
              <a:t>Unidad 1: ya evaluada, lo mínimo por si reaparece</a:t>
            </a:r>
            <a:endParaRPr lang="en-US" sz="1200" dirty="0"/>
          </a:p>
        </p:txBody>
      </p:sp>
      <p:pic>
        <p:nvPicPr>
          <p:cNvPr id="5" name="Image 0" descr="/home/claude/memes/gato_cafe.png"/>
          <p:cNvPicPr>
            <a:picLocks noChangeAspect="1"/>
          </p:cNvPicPr>
          <p:nvPr/>
        </p:nvPicPr>
        <p:blipFill>
          <a:blip r:embed="rId3"/>
          <a:stretch>
            <a:fillRect/>
          </a:stretch>
        </p:blipFill>
        <p:spPr>
          <a:xfrm>
            <a:off x="10469880" y="310896"/>
            <a:ext cx="1024128" cy="1051560"/>
          </a:xfrm>
          <a:prstGeom prst="rect">
            <a:avLst/>
          </a:prstGeom>
        </p:spPr>
      </p:pic>
      <p:sp>
        <p:nvSpPr>
          <p:cNvPr id="6" name="Shape 3"/>
          <p:cNvSpPr/>
          <p:nvPr/>
        </p:nvSpPr>
        <p:spPr>
          <a:xfrm>
            <a:off x="777240" y="1463040"/>
            <a:ext cx="5239512" cy="1691640"/>
          </a:xfrm>
          <a:prstGeom prst="rect">
            <a:avLst/>
          </a:prstGeom>
          <a:solidFill>
            <a:srgbClr val="EDEDED"/>
          </a:solidFill>
          <a:ln/>
        </p:spPr>
      </p:sp>
      <p:sp>
        <p:nvSpPr>
          <p:cNvPr id="7" name="Shape 4"/>
          <p:cNvSpPr/>
          <p:nvPr/>
        </p:nvSpPr>
        <p:spPr>
          <a:xfrm>
            <a:off x="777240" y="1463040"/>
            <a:ext cx="68580" cy="1691640"/>
          </a:xfrm>
          <a:prstGeom prst="rect">
            <a:avLst/>
          </a:prstGeom>
          <a:solidFill>
            <a:srgbClr val="4BABA0"/>
          </a:solidFill>
          <a:ln/>
        </p:spPr>
      </p:sp>
      <p:sp>
        <p:nvSpPr>
          <p:cNvPr id="8" name="Text 5"/>
          <p:cNvSpPr txBox="1"/>
          <p:nvPr/>
        </p:nvSpPr>
        <p:spPr>
          <a:xfrm>
            <a:off x="996696" y="1600200"/>
            <a:ext cx="485546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1 acceso = 1 bloque</a:t>
            </a:r>
            <a:endParaRPr lang="en-US" sz="1500" dirty="0"/>
          </a:p>
        </p:txBody>
      </p:sp>
      <p:sp>
        <p:nvSpPr>
          <p:cNvPr id="9" name="Text 6"/>
          <p:cNvSpPr txBox="1"/>
          <p:nvPr/>
        </p:nvSpPr>
        <p:spPr>
          <a:xfrm>
            <a:off x="996696" y="1947672"/>
            <a:ext cx="4855464" cy="1097280"/>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El disco lee bloques completos, no registros. Siempre se cuentan bloques.</a:t>
            </a:r>
            <a:endParaRPr lang="en-US" sz="1250" dirty="0"/>
          </a:p>
        </p:txBody>
      </p:sp>
      <p:sp>
        <p:nvSpPr>
          <p:cNvPr id="10" name="Shape 7"/>
          <p:cNvSpPr/>
          <p:nvPr/>
        </p:nvSpPr>
        <p:spPr>
          <a:xfrm>
            <a:off x="6172200" y="1463040"/>
            <a:ext cx="5239512" cy="1691640"/>
          </a:xfrm>
          <a:prstGeom prst="rect">
            <a:avLst/>
          </a:prstGeom>
          <a:solidFill>
            <a:srgbClr val="EDEDED"/>
          </a:solidFill>
          <a:ln/>
        </p:spPr>
      </p:sp>
      <p:sp>
        <p:nvSpPr>
          <p:cNvPr id="11" name="Shape 8"/>
          <p:cNvSpPr/>
          <p:nvPr/>
        </p:nvSpPr>
        <p:spPr>
          <a:xfrm>
            <a:off x="6172200" y="1463040"/>
            <a:ext cx="68580" cy="1691640"/>
          </a:xfrm>
          <a:prstGeom prst="rect">
            <a:avLst/>
          </a:prstGeom>
          <a:solidFill>
            <a:srgbClr val="4BABA0"/>
          </a:solidFill>
          <a:ln/>
        </p:spPr>
      </p:sp>
      <p:sp>
        <p:nvSpPr>
          <p:cNvPr id="12" name="Text 9"/>
          <p:cNvSpPr txBox="1"/>
          <p:nvPr/>
        </p:nvSpPr>
        <p:spPr>
          <a:xfrm>
            <a:off x="6391656" y="1600200"/>
            <a:ext cx="485546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bloques = registros ÷ filas por bloque</a:t>
            </a:r>
            <a:endParaRPr lang="en-US" sz="1500" dirty="0"/>
          </a:p>
        </p:txBody>
      </p:sp>
      <p:sp>
        <p:nvSpPr>
          <p:cNvPr id="13" name="Text 10"/>
          <p:cNvSpPr txBox="1"/>
          <p:nvPr/>
        </p:nvSpPr>
        <p:spPr>
          <a:xfrm>
            <a:off x="6391656" y="1947672"/>
            <a:ext cx="4855464" cy="1097280"/>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30.000.000 ÷ 200 = 150.000. Dividir por 200 es dividir por 2 y correr dos ceros.</a:t>
            </a:r>
            <a:endParaRPr lang="en-US" sz="1250" dirty="0"/>
          </a:p>
        </p:txBody>
      </p:sp>
      <p:sp>
        <p:nvSpPr>
          <p:cNvPr id="14" name="Shape 11"/>
          <p:cNvSpPr/>
          <p:nvPr/>
        </p:nvSpPr>
        <p:spPr>
          <a:xfrm>
            <a:off x="777240" y="3429000"/>
            <a:ext cx="5239512" cy="1691640"/>
          </a:xfrm>
          <a:prstGeom prst="rect">
            <a:avLst/>
          </a:prstGeom>
          <a:solidFill>
            <a:srgbClr val="EDEDED"/>
          </a:solidFill>
          <a:ln/>
        </p:spPr>
      </p:sp>
      <p:sp>
        <p:nvSpPr>
          <p:cNvPr id="15" name="Shape 12"/>
          <p:cNvSpPr/>
          <p:nvPr/>
        </p:nvSpPr>
        <p:spPr>
          <a:xfrm>
            <a:off x="777240" y="3429000"/>
            <a:ext cx="68580" cy="1691640"/>
          </a:xfrm>
          <a:prstGeom prst="rect">
            <a:avLst/>
          </a:prstGeom>
          <a:solidFill>
            <a:srgbClr val="4BABA0"/>
          </a:solidFill>
          <a:ln/>
        </p:spPr>
      </p:sp>
      <p:sp>
        <p:nvSpPr>
          <p:cNvPr id="16" name="Text 13"/>
          <p:cNvSpPr txBox="1"/>
          <p:nvPr/>
        </p:nvSpPr>
        <p:spPr>
          <a:xfrm>
            <a:off x="996696" y="3566160"/>
            <a:ext cx="485546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Full scan: una lectura por alias</a:t>
            </a:r>
            <a:endParaRPr lang="en-US" sz="1500" dirty="0"/>
          </a:p>
        </p:txBody>
      </p:sp>
      <p:sp>
        <p:nvSpPr>
          <p:cNvPr id="17" name="Text 14"/>
          <p:cNvSpPr txBox="1"/>
          <p:nvPr/>
        </p:nvSpPr>
        <p:spPr>
          <a:xfrm>
            <a:off x="996696" y="3913632"/>
            <a:ext cx="4855464" cy="1097280"/>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«cuenta ori, cuenta des» son dos lecturas completas de la tabla cuenta.</a:t>
            </a:r>
            <a:endParaRPr lang="en-US" sz="1250" dirty="0"/>
          </a:p>
        </p:txBody>
      </p:sp>
      <p:sp>
        <p:nvSpPr>
          <p:cNvPr id="18" name="Shape 15"/>
          <p:cNvSpPr/>
          <p:nvPr/>
        </p:nvSpPr>
        <p:spPr>
          <a:xfrm>
            <a:off x="6172200" y="3429000"/>
            <a:ext cx="5239512" cy="1691640"/>
          </a:xfrm>
          <a:prstGeom prst="rect">
            <a:avLst/>
          </a:prstGeom>
          <a:solidFill>
            <a:srgbClr val="EDEDED"/>
          </a:solidFill>
          <a:ln/>
        </p:spPr>
      </p:sp>
      <p:sp>
        <p:nvSpPr>
          <p:cNvPr id="19" name="Shape 16"/>
          <p:cNvSpPr/>
          <p:nvPr/>
        </p:nvSpPr>
        <p:spPr>
          <a:xfrm>
            <a:off x="6172200" y="3429000"/>
            <a:ext cx="68580" cy="1691640"/>
          </a:xfrm>
          <a:prstGeom prst="rect">
            <a:avLst/>
          </a:prstGeom>
          <a:solidFill>
            <a:srgbClr val="4BABA0"/>
          </a:solidFill>
          <a:ln/>
        </p:spPr>
      </p:sp>
      <p:sp>
        <p:nvSpPr>
          <p:cNvPr id="20" name="Text 17"/>
          <p:cNvSpPr txBox="1"/>
          <p:nvPr/>
        </p:nvSpPr>
        <p:spPr>
          <a:xfrm>
            <a:off x="6391656" y="3566160"/>
            <a:ext cx="4855464" cy="292608"/>
          </a:xfrm>
          <a:prstGeom prst="rect">
            <a:avLst/>
          </a:prstGeom>
          <a:noFill/>
          <a:ln/>
        </p:spPr>
        <p:txBody>
          <a:bodyPr wrap="square" lIns="0" tIns="0" rIns="0" bIns="0" rtlCol="0" anchor="t"/>
          <a:lstStyle/>
          <a:p>
            <a:pPr marL="0" indent="0">
              <a:buNone/>
            </a:pPr>
            <a:r>
              <a:rPr lang="en-US" sz="1500" b="1" dirty="0">
                <a:solidFill>
                  <a:srgbClr val="DE6B12"/>
                </a:solidFill>
                <a:latin typeface="Arial" pitchFamily="34" charset="0"/>
                <a:ea typeface="Arial" pitchFamily="34" charset="-122"/>
                <a:cs typeface="Arial" pitchFamily="34" charset="-120"/>
              </a:rPr>
              <a:t>Altura (orden 10) = nº de dígitos</a:t>
            </a:r>
            <a:endParaRPr lang="en-US" sz="1500" dirty="0"/>
          </a:p>
        </p:txBody>
      </p:sp>
      <p:sp>
        <p:nvSpPr>
          <p:cNvPr id="21" name="Text 18"/>
          <p:cNvSpPr txBox="1"/>
          <p:nvPr/>
        </p:nvSpPr>
        <p:spPr>
          <a:xfrm>
            <a:off x="6391656" y="3913632"/>
            <a:ext cx="4855464" cy="1097280"/>
          </a:xfrm>
          <a:prstGeom prst="rect">
            <a:avLst/>
          </a:prstGeom>
          <a:noFill/>
          <a:ln/>
        </p:spPr>
        <p:txBody>
          <a:bodyPr wrap="square" lIns="0" tIns="0" rIns="0" bIns="0" rtlCol="0" anchor="t"/>
          <a:lstStyle/>
          <a:p>
            <a:pPr marL="0" indent="0">
              <a:lnSpc>
                <a:spcPct val="116000"/>
              </a:lnSpc>
              <a:buNone/>
            </a:pPr>
            <a:r>
              <a:rPr lang="en-US" sz="1250" dirty="0">
                <a:solidFill>
                  <a:srgbClr val="1A1A1A"/>
                </a:solidFill>
                <a:latin typeface="Arial" pitchFamily="34" charset="0"/>
                <a:ea typeface="Arial" pitchFamily="34" charset="-122"/>
                <a:cs typeface="Arial" pitchFamily="34" charset="-120"/>
              </a:rPr>
              <a:t>30.000.000 tiene 8 dígitos → h = 8. De 150.000 accesos a 8.</a:t>
            </a:r>
            <a:endParaRPr lang="en-US" sz="1250" dirty="0"/>
          </a:p>
        </p:txBody>
      </p:sp>
      <p:sp>
        <p:nvSpPr>
          <p:cNvPr id="22" name="Shape 19"/>
          <p:cNvSpPr/>
          <p:nvPr/>
        </p:nvSpPr>
        <p:spPr>
          <a:xfrm>
            <a:off x="777240" y="5742432"/>
            <a:ext cx="10634472" cy="621792"/>
          </a:xfrm>
          <a:prstGeom prst="rect">
            <a:avLst/>
          </a:prstGeom>
          <a:solidFill>
            <a:srgbClr val="4BABA0"/>
          </a:solidFill>
          <a:ln/>
        </p:spPr>
      </p:sp>
      <p:sp>
        <p:nvSpPr>
          <p:cNvPr id="23" name="Text 20"/>
          <p:cNvSpPr txBox="1"/>
          <p:nvPr/>
        </p:nvSpPr>
        <p:spPr>
          <a:xfrm>
            <a:off x="978408" y="5815584"/>
            <a:ext cx="10232136" cy="475488"/>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El índice se usa una vez por cada fila del resultado: para muchas filas, el full scan puede salir más barato.</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7">
    <p:bg>
      <p:bgPr>
        <a:solidFill>
          <a:srgbClr val="83C8BD"/>
        </a:solidFill>
        <a:effectLst/>
      </p:bgPr>
    </p:bg>
    <p:spTree>
      <p:nvGrpSpPr>
        <p:cNvPr id="1" name=""/>
        <p:cNvGrpSpPr/>
        <p:nvPr/>
      </p:nvGrpSpPr>
      <p:grpSpPr>
        <a:xfrm>
          <a:off x="0" y="0"/>
          <a:ext cx="0" cy="0"/>
          <a:chOff x="0" y="0"/>
          <a:chExt cx="0" cy="0"/>
        </a:xfrm>
      </p:grpSpPr>
      <p:sp>
        <p:nvSpPr>
          <p:cNvPr id="2" name="Shape 0"/>
          <p:cNvSpPr/>
          <p:nvPr/>
        </p:nvSpPr>
        <p:spPr>
          <a:xfrm>
            <a:off x="292608" y="201168"/>
            <a:ext cx="11603736" cy="6455664"/>
          </a:xfrm>
          <a:prstGeom prst="roundRect">
            <a:avLst>
              <a:gd name="adj" fmla="val 779"/>
            </a:avLst>
          </a:prstGeom>
          <a:solidFill>
            <a:srgbClr val="FFFFFF"/>
          </a:solidFill>
          <a:ln w="50800">
            <a:solidFill>
              <a:srgbClr val="5A99D1"/>
            </a:solidFill>
            <a:prstDash val="solid"/>
          </a:ln>
        </p:spPr>
      </p:sp>
      <p:sp>
        <p:nvSpPr>
          <p:cNvPr id="3" name="Text 1"/>
          <p:cNvSpPr txBox="1"/>
          <p:nvPr/>
        </p:nvSpPr>
        <p:spPr>
          <a:xfrm>
            <a:off x="777240" y="420624"/>
            <a:ext cx="10634472" cy="502920"/>
          </a:xfrm>
          <a:prstGeom prst="rect">
            <a:avLst/>
          </a:prstGeom>
          <a:noFill/>
          <a:ln/>
        </p:spPr>
        <p:txBody>
          <a:bodyPr wrap="square" lIns="0" tIns="0" rIns="0" bIns="0" rtlCol="0" anchor="t"/>
          <a:lstStyle/>
          <a:p>
            <a:pPr marL="0" indent="0">
              <a:buNone/>
            </a:pPr>
            <a:r>
              <a:rPr lang="en-US" sz="3000" b="1" dirty="0">
                <a:solidFill>
                  <a:srgbClr val="DE6B12"/>
                </a:solidFill>
                <a:latin typeface="Arial" pitchFamily="34" charset="0"/>
                <a:ea typeface="Arial" pitchFamily="34" charset="-122"/>
                <a:cs typeface="Arial" pitchFamily="34" charset="-120"/>
              </a:rPr>
              <a:t>Ejercicio A1 </a:t>
            </a:r>
            <a:r>
              <a:rPr lang="en-US" sz="3000" b="1" dirty="0">
                <a:solidFill>
                  <a:srgbClr val="355D64"/>
                </a:solidFill>
                <a:latin typeface="Arial" pitchFamily="34" charset="0"/>
                <a:ea typeface="Arial" pitchFamily="34" charset="-122"/>
                <a:cs typeface="Arial" pitchFamily="34" charset="-120"/>
              </a:rPr>
              <a:t>· Transferencias</a:t>
            </a:r>
            <a:endParaRPr lang="en-US" sz="3000" dirty="0"/>
          </a:p>
        </p:txBody>
      </p:sp>
      <p:sp>
        <p:nvSpPr>
          <p:cNvPr id="4" name="Text 2"/>
          <p:cNvSpPr txBox="1"/>
          <p:nvPr/>
        </p:nvSpPr>
        <p:spPr>
          <a:xfrm>
            <a:off x="777240" y="941832"/>
            <a:ext cx="10634472" cy="274320"/>
          </a:xfrm>
          <a:prstGeom prst="rect">
            <a:avLst/>
          </a:prstGeom>
          <a:noFill/>
          <a:ln/>
        </p:spPr>
        <p:txBody>
          <a:bodyPr wrap="square" lIns="0" tIns="0" rIns="0" bIns="0" rtlCol="0" anchor="t"/>
          <a:lstStyle/>
          <a:p>
            <a:pPr marL="0" indent="0">
              <a:buNone/>
            </a:pPr>
            <a:r>
              <a:rPr lang="en-US" sz="1200" b="1" dirty="0">
                <a:solidFill>
                  <a:srgbClr val="355D64"/>
                </a:solidFill>
                <a:latin typeface="Arial" pitchFamily="34" charset="0"/>
                <a:ea typeface="Arial" pitchFamily="34" charset="-122"/>
                <a:cs typeface="Arial" pitchFamily="34" charset="-120"/>
              </a:rPr>
              <a:t>Costos de acceso físico · llaves e índices</a:t>
            </a:r>
            <a:endParaRPr lang="en-US" sz="1200" dirty="0"/>
          </a:p>
        </p:txBody>
      </p:sp>
      <p:sp>
        <p:nvSpPr>
          <p:cNvPr id="5" name="Shape 3"/>
          <p:cNvSpPr/>
          <p:nvPr/>
        </p:nvSpPr>
        <p:spPr>
          <a:xfrm>
            <a:off x="797118" y="1371600"/>
            <a:ext cx="10614594" cy="2264233"/>
          </a:xfrm>
          <a:prstGeom prst="rect">
            <a:avLst/>
          </a:prstGeom>
          <a:solidFill>
            <a:srgbClr val="EDEDED"/>
          </a:solidFill>
          <a:ln/>
        </p:spPr>
      </p:sp>
      <p:sp>
        <p:nvSpPr>
          <p:cNvPr id="6" name="Shape 4"/>
          <p:cNvSpPr/>
          <p:nvPr/>
        </p:nvSpPr>
        <p:spPr>
          <a:xfrm>
            <a:off x="777240" y="1371600"/>
            <a:ext cx="68580" cy="1707642"/>
          </a:xfrm>
          <a:prstGeom prst="rect">
            <a:avLst/>
          </a:prstGeom>
          <a:solidFill>
            <a:srgbClr val="4BABA0"/>
          </a:solidFill>
          <a:ln/>
        </p:spPr>
      </p:sp>
      <p:sp>
        <p:nvSpPr>
          <p:cNvPr id="7" name="Text 5"/>
          <p:cNvSpPr txBox="1"/>
          <p:nvPr/>
        </p:nvSpPr>
        <p:spPr>
          <a:xfrm>
            <a:off x="1008358" y="1499616"/>
            <a:ext cx="10218884" cy="1796166"/>
          </a:xfrm>
          <a:prstGeom prst="rect">
            <a:avLst/>
          </a:prstGeom>
          <a:noFill/>
          <a:ln/>
        </p:spPr>
        <p:txBody>
          <a:bodyPr wrap="square" lIns="0" tIns="0" rIns="0" bIns="0" rtlCol="0" anchor="t"/>
          <a:lstStyle/>
          <a:p>
            <a:pPr marL="0" indent="0">
              <a:lnSpc>
                <a:spcPct val="118000"/>
              </a:lnSpc>
              <a:buNone/>
            </a:pPr>
            <a:r>
              <a:rPr lang="en-US" sz="1200" dirty="0">
                <a:solidFill>
                  <a:srgbClr val="1F2430"/>
                </a:solidFill>
                <a:latin typeface="Consolas"/>
                <a:ea typeface="Consolas" pitchFamily="34" charset="-122"/>
                <a:cs typeface="Consolas" pitchFamily="34" charset="-120"/>
              </a:rPr>
              <a:t>SELECT t.folio, t.fecha, par1.descripcion AS 'tipo transferencia',</a:t>
            </a:r>
            <a:endParaRPr lang="en-US" sz="1200">
              <a:latin typeface="Consolas"/>
              <a:ea typeface="Calibri"/>
              <a:cs typeface="Calibri"/>
            </a:endParaRPr>
          </a:p>
          <a:p>
            <a:pPr marL="0" indent="0">
              <a:lnSpc>
                <a:spcPct val="118000"/>
              </a:lnSpc>
              <a:buNone/>
            </a:pPr>
            <a:r>
              <a:rPr lang="en-US" sz="1200" dirty="0">
                <a:solidFill>
                  <a:srgbClr val="1F2430"/>
                </a:solidFill>
                <a:latin typeface="Consolas"/>
                <a:ea typeface="Consolas" pitchFamily="34" charset="-122"/>
                <a:cs typeface="Consolas" pitchFamily="34" charset="-120"/>
              </a:rPr>
              <a:t>       ori.razonsocial, par2.descripcion AS 'tipo cuenta origen',</a:t>
            </a:r>
            <a:endParaRPr lang="en-US" sz="1200">
              <a:latin typeface="Consolas"/>
              <a:ea typeface="Calibri"/>
              <a:cs typeface="Calibri"/>
            </a:endParaRPr>
          </a:p>
          <a:p>
            <a:pPr marL="0" indent="0">
              <a:lnSpc>
                <a:spcPct val="118000"/>
              </a:lnSpc>
              <a:buNone/>
            </a:pPr>
            <a:r>
              <a:rPr lang="en-US" sz="1200" dirty="0">
                <a:solidFill>
                  <a:srgbClr val="1F2430"/>
                </a:solidFill>
                <a:latin typeface="Consolas"/>
                <a:ea typeface="Consolas" pitchFamily="34" charset="-122"/>
                <a:cs typeface="Consolas" pitchFamily="34" charset="-120"/>
              </a:rPr>
              <a:t>       des.razonsocial, par3.descripcion AS 'tipo cuenta destino', t.monto, t.moneda</a:t>
            </a:r>
            <a:endParaRPr lang="en-US" sz="1200">
              <a:latin typeface="Consolas"/>
              <a:ea typeface="Calibri"/>
              <a:cs typeface="Calibri"/>
            </a:endParaRPr>
          </a:p>
          <a:p>
            <a:pPr marL="0" indent="0">
              <a:lnSpc>
                <a:spcPct val="118000"/>
              </a:lnSpc>
              <a:buNone/>
            </a:pPr>
            <a:r>
              <a:rPr lang="en-US" sz="1200" dirty="0">
                <a:solidFill>
                  <a:srgbClr val="1F2430"/>
                </a:solidFill>
                <a:latin typeface="Consolas"/>
                <a:ea typeface="Consolas" pitchFamily="34" charset="-122"/>
                <a:cs typeface="Consolas" pitchFamily="34" charset="-120"/>
              </a:rPr>
              <a:t>FROM   </a:t>
            </a:r>
            <a:r>
              <a:rPr lang="en-US" sz="1200" b="1" dirty="0">
                <a:solidFill>
                  <a:srgbClr val="DE6B12"/>
                </a:solidFill>
                <a:latin typeface="Consolas"/>
                <a:ea typeface="Consolas" pitchFamily="34" charset="-122"/>
                <a:cs typeface="Consolas" pitchFamily="34" charset="-120"/>
              </a:rPr>
              <a:t>transferencia t, cuenta ori, cuenta des, parametro par1, parametro par2, parametro par3</a:t>
            </a:r>
            <a:endParaRPr lang="en-US" sz="1200">
              <a:latin typeface="Consolas"/>
              <a:ea typeface="Calibri"/>
              <a:cs typeface="Calibri"/>
            </a:endParaRPr>
          </a:p>
          <a:p>
            <a:pPr marL="0" indent="0">
              <a:lnSpc>
                <a:spcPct val="118000"/>
              </a:lnSpc>
              <a:buNone/>
            </a:pPr>
            <a:r>
              <a:rPr lang="en-US" sz="1200" dirty="0">
                <a:solidFill>
                  <a:srgbClr val="1F2430"/>
                </a:solidFill>
                <a:latin typeface="Consolas"/>
                <a:ea typeface="Consolas" pitchFamily="34" charset="-122"/>
                <a:cs typeface="Consolas" pitchFamily="34" charset="-120"/>
              </a:rPr>
              <a:t>WHERE  t.fecha &gt;= '2026-01-01' AND t.fecha &lt;= '2026-06-30'</a:t>
            </a:r>
            <a:endParaRPr lang="en-US" sz="1200">
              <a:latin typeface="Consolas"/>
              <a:ea typeface="Calibri"/>
              <a:cs typeface="Calibri"/>
            </a:endParaRPr>
          </a:p>
          <a:p>
            <a:pPr marL="0" indent="0">
              <a:lnSpc>
                <a:spcPct val="118000"/>
              </a:lnSpc>
              <a:buNone/>
            </a:pPr>
            <a:r>
              <a:rPr lang="en-US" sz="1200" dirty="0">
                <a:solidFill>
                  <a:srgbClr val="1F2430"/>
                </a:solidFill>
                <a:latin typeface="Consolas"/>
                <a:ea typeface="Consolas" pitchFamily="34" charset="-122"/>
                <a:cs typeface="Consolas" pitchFamily="34" charset="-120"/>
              </a:rPr>
              <a:t>  AND  t.cuenta_origen = ori.ctacod   AND  t.cuenta_destino = des.ctacod</a:t>
            </a:r>
            <a:endParaRPr lang="en-US" sz="1200">
              <a:latin typeface="Consolas"/>
              <a:ea typeface="Calibri"/>
              <a:cs typeface="Calibri"/>
            </a:endParaRPr>
          </a:p>
          <a:p>
            <a:pPr marL="0" indent="0">
              <a:lnSpc>
                <a:spcPct val="118000"/>
              </a:lnSpc>
              <a:buNone/>
            </a:pPr>
            <a:r>
              <a:rPr lang="en-US" sz="1200" dirty="0">
                <a:solidFill>
                  <a:srgbClr val="1F2430"/>
                </a:solidFill>
                <a:latin typeface="Consolas"/>
                <a:ea typeface="Consolas" pitchFamily="34" charset="-122"/>
                <a:cs typeface="Consolas" pitchFamily="34" charset="-120"/>
              </a:rPr>
              <a:t>  AND  (ori.razonsocial = 'BANCO SANTANDER CHILE' OR des.razonsocial = 'BANCO SANTANDER CHILE')</a:t>
            </a:r>
            <a:endParaRPr lang="en-US" sz="1200">
              <a:latin typeface="Consolas"/>
              <a:ea typeface="Calibri"/>
              <a:cs typeface="Calibri"/>
            </a:endParaRPr>
          </a:p>
          <a:p>
            <a:pPr marL="0" indent="0">
              <a:lnSpc>
                <a:spcPct val="118000"/>
              </a:lnSpc>
              <a:buNone/>
            </a:pPr>
            <a:r>
              <a:rPr lang="en-US" sz="1200" dirty="0">
                <a:solidFill>
                  <a:srgbClr val="1F2430"/>
                </a:solidFill>
                <a:latin typeface="Consolas"/>
                <a:ea typeface="Consolas" pitchFamily="34" charset="-122"/>
                <a:cs typeface="Consolas" pitchFamily="34" charset="-120"/>
              </a:rPr>
              <a:t>  AND  t.tipo = par1.codigo  AND  ori.tipocta = par2.codigo  AND  des.tipocta = par3.codigo</a:t>
            </a:r>
            <a:endParaRPr lang="en-US" sz="1200">
              <a:latin typeface="Consolas"/>
              <a:ea typeface="Calibri"/>
              <a:cs typeface="Calibri"/>
            </a:endParaRPr>
          </a:p>
          <a:p>
            <a:pPr marL="0" indent="0">
              <a:lnSpc>
                <a:spcPct val="118000"/>
              </a:lnSpc>
              <a:buNone/>
            </a:pPr>
            <a:r>
              <a:rPr lang="en-US" sz="1200" dirty="0">
                <a:solidFill>
                  <a:srgbClr val="1F2430"/>
                </a:solidFill>
                <a:latin typeface="Consolas"/>
                <a:ea typeface="Consolas" pitchFamily="34" charset="-122"/>
                <a:cs typeface="Consolas" pitchFamily="34" charset="-120"/>
              </a:rPr>
              <a:t>  AND  par1.tabla = 'TIPOTRF'  AND  par2.tabla = 'TIPOCTA'  AND  par3.tabla = 'TIPOCTA'</a:t>
            </a:r>
            <a:endParaRPr lang="en-US" sz="1200">
              <a:latin typeface="Consolas"/>
              <a:ea typeface="Calibri"/>
              <a:cs typeface="Calibri"/>
            </a:endParaRPr>
          </a:p>
        </p:txBody>
      </p:sp>
      <p:sp>
        <p:nvSpPr>
          <p:cNvPr id="8" name="Shape 6"/>
          <p:cNvSpPr/>
          <p:nvPr/>
        </p:nvSpPr>
        <p:spPr>
          <a:xfrm>
            <a:off x="777240" y="3657600"/>
            <a:ext cx="10634472" cy="457200"/>
          </a:xfrm>
          <a:prstGeom prst="rect">
            <a:avLst/>
          </a:prstGeom>
          <a:solidFill>
            <a:srgbClr val="EDEDED"/>
          </a:solidFill>
          <a:ln/>
        </p:spPr>
      </p:sp>
      <p:sp>
        <p:nvSpPr>
          <p:cNvPr id="9" name="Text 7"/>
          <p:cNvSpPr txBox="1"/>
          <p:nvPr/>
        </p:nvSpPr>
        <p:spPr>
          <a:xfrm>
            <a:off x="996696" y="3776472"/>
            <a:ext cx="914400" cy="237744"/>
          </a:xfrm>
          <a:prstGeom prst="rect">
            <a:avLst/>
          </a:prstGeom>
          <a:noFill/>
          <a:ln/>
        </p:spPr>
        <p:txBody>
          <a:bodyPr wrap="square" lIns="0" tIns="0" rIns="0" bIns="0" rtlCol="0" anchor="t"/>
          <a:lstStyle/>
          <a:p>
            <a:pPr marL="0" indent="0">
              <a:buNone/>
            </a:pPr>
            <a:r>
              <a:rPr lang="en-US" sz="1200" b="1" kern="0" spc="100" dirty="0">
                <a:solidFill>
                  <a:srgbClr val="DE6B12"/>
                </a:solidFill>
                <a:latin typeface="Arial" pitchFamily="34" charset="0"/>
                <a:ea typeface="Arial" pitchFamily="34" charset="-122"/>
                <a:cs typeface="Arial" pitchFamily="34" charset="-120"/>
              </a:rPr>
              <a:t>DATOS</a:t>
            </a:r>
            <a:endParaRPr lang="en-US" sz="1200" dirty="0"/>
          </a:p>
        </p:txBody>
      </p:sp>
      <p:sp>
        <p:nvSpPr>
          <p:cNvPr id="10" name="Text 8"/>
          <p:cNvSpPr txBox="1"/>
          <p:nvPr/>
        </p:nvSpPr>
        <p:spPr>
          <a:xfrm>
            <a:off x="1929384" y="3776472"/>
            <a:ext cx="9262872" cy="237744"/>
          </a:xfrm>
          <a:prstGeom prst="rect">
            <a:avLst/>
          </a:prstGeom>
          <a:noFill/>
          <a:ln/>
        </p:spPr>
        <p:txBody>
          <a:bodyPr wrap="square" lIns="0" tIns="0" rIns="0" bIns="0" rtlCol="0" anchor="t"/>
          <a:lstStyle/>
          <a:p>
            <a:pPr marL="0" indent="0">
              <a:buNone/>
            </a:pPr>
            <a:r>
              <a:rPr lang="en-US" sz="1250" dirty="0">
                <a:solidFill>
                  <a:srgbClr val="1A1A1A"/>
                </a:solidFill>
                <a:latin typeface="Arial" pitchFamily="34" charset="0"/>
                <a:ea typeface="Arial" pitchFamily="34" charset="-122"/>
                <a:cs typeface="Arial" pitchFamily="34" charset="-120"/>
              </a:rPr>
              <a:t>transferencia </a:t>
            </a:r>
            <a:r>
              <a:rPr lang="en-US" sz="1250" b="1" dirty="0">
                <a:solidFill>
                  <a:srgbClr val="238C82"/>
                </a:solidFill>
                <a:latin typeface="Arial" pitchFamily="34" charset="0"/>
                <a:ea typeface="Arial" pitchFamily="34" charset="-122"/>
                <a:cs typeface="Arial" pitchFamily="34" charset="-120"/>
              </a:rPr>
              <a:t>30.000.000</a:t>
            </a:r>
            <a:r>
              <a:rPr lang="en-US" sz="1250" dirty="0">
                <a:solidFill>
                  <a:srgbClr val="1A1A1A"/>
                </a:solidFill>
                <a:latin typeface="Arial" pitchFamily="34" charset="0"/>
                <a:ea typeface="Arial" pitchFamily="34" charset="-122"/>
                <a:cs typeface="Arial" pitchFamily="34" charset="-120"/>
              </a:rPr>
              <a:t>     cuenta </a:t>
            </a:r>
            <a:r>
              <a:rPr lang="en-US" sz="1250" b="1" dirty="0">
                <a:solidFill>
                  <a:srgbClr val="238C82"/>
                </a:solidFill>
                <a:latin typeface="Arial" pitchFamily="34" charset="0"/>
                <a:ea typeface="Arial" pitchFamily="34" charset="-122"/>
                <a:cs typeface="Arial" pitchFamily="34" charset="-120"/>
              </a:rPr>
              <a:t>2.000.000</a:t>
            </a:r>
            <a:r>
              <a:rPr lang="en-US" sz="1250" dirty="0">
                <a:solidFill>
                  <a:srgbClr val="1A1A1A"/>
                </a:solidFill>
                <a:latin typeface="Arial" pitchFamily="34" charset="0"/>
                <a:ea typeface="Arial" pitchFamily="34" charset="-122"/>
                <a:cs typeface="Arial" pitchFamily="34" charset="-120"/>
              </a:rPr>
              <a:t>     parametro </a:t>
            </a:r>
            <a:r>
              <a:rPr lang="en-US" sz="1250" b="1" dirty="0">
                <a:solidFill>
                  <a:srgbClr val="238C82"/>
                </a:solidFill>
                <a:latin typeface="Arial" pitchFamily="34" charset="0"/>
                <a:ea typeface="Arial" pitchFamily="34" charset="-122"/>
                <a:cs typeface="Arial" pitchFamily="34" charset="-120"/>
              </a:rPr>
              <a:t>4.000</a:t>
            </a:r>
            <a:r>
              <a:rPr lang="en-US" sz="1250" dirty="0">
                <a:solidFill>
                  <a:srgbClr val="1A1A1A"/>
                </a:solidFill>
                <a:latin typeface="Arial" pitchFamily="34" charset="0"/>
                <a:ea typeface="Arial" pitchFamily="34" charset="-122"/>
                <a:cs typeface="Arial" pitchFamily="34" charset="-120"/>
              </a:rPr>
              <a:t>     filas/bloque </a:t>
            </a:r>
            <a:r>
              <a:rPr lang="en-US" sz="1250" b="1" dirty="0">
                <a:solidFill>
                  <a:srgbClr val="238C82"/>
                </a:solidFill>
                <a:latin typeface="Arial" pitchFamily="34" charset="0"/>
                <a:ea typeface="Arial" pitchFamily="34" charset="-122"/>
                <a:cs typeface="Arial" pitchFamily="34" charset="-120"/>
              </a:rPr>
              <a:t>200</a:t>
            </a:r>
            <a:r>
              <a:rPr lang="en-US" sz="1250" dirty="0">
                <a:solidFill>
                  <a:srgbClr val="1A1A1A"/>
                </a:solidFill>
                <a:latin typeface="Arial" pitchFamily="34" charset="0"/>
                <a:ea typeface="Arial" pitchFamily="34" charset="-122"/>
                <a:cs typeface="Arial" pitchFamily="34" charset="-120"/>
              </a:rPr>
              <a:t>     orden del árbol </a:t>
            </a:r>
            <a:r>
              <a:rPr lang="en-US" sz="1250" b="1" dirty="0">
                <a:solidFill>
                  <a:srgbClr val="238C82"/>
                </a:solidFill>
                <a:latin typeface="Arial" pitchFamily="34" charset="0"/>
                <a:ea typeface="Arial" pitchFamily="34" charset="-122"/>
                <a:cs typeface="Arial" pitchFamily="34" charset="-120"/>
              </a:rPr>
              <a:t>10</a:t>
            </a:r>
            <a:endParaRPr lang="en-US" sz="1250" dirty="0"/>
          </a:p>
        </p:txBody>
      </p:sp>
      <p:sp>
        <p:nvSpPr>
          <p:cNvPr id="11" name="Text 9"/>
          <p:cNvSpPr txBox="1"/>
          <p:nvPr/>
        </p:nvSpPr>
        <p:spPr>
          <a:xfrm>
            <a:off x="777240" y="4315968"/>
            <a:ext cx="365760" cy="274320"/>
          </a:xfrm>
          <a:prstGeom prst="rect">
            <a:avLst/>
          </a:prstGeom>
          <a:noFill/>
          <a:ln/>
        </p:spPr>
        <p:txBody>
          <a:bodyPr wrap="square" lIns="0" tIns="0" rIns="0" bIns="0" rtlCol="0" anchor="t"/>
          <a:lstStyle/>
          <a:p>
            <a:pPr marL="0" indent="0">
              <a:buNone/>
            </a:pPr>
            <a:r>
              <a:rPr lang="en-US" sz="1300" b="1" dirty="0">
                <a:solidFill>
                  <a:srgbClr val="DE6B12"/>
                </a:solidFill>
                <a:latin typeface="Arial" pitchFamily="34" charset="0"/>
                <a:ea typeface="Arial" pitchFamily="34" charset="-122"/>
                <a:cs typeface="Arial" pitchFamily="34" charset="-120"/>
              </a:rPr>
              <a:t>a)</a:t>
            </a:r>
            <a:endParaRPr lang="en-US" sz="1300" dirty="0"/>
          </a:p>
        </p:txBody>
      </p:sp>
      <p:sp>
        <p:nvSpPr>
          <p:cNvPr id="12" name="Text 10"/>
          <p:cNvSpPr txBox="1"/>
          <p:nvPr/>
        </p:nvSpPr>
        <p:spPr>
          <a:xfrm>
            <a:off x="1161288" y="4315968"/>
            <a:ext cx="10250424" cy="292608"/>
          </a:xfrm>
          <a:prstGeom prst="rect">
            <a:avLst/>
          </a:prstGeom>
          <a:noFill/>
          <a:ln/>
        </p:spPr>
        <p:txBody>
          <a:bodyPr wrap="square" lIns="0" tIns="0" rIns="0" bIns="0" rtlCol="0" anchor="t"/>
          <a:lstStyle/>
          <a:p>
            <a:pPr marL="0" indent="0">
              <a:lnSpc>
                <a:spcPct val="112000"/>
              </a:lnSpc>
              <a:buNone/>
            </a:pPr>
            <a:r>
              <a:rPr lang="en-US" sz="1300" dirty="0">
                <a:solidFill>
                  <a:srgbClr val="1A1A1A"/>
                </a:solidFill>
                <a:latin typeface="Arial" pitchFamily="34" charset="0"/>
                <a:ea typeface="Arial" pitchFamily="34" charset="-122"/>
                <a:cs typeface="Arial" pitchFamily="34" charset="-120"/>
              </a:rPr>
              <a:t>Sin índices ni llaves de ningún tipo, determine el número de </a:t>
            </a:r>
            <a:r>
              <a:rPr lang="en-US" sz="1300" b="1" dirty="0">
                <a:solidFill>
                  <a:srgbClr val="355D64"/>
                </a:solidFill>
                <a:latin typeface="Arial" pitchFamily="34" charset="0"/>
                <a:ea typeface="Arial" pitchFamily="34" charset="-122"/>
                <a:cs typeface="Arial" pitchFamily="34" charset="-120"/>
              </a:rPr>
              <a:t>accesos físicos</a:t>
            </a:r>
            <a:r>
              <a:rPr lang="en-US" sz="1300" dirty="0">
                <a:solidFill>
                  <a:srgbClr val="1A1A1A"/>
                </a:solidFill>
                <a:latin typeface="Arial" pitchFamily="34" charset="0"/>
                <a:ea typeface="Arial" pitchFamily="34" charset="-122"/>
                <a:cs typeface="Arial" pitchFamily="34" charset="-120"/>
              </a:rPr>
              <a:t>.</a:t>
            </a:r>
            <a:endParaRPr lang="en-US" sz="1300" dirty="0"/>
          </a:p>
        </p:txBody>
      </p:sp>
      <p:sp>
        <p:nvSpPr>
          <p:cNvPr id="13" name="Text 11"/>
          <p:cNvSpPr txBox="1"/>
          <p:nvPr/>
        </p:nvSpPr>
        <p:spPr>
          <a:xfrm>
            <a:off x="777240" y="4645152"/>
            <a:ext cx="365760" cy="274320"/>
          </a:xfrm>
          <a:prstGeom prst="rect">
            <a:avLst/>
          </a:prstGeom>
          <a:noFill/>
          <a:ln/>
        </p:spPr>
        <p:txBody>
          <a:bodyPr wrap="square" lIns="0" tIns="0" rIns="0" bIns="0" rtlCol="0" anchor="t"/>
          <a:lstStyle/>
          <a:p>
            <a:pPr marL="0" indent="0">
              <a:buNone/>
            </a:pPr>
            <a:r>
              <a:rPr lang="en-US" sz="1300" b="1" dirty="0">
                <a:solidFill>
                  <a:srgbClr val="DE6B12"/>
                </a:solidFill>
                <a:latin typeface="Arial" pitchFamily="34" charset="0"/>
                <a:ea typeface="Arial" pitchFamily="34" charset="-122"/>
                <a:cs typeface="Arial" pitchFamily="34" charset="-120"/>
              </a:rPr>
              <a:t>b)</a:t>
            </a:r>
            <a:endParaRPr lang="en-US" sz="1300" dirty="0"/>
          </a:p>
        </p:txBody>
      </p:sp>
      <p:sp>
        <p:nvSpPr>
          <p:cNvPr id="14" name="Text 12"/>
          <p:cNvSpPr txBox="1"/>
          <p:nvPr/>
        </p:nvSpPr>
        <p:spPr>
          <a:xfrm>
            <a:off x="1161288" y="4645152"/>
            <a:ext cx="10250424" cy="292608"/>
          </a:xfrm>
          <a:prstGeom prst="rect">
            <a:avLst/>
          </a:prstGeom>
          <a:noFill/>
          <a:ln/>
        </p:spPr>
        <p:txBody>
          <a:bodyPr wrap="square" lIns="0" tIns="0" rIns="0" bIns="0" rtlCol="0" anchor="t"/>
          <a:lstStyle/>
          <a:p>
            <a:pPr marL="0" indent="0">
              <a:lnSpc>
                <a:spcPct val="112000"/>
              </a:lnSpc>
              <a:buNone/>
            </a:pPr>
            <a:r>
              <a:rPr lang="en-US" sz="1300" dirty="0">
                <a:solidFill>
                  <a:srgbClr val="1A1A1A"/>
                </a:solidFill>
                <a:latin typeface="Arial" pitchFamily="34" charset="0"/>
                <a:ea typeface="Arial" pitchFamily="34" charset="-122"/>
                <a:cs typeface="Arial" pitchFamily="34" charset="-120"/>
              </a:rPr>
              <a:t>Defina las </a:t>
            </a:r>
            <a:r>
              <a:rPr lang="en-US" sz="1300" b="1" dirty="0">
                <a:solidFill>
                  <a:srgbClr val="355D64"/>
                </a:solidFill>
                <a:latin typeface="Arial" pitchFamily="34" charset="0"/>
                <a:ea typeface="Arial" pitchFamily="34" charset="-122"/>
                <a:cs typeface="Arial" pitchFamily="34" charset="-120"/>
              </a:rPr>
              <a:t>llaves e índices</a:t>
            </a:r>
            <a:r>
              <a:rPr lang="en-US" sz="1300" dirty="0">
                <a:solidFill>
                  <a:srgbClr val="1A1A1A"/>
                </a:solidFill>
                <a:latin typeface="Arial" pitchFamily="34" charset="0"/>
                <a:ea typeface="Arial" pitchFamily="34" charset="-122"/>
                <a:cs typeface="Arial" pitchFamily="34" charset="-120"/>
              </a:rPr>
              <a:t> necesarios y calcule los accesos por registro buscado.</a:t>
            </a:r>
            <a:endParaRPr lang="en-US" sz="1300" dirty="0"/>
          </a:p>
        </p:txBody>
      </p:sp>
      <p:sp>
        <p:nvSpPr>
          <p:cNvPr id="15" name="Shape 13"/>
          <p:cNvSpPr/>
          <p:nvPr/>
        </p:nvSpPr>
        <p:spPr>
          <a:xfrm>
            <a:off x="777240" y="5742432"/>
            <a:ext cx="10634472" cy="621792"/>
          </a:xfrm>
          <a:prstGeom prst="rect">
            <a:avLst/>
          </a:prstGeom>
          <a:solidFill>
            <a:srgbClr val="EDEDED"/>
          </a:solidFill>
          <a:ln/>
        </p:spPr>
      </p:sp>
      <p:sp>
        <p:nvSpPr>
          <p:cNvPr id="16" name="Text 14"/>
          <p:cNvSpPr txBox="1"/>
          <p:nvPr/>
        </p:nvSpPr>
        <p:spPr>
          <a:xfrm>
            <a:off x="978408" y="5815584"/>
            <a:ext cx="10232136" cy="475488"/>
          </a:xfrm>
          <a:prstGeom prst="rect">
            <a:avLst/>
          </a:prstGeom>
          <a:noFill/>
          <a:ln/>
        </p:spPr>
        <p:txBody>
          <a:bodyPr wrap="square" lIns="0" tIns="0" rIns="0" bIns="0" rtlCol="0" anchor="ctr"/>
          <a:lstStyle/>
          <a:p>
            <a:pPr marL="0" indent="0">
              <a:buNone/>
            </a:pPr>
            <a:r>
              <a:rPr lang="en-US" sz="1350" b="1" dirty="0">
                <a:solidFill>
                  <a:srgbClr val="1A1A1A"/>
                </a:solidFill>
                <a:latin typeface="Arial" pitchFamily="34" charset="0"/>
                <a:ea typeface="Arial" pitchFamily="34" charset="-122"/>
                <a:cs typeface="Arial" pitchFamily="34" charset="-120"/>
              </a:rPr>
              <a:t>Antes de calcular nada: ¿cuántos </a:t>
            </a:r>
            <a:r>
              <a:rPr lang="en-US" sz="1350" b="1" dirty="0">
                <a:solidFill>
                  <a:srgbClr val="DE6B12"/>
                </a:solidFill>
                <a:latin typeface="Arial" pitchFamily="34" charset="0"/>
                <a:ea typeface="Arial" pitchFamily="34" charset="-122"/>
                <a:cs typeface="Arial" pitchFamily="34" charset="-120"/>
              </a:rPr>
              <a:t>alias</a:t>
            </a:r>
            <a:r>
              <a:rPr lang="en-US" sz="1350" b="1" dirty="0">
                <a:solidFill>
                  <a:srgbClr val="1A1A1A"/>
                </a:solidFill>
                <a:latin typeface="Arial" pitchFamily="34" charset="0"/>
                <a:ea typeface="Arial" pitchFamily="34" charset="-122"/>
                <a:cs typeface="Arial" pitchFamily="34" charset="-120"/>
              </a:rPr>
              <a:t> tiene cada tabla en el FROM?</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8">
    <p:bg>
      <p:bgPr>
        <a:solidFill>
          <a:srgbClr val="83C8BD"/>
        </a:solidFill>
        <a:effectLst/>
      </p:bgPr>
    </p:bg>
    <p:spTree>
      <p:nvGrpSpPr>
        <p:cNvPr id="1" name=""/>
        <p:cNvGrpSpPr/>
        <p:nvPr/>
      </p:nvGrpSpPr>
      <p:grpSpPr>
        <a:xfrm>
          <a:off x="0" y="0"/>
          <a:ext cx="0" cy="0"/>
          <a:chOff x="0" y="0"/>
          <a:chExt cx="0" cy="0"/>
        </a:xfrm>
      </p:grpSpPr>
      <p:sp>
        <p:nvSpPr>
          <p:cNvPr id="2" name="Shape 0"/>
          <p:cNvSpPr/>
          <p:nvPr/>
        </p:nvSpPr>
        <p:spPr>
          <a:xfrm>
            <a:off x="292608" y="201168"/>
            <a:ext cx="11603736" cy="6455664"/>
          </a:xfrm>
          <a:prstGeom prst="roundRect">
            <a:avLst>
              <a:gd name="adj" fmla="val 779"/>
            </a:avLst>
          </a:prstGeom>
          <a:solidFill>
            <a:srgbClr val="FFFFFF"/>
          </a:solidFill>
          <a:ln w="50800">
            <a:solidFill>
              <a:srgbClr val="5A99D1"/>
            </a:solidFill>
            <a:prstDash val="solid"/>
          </a:ln>
        </p:spPr>
      </p:sp>
      <p:sp>
        <p:nvSpPr>
          <p:cNvPr id="3" name="Text 1"/>
          <p:cNvSpPr txBox="1"/>
          <p:nvPr/>
        </p:nvSpPr>
        <p:spPr>
          <a:xfrm>
            <a:off x="777240" y="420624"/>
            <a:ext cx="10634472" cy="502920"/>
          </a:xfrm>
          <a:prstGeom prst="rect">
            <a:avLst/>
          </a:prstGeom>
          <a:noFill/>
          <a:ln/>
        </p:spPr>
        <p:txBody>
          <a:bodyPr wrap="square" lIns="0" tIns="0" rIns="0" bIns="0" rtlCol="0" anchor="t"/>
          <a:lstStyle/>
          <a:p>
            <a:pPr marL="0" indent="0">
              <a:buNone/>
            </a:pPr>
            <a:r>
              <a:rPr lang="en-US" sz="3000" b="1" dirty="0">
                <a:solidFill>
                  <a:srgbClr val="DE6B12"/>
                </a:solidFill>
                <a:latin typeface="Arial" pitchFamily="34" charset="0"/>
                <a:ea typeface="Arial" pitchFamily="34" charset="-122"/>
                <a:cs typeface="Arial" pitchFamily="34" charset="-120"/>
              </a:rPr>
              <a:t>A1 · Paso a paso</a:t>
            </a:r>
            <a:endParaRPr lang="en-US" sz="3000" dirty="0"/>
          </a:p>
        </p:txBody>
      </p:sp>
      <p:pic>
        <p:nvPicPr>
          <p:cNvPr id="4" name="Image 0" descr="/home/claude/memes/gato_lee.png"/>
          <p:cNvPicPr>
            <a:picLocks noChangeAspect="1"/>
          </p:cNvPicPr>
          <p:nvPr/>
        </p:nvPicPr>
        <p:blipFill>
          <a:blip r:embed="rId3"/>
          <a:stretch>
            <a:fillRect/>
          </a:stretch>
        </p:blipFill>
        <p:spPr>
          <a:xfrm>
            <a:off x="10469880" y="310896"/>
            <a:ext cx="1024128" cy="1005840"/>
          </a:xfrm>
          <a:prstGeom prst="rect">
            <a:avLst/>
          </a:prstGeom>
        </p:spPr>
      </p:pic>
      <p:sp>
        <p:nvSpPr>
          <p:cNvPr id="5" name="Shape 2"/>
          <p:cNvSpPr/>
          <p:nvPr/>
        </p:nvSpPr>
        <p:spPr>
          <a:xfrm>
            <a:off x="797118" y="1417320"/>
            <a:ext cx="5100762" cy="3511296"/>
          </a:xfrm>
          <a:prstGeom prst="rect">
            <a:avLst/>
          </a:prstGeom>
          <a:solidFill>
            <a:srgbClr val="EDEDED"/>
          </a:solidFill>
          <a:ln/>
        </p:spPr>
      </p:sp>
      <p:sp>
        <p:nvSpPr>
          <p:cNvPr id="6" name="Shape 3"/>
          <p:cNvSpPr/>
          <p:nvPr/>
        </p:nvSpPr>
        <p:spPr>
          <a:xfrm>
            <a:off x="777240" y="1417320"/>
            <a:ext cx="68580" cy="1682496"/>
          </a:xfrm>
          <a:prstGeom prst="rect">
            <a:avLst/>
          </a:prstGeom>
          <a:solidFill>
            <a:srgbClr val="4BABA0"/>
          </a:solidFill>
          <a:ln/>
        </p:spPr>
      </p:sp>
      <p:sp>
        <p:nvSpPr>
          <p:cNvPr id="7" name="Text 4"/>
          <p:cNvSpPr txBox="1"/>
          <p:nvPr/>
        </p:nvSpPr>
        <p:spPr>
          <a:xfrm>
            <a:off x="1014984" y="1545336"/>
            <a:ext cx="4718304" cy="3162498"/>
          </a:xfrm>
          <a:prstGeom prst="rect">
            <a:avLst/>
          </a:prstGeom>
          <a:noFill/>
          <a:ln/>
        </p:spPr>
        <p:txBody>
          <a:bodyPr wrap="square" lIns="0" tIns="0" rIns="0" bIns="0" rtlCol="0" anchor="t"/>
          <a:lstStyle/>
          <a:p>
            <a:pPr marL="0" indent="0">
              <a:lnSpc>
                <a:spcPct val="118000"/>
              </a:lnSpc>
              <a:buNone/>
            </a:pPr>
            <a:r>
              <a:rPr lang="en-US" sz="1600" dirty="0">
                <a:solidFill>
                  <a:srgbClr val="1F2430"/>
                </a:solidFill>
                <a:latin typeface="Consolas"/>
                <a:ea typeface="Consolas" pitchFamily="34" charset="-122"/>
                <a:cs typeface="Consolas" pitchFamily="34" charset="-120"/>
              </a:rPr>
              <a:t>(a) SIN INDICES  (bloques = reg / 200)</a:t>
            </a:r>
            <a:endParaRPr lang="en-US" sz="1600">
              <a:latin typeface="Consolas"/>
              <a:ea typeface="Calibri"/>
              <a:cs typeface="Calibri"/>
            </a:endParaRPr>
          </a:p>
          <a:p>
            <a:pPr marL="0" indent="0">
              <a:lnSpc>
                <a:spcPct val="118000"/>
              </a:lnSpc>
              <a:buNone/>
            </a:pPr>
            <a:r>
              <a:rPr lang="en-US" sz="1600" dirty="0">
                <a:solidFill>
                  <a:srgbClr val="1F2430"/>
                </a:solidFill>
                <a:latin typeface="Consolas"/>
                <a:ea typeface="Consolas" pitchFamily="34" charset="-122"/>
                <a:cs typeface="Consolas" pitchFamily="34" charset="-120"/>
              </a:rPr>
              <a:t> </a:t>
            </a:r>
            <a:endParaRPr lang="en-US" sz="1600">
              <a:latin typeface="Consolas"/>
              <a:ea typeface="Calibri"/>
              <a:cs typeface="Calibri"/>
            </a:endParaRPr>
          </a:p>
          <a:p>
            <a:pPr marL="0" indent="0">
              <a:lnSpc>
                <a:spcPct val="118000"/>
              </a:lnSpc>
              <a:buNone/>
            </a:pPr>
            <a:r>
              <a:rPr lang="en-US" sz="1600" dirty="0">
                <a:solidFill>
                  <a:srgbClr val="1F2430"/>
                </a:solidFill>
                <a:latin typeface="Consolas"/>
                <a:ea typeface="Consolas" pitchFamily="34" charset="-122"/>
                <a:cs typeface="Consolas" pitchFamily="34" charset="-120"/>
              </a:rPr>
              <a:t>transferencia 1 x 150.000 = 150.000</a:t>
            </a:r>
            <a:endParaRPr lang="en-US" sz="1600">
              <a:latin typeface="Consolas"/>
              <a:ea typeface="Calibri"/>
              <a:cs typeface="Calibri"/>
            </a:endParaRPr>
          </a:p>
          <a:p>
            <a:pPr marL="0" indent="0">
              <a:lnSpc>
                <a:spcPct val="118000"/>
              </a:lnSpc>
              <a:buNone/>
            </a:pPr>
            <a:r>
              <a:rPr lang="en-US" sz="1600" dirty="0">
                <a:solidFill>
                  <a:srgbClr val="1F2430"/>
                </a:solidFill>
                <a:latin typeface="Consolas"/>
                <a:ea typeface="Consolas" pitchFamily="34" charset="-122"/>
                <a:cs typeface="Consolas" pitchFamily="34" charset="-120"/>
              </a:rPr>
              <a:t>cuenta        2 x  10.000 =  20.000</a:t>
            </a:r>
            <a:endParaRPr lang="en-US" sz="1600">
              <a:latin typeface="Consolas"/>
              <a:ea typeface="Calibri"/>
              <a:cs typeface="Calibri"/>
            </a:endParaRPr>
          </a:p>
          <a:p>
            <a:pPr marL="0" indent="0">
              <a:lnSpc>
                <a:spcPct val="118000"/>
              </a:lnSpc>
              <a:buNone/>
            </a:pPr>
            <a:r>
              <a:rPr lang="en-US" sz="1600" dirty="0">
                <a:solidFill>
                  <a:srgbClr val="1F2430"/>
                </a:solidFill>
                <a:latin typeface="Consolas"/>
                <a:ea typeface="Consolas" pitchFamily="34" charset="-122"/>
                <a:cs typeface="Consolas" pitchFamily="34" charset="-120"/>
              </a:rPr>
              <a:t>parametro     3 x      20 =      60</a:t>
            </a:r>
            <a:endParaRPr lang="en-US" sz="1600">
              <a:latin typeface="Consolas"/>
              <a:ea typeface="Calibri"/>
              <a:cs typeface="Calibri"/>
            </a:endParaRPr>
          </a:p>
          <a:p>
            <a:pPr marL="0" indent="0">
              <a:lnSpc>
                <a:spcPct val="118000"/>
              </a:lnSpc>
              <a:buNone/>
            </a:pPr>
            <a:r>
              <a:rPr lang="en-US" sz="1600" dirty="0">
                <a:solidFill>
                  <a:srgbClr val="1F2430"/>
                </a:solidFill>
                <a:latin typeface="Consolas"/>
                <a:ea typeface="Consolas" pitchFamily="34" charset="-122"/>
                <a:cs typeface="Consolas" pitchFamily="34" charset="-120"/>
              </a:rPr>
              <a:t>                           --------</a:t>
            </a:r>
            <a:endParaRPr lang="en-US" sz="1600">
              <a:latin typeface="Consolas"/>
              <a:ea typeface="Calibri"/>
              <a:cs typeface="Calibri"/>
            </a:endParaRPr>
          </a:p>
          <a:p>
            <a:pPr marL="0" indent="0">
              <a:lnSpc>
                <a:spcPct val="118000"/>
              </a:lnSpc>
              <a:buNone/>
            </a:pPr>
            <a:r>
              <a:rPr lang="en-US" sz="1600" dirty="0">
                <a:solidFill>
                  <a:srgbClr val="1F2430"/>
                </a:solidFill>
                <a:latin typeface="Consolas"/>
                <a:ea typeface="Consolas" pitchFamily="34" charset="-122"/>
                <a:cs typeface="Consolas" pitchFamily="34" charset="-120"/>
              </a:rPr>
              <a:t>TOTAL                    </a:t>
            </a:r>
            <a:r>
              <a:rPr lang="en-US" sz="1600" b="1" dirty="0">
                <a:solidFill>
                  <a:srgbClr val="DE6B12"/>
                </a:solidFill>
                <a:latin typeface="Consolas"/>
                <a:ea typeface="Consolas" pitchFamily="34" charset="-122"/>
                <a:cs typeface="Consolas" pitchFamily="34" charset="-120"/>
              </a:rPr>
              <a:t>= 170.060</a:t>
            </a:r>
            <a:endParaRPr lang="en-US" sz="1600">
              <a:latin typeface="Consolas"/>
              <a:ea typeface="Calibri"/>
              <a:cs typeface="Calibri"/>
            </a:endParaRPr>
          </a:p>
        </p:txBody>
      </p:sp>
      <p:sp>
        <p:nvSpPr>
          <p:cNvPr id="8" name="Shape 5"/>
          <p:cNvSpPr/>
          <p:nvPr/>
        </p:nvSpPr>
        <p:spPr>
          <a:xfrm>
            <a:off x="6192078" y="1417320"/>
            <a:ext cx="5219634" cy="3284551"/>
          </a:xfrm>
          <a:prstGeom prst="rect">
            <a:avLst/>
          </a:prstGeom>
          <a:solidFill>
            <a:srgbClr val="EDEDED"/>
          </a:solidFill>
          <a:ln/>
        </p:spPr>
      </p:sp>
      <p:sp>
        <p:nvSpPr>
          <p:cNvPr id="9" name="Shape 6"/>
          <p:cNvSpPr/>
          <p:nvPr/>
        </p:nvSpPr>
        <p:spPr>
          <a:xfrm>
            <a:off x="6172200" y="1417320"/>
            <a:ext cx="68580" cy="2118360"/>
          </a:xfrm>
          <a:prstGeom prst="rect">
            <a:avLst/>
          </a:prstGeom>
          <a:solidFill>
            <a:srgbClr val="4BABA0"/>
          </a:solidFill>
          <a:ln/>
        </p:spPr>
      </p:sp>
      <p:sp>
        <p:nvSpPr>
          <p:cNvPr id="10" name="Text 7"/>
          <p:cNvSpPr txBox="1"/>
          <p:nvPr/>
        </p:nvSpPr>
        <p:spPr>
          <a:xfrm>
            <a:off x="6409944" y="1545336"/>
            <a:ext cx="4837176" cy="1862328"/>
          </a:xfrm>
          <a:prstGeom prst="rect">
            <a:avLst/>
          </a:prstGeom>
          <a:noFill/>
          <a:ln/>
        </p:spPr>
        <p:txBody>
          <a:bodyPr wrap="square" lIns="0" tIns="0" rIns="0" bIns="0" rtlCol="0" anchor="t"/>
          <a:lstStyle/>
          <a:p>
            <a:pPr marL="0" indent="0">
              <a:lnSpc>
                <a:spcPct val="118000"/>
              </a:lnSpc>
              <a:buNone/>
            </a:pPr>
            <a:r>
              <a:rPr lang="en-US" sz="1400" dirty="0">
                <a:solidFill>
                  <a:srgbClr val="1F2430"/>
                </a:solidFill>
                <a:latin typeface="Consolas"/>
                <a:ea typeface="Consolas" pitchFamily="34" charset="-122"/>
                <a:cs typeface="Consolas" pitchFamily="34" charset="-120"/>
              </a:rPr>
              <a:t>(b) LLAVES</a:t>
            </a:r>
            <a:endParaRPr lang="en-US" sz="1400">
              <a:latin typeface="Consolas"/>
              <a:ea typeface="Calibri"/>
              <a:cs typeface="Calibri"/>
            </a:endParaRPr>
          </a:p>
          <a:p>
            <a:pPr marL="0" indent="0">
              <a:lnSpc>
                <a:spcPct val="118000"/>
              </a:lnSpc>
              <a:buNone/>
            </a:pPr>
            <a:r>
              <a:rPr lang="en-US" sz="1400" dirty="0">
                <a:solidFill>
                  <a:srgbClr val="1F2430"/>
                </a:solidFill>
                <a:latin typeface="Consolas"/>
                <a:ea typeface="Consolas" pitchFamily="34" charset="-122"/>
                <a:cs typeface="Consolas" pitchFamily="34" charset="-120"/>
              </a:rPr>
              <a:t>transferencia  PK folio</a:t>
            </a:r>
            <a:endParaRPr lang="en-US" sz="1400">
              <a:latin typeface="Consolas"/>
              <a:ea typeface="Calibri"/>
              <a:cs typeface="Calibri"/>
            </a:endParaRPr>
          </a:p>
          <a:p>
            <a:pPr marL="0" indent="0">
              <a:lnSpc>
                <a:spcPct val="118000"/>
              </a:lnSpc>
              <a:buNone/>
            </a:pPr>
            <a:r>
              <a:rPr lang="en-US" sz="1400" dirty="0">
                <a:solidFill>
                  <a:srgbClr val="1F2430"/>
                </a:solidFill>
                <a:latin typeface="Consolas"/>
                <a:ea typeface="Consolas" pitchFamily="34" charset="-122"/>
                <a:cs typeface="Consolas" pitchFamily="34" charset="-120"/>
              </a:rPr>
              <a:t>               FK cuenta_origen, cuenta_destino, tipo</a:t>
            </a:r>
            <a:endParaRPr lang="en-US" sz="1400">
              <a:latin typeface="Consolas"/>
              <a:ea typeface="Calibri"/>
              <a:cs typeface="Calibri"/>
            </a:endParaRPr>
          </a:p>
          <a:p>
            <a:pPr marL="0" indent="0">
              <a:lnSpc>
                <a:spcPct val="118000"/>
              </a:lnSpc>
              <a:buNone/>
            </a:pPr>
            <a:r>
              <a:rPr lang="en-US" sz="1400" dirty="0">
                <a:solidFill>
                  <a:srgbClr val="1F2430"/>
                </a:solidFill>
                <a:latin typeface="Consolas"/>
                <a:ea typeface="Consolas" pitchFamily="34" charset="-122"/>
                <a:cs typeface="Consolas" pitchFamily="34" charset="-120"/>
              </a:rPr>
              <a:t>cuenta         PK ctacod · FK tipocta</a:t>
            </a:r>
            <a:endParaRPr lang="en-US" sz="1400">
              <a:latin typeface="Consolas"/>
              <a:ea typeface="Calibri"/>
              <a:cs typeface="Calibri"/>
            </a:endParaRPr>
          </a:p>
          <a:p>
            <a:pPr marL="0" indent="0">
              <a:lnSpc>
                <a:spcPct val="118000"/>
              </a:lnSpc>
              <a:buNone/>
            </a:pPr>
            <a:r>
              <a:rPr lang="en-US" sz="1400" dirty="0">
                <a:solidFill>
                  <a:srgbClr val="1F2430"/>
                </a:solidFill>
                <a:latin typeface="Consolas"/>
                <a:ea typeface="Consolas" pitchFamily="34" charset="-122"/>
                <a:cs typeface="Consolas" pitchFamily="34" charset="-120"/>
              </a:rPr>
              <a:t>parametro      PK </a:t>
            </a:r>
            <a:r>
              <a:rPr lang="en-US" sz="1400" b="1" dirty="0">
                <a:solidFill>
                  <a:srgbClr val="DE6B12"/>
                </a:solidFill>
                <a:latin typeface="Consolas"/>
                <a:ea typeface="Consolas" pitchFamily="34" charset="-122"/>
                <a:cs typeface="Consolas" pitchFamily="34" charset="-120"/>
              </a:rPr>
              <a:t>(codigo, tabla)</a:t>
            </a:r>
            <a:endParaRPr lang="en-US" sz="1400">
              <a:latin typeface="Consolas"/>
              <a:ea typeface="Calibri"/>
              <a:cs typeface="Calibri"/>
            </a:endParaRPr>
          </a:p>
          <a:p>
            <a:pPr marL="0" indent="0">
              <a:lnSpc>
                <a:spcPct val="118000"/>
              </a:lnSpc>
              <a:buNone/>
            </a:pPr>
            <a:r>
              <a:rPr lang="en-US" sz="1400" dirty="0">
                <a:solidFill>
                  <a:srgbClr val="1F2430"/>
                </a:solidFill>
                <a:latin typeface="Consolas"/>
                <a:ea typeface="Consolas" pitchFamily="34" charset="-122"/>
                <a:cs typeface="Consolas" pitchFamily="34" charset="-120"/>
              </a:rPr>
              <a:t> </a:t>
            </a:r>
            <a:endParaRPr lang="en-US" sz="1400">
              <a:latin typeface="Consolas"/>
              <a:ea typeface="Calibri"/>
              <a:cs typeface="Calibri"/>
            </a:endParaRPr>
          </a:p>
          <a:p>
            <a:pPr marL="0" indent="0">
              <a:lnSpc>
                <a:spcPct val="118000"/>
              </a:lnSpc>
              <a:buNone/>
            </a:pPr>
            <a:r>
              <a:rPr lang="en-US" sz="1400" dirty="0">
                <a:solidFill>
                  <a:srgbClr val="1F2430"/>
                </a:solidFill>
                <a:latin typeface="Consolas"/>
                <a:ea typeface="Consolas" pitchFamily="34" charset="-122"/>
                <a:cs typeface="Consolas" pitchFamily="34" charset="-120"/>
              </a:rPr>
              <a:t>INDICES  transferencia(fecha, cuentas)</a:t>
            </a:r>
            <a:endParaRPr lang="en-US" sz="1400">
              <a:latin typeface="Consolas"/>
              <a:ea typeface="Calibri"/>
              <a:cs typeface="Calibri"/>
            </a:endParaRPr>
          </a:p>
          <a:p>
            <a:pPr marL="0" indent="0">
              <a:lnSpc>
                <a:spcPct val="118000"/>
              </a:lnSpc>
              <a:buNone/>
            </a:pPr>
            <a:r>
              <a:rPr lang="en-US" sz="1400" dirty="0">
                <a:solidFill>
                  <a:srgbClr val="1F2430"/>
                </a:solidFill>
                <a:latin typeface="Consolas"/>
                <a:ea typeface="Consolas" pitchFamily="34" charset="-122"/>
                <a:cs typeface="Consolas" pitchFamily="34" charset="-120"/>
              </a:rPr>
              <a:t>         cuenta(razonsocial)</a:t>
            </a:r>
            <a:endParaRPr lang="en-US" sz="1400">
              <a:latin typeface="Consolas"/>
              <a:ea typeface="Calibri"/>
              <a:cs typeface="Calibri"/>
            </a:endParaRPr>
          </a:p>
          <a:p>
            <a:pPr marL="0" indent="0">
              <a:lnSpc>
                <a:spcPct val="118000"/>
              </a:lnSpc>
              <a:buNone/>
            </a:pPr>
            <a:r>
              <a:rPr lang="en-US" sz="1400" dirty="0">
                <a:solidFill>
                  <a:srgbClr val="1F2430"/>
                </a:solidFill>
                <a:latin typeface="Consolas"/>
                <a:ea typeface="Consolas" pitchFamily="34" charset="-122"/>
                <a:cs typeface="Consolas" pitchFamily="34" charset="-120"/>
              </a:rPr>
              <a:t> </a:t>
            </a:r>
            <a:endParaRPr lang="en-US" sz="1400">
              <a:latin typeface="Consolas"/>
              <a:ea typeface="Calibri"/>
              <a:cs typeface="Calibri"/>
            </a:endParaRPr>
          </a:p>
          <a:p>
            <a:pPr marL="0" indent="0">
              <a:lnSpc>
                <a:spcPct val="118000"/>
              </a:lnSpc>
              <a:buNone/>
            </a:pPr>
            <a:r>
              <a:rPr lang="en-US" sz="1400" dirty="0">
                <a:solidFill>
                  <a:srgbClr val="1F2430"/>
                </a:solidFill>
                <a:latin typeface="Consolas"/>
                <a:ea typeface="Consolas" pitchFamily="34" charset="-122"/>
                <a:cs typeface="Consolas" pitchFamily="34" charset="-120"/>
              </a:rPr>
              <a:t>ALTURA   h = </a:t>
            </a:r>
            <a:r>
              <a:rPr lang="en-US" sz="1400" b="1" dirty="0">
                <a:solidFill>
                  <a:srgbClr val="DE6B12"/>
                </a:solidFill>
                <a:latin typeface="Consolas"/>
                <a:ea typeface="Consolas" pitchFamily="34" charset="-122"/>
                <a:cs typeface="Consolas" pitchFamily="34" charset="-120"/>
              </a:rPr>
              <a:t>8</a:t>
            </a:r>
            <a:r>
              <a:rPr lang="en-US" sz="1400" dirty="0">
                <a:solidFill>
                  <a:srgbClr val="1F2430"/>
                </a:solidFill>
                <a:latin typeface="Consolas"/>
                <a:ea typeface="Consolas" pitchFamily="34" charset="-122"/>
                <a:cs typeface="Consolas" pitchFamily="34" charset="-120"/>
              </a:rPr>
              <a:t> · </a:t>
            </a:r>
            <a:r>
              <a:rPr lang="en-US" sz="1400" b="1" dirty="0">
                <a:solidFill>
                  <a:srgbClr val="DE6B12"/>
                </a:solidFill>
                <a:latin typeface="Consolas"/>
                <a:ea typeface="Consolas" pitchFamily="34" charset="-122"/>
                <a:cs typeface="Consolas" pitchFamily="34" charset="-120"/>
              </a:rPr>
              <a:t>7</a:t>
            </a:r>
            <a:r>
              <a:rPr lang="en-US" sz="1400" dirty="0">
                <a:solidFill>
                  <a:srgbClr val="1F2430"/>
                </a:solidFill>
                <a:latin typeface="Consolas"/>
                <a:ea typeface="Consolas" pitchFamily="34" charset="-122"/>
                <a:cs typeface="Consolas" pitchFamily="34" charset="-120"/>
              </a:rPr>
              <a:t> · </a:t>
            </a:r>
            <a:r>
              <a:rPr lang="en-US" sz="1400" b="1" dirty="0">
                <a:solidFill>
                  <a:srgbClr val="DE6B12"/>
                </a:solidFill>
                <a:latin typeface="Consolas"/>
                <a:ea typeface="Consolas" pitchFamily="34" charset="-122"/>
                <a:cs typeface="Consolas" pitchFamily="34" charset="-120"/>
              </a:rPr>
              <a:t>4</a:t>
            </a:r>
            <a:endParaRPr lang="en-US" sz="1400">
              <a:latin typeface="Consolas"/>
              <a:ea typeface="Calibri"/>
              <a:cs typeface="Calibri"/>
            </a:endParaRPr>
          </a:p>
        </p:txBody>
      </p:sp>
      <p:sp>
        <p:nvSpPr>
          <p:cNvPr id="11" name="Shape 8"/>
          <p:cNvSpPr/>
          <p:nvPr/>
        </p:nvSpPr>
        <p:spPr>
          <a:xfrm>
            <a:off x="777240" y="5742432"/>
            <a:ext cx="10634472" cy="621792"/>
          </a:xfrm>
          <a:prstGeom prst="rect">
            <a:avLst/>
          </a:prstGeom>
          <a:solidFill>
            <a:srgbClr val="EDEDED"/>
          </a:solidFill>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9">
    <p:bg>
      <p:bgPr>
        <a:solidFill>
          <a:srgbClr val="83C8BD"/>
        </a:solidFill>
        <a:effectLst/>
      </p:bgPr>
    </p:bg>
    <p:spTree>
      <p:nvGrpSpPr>
        <p:cNvPr id="1" name=""/>
        <p:cNvGrpSpPr/>
        <p:nvPr/>
      </p:nvGrpSpPr>
      <p:grpSpPr>
        <a:xfrm>
          <a:off x="0" y="0"/>
          <a:ext cx="0" cy="0"/>
          <a:chOff x="0" y="0"/>
          <a:chExt cx="0" cy="0"/>
        </a:xfrm>
      </p:grpSpPr>
      <p:sp>
        <p:nvSpPr>
          <p:cNvPr id="2" name="Shape 0"/>
          <p:cNvSpPr/>
          <p:nvPr/>
        </p:nvSpPr>
        <p:spPr>
          <a:xfrm>
            <a:off x="292608" y="201168"/>
            <a:ext cx="11603736" cy="6455664"/>
          </a:xfrm>
          <a:prstGeom prst="roundRect">
            <a:avLst>
              <a:gd name="adj" fmla="val 779"/>
            </a:avLst>
          </a:prstGeom>
          <a:solidFill>
            <a:srgbClr val="FFFFFF"/>
          </a:solidFill>
          <a:ln w="50800">
            <a:solidFill>
              <a:srgbClr val="5A99D1"/>
            </a:solidFill>
            <a:prstDash val="solid"/>
          </a:ln>
        </p:spPr>
      </p:sp>
      <p:sp>
        <p:nvSpPr>
          <p:cNvPr id="3" name="Text 1"/>
          <p:cNvSpPr txBox="1"/>
          <p:nvPr/>
        </p:nvSpPr>
        <p:spPr>
          <a:xfrm>
            <a:off x="777240" y="420624"/>
            <a:ext cx="10634472" cy="502920"/>
          </a:xfrm>
          <a:prstGeom prst="rect">
            <a:avLst/>
          </a:prstGeom>
          <a:noFill/>
          <a:ln/>
        </p:spPr>
        <p:txBody>
          <a:bodyPr wrap="square" lIns="0" tIns="0" rIns="0" bIns="0" rtlCol="0" anchor="t"/>
          <a:lstStyle/>
          <a:p>
            <a:pPr marL="0" indent="0">
              <a:buNone/>
            </a:pPr>
            <a:r>
              <a:rPr lang="en-US" sz="3000" b="1" dirty="0">
                <a:solidFill>
                  <a:srgbClr val="DE6B12"/>
                </a:solidFill>
                <a:latin typeface="Arial" pitchFamily="34" charset="0"/>
                <a:ea typeface="Arial" pitchFamily="34" charset="-122"/>
                <a:cs typeface="Arial" pitchFamily="34" charset="-120"/>
              </a:rPr>
              <a:t>Erratas del formulario</a:t>
            </a:r>
            <a:endParaRPr lang="en-US" sz="3000" dirty="0"/>
          </a:p>
        </p:txBody>
      </p:sp>
      <p:sp>
        <p:nvSpPr>
          <p:cNvPr id="4" name="Text 2"/>
          <p:cNvSpPr txBox="1"/>
          <p:nvPr/>
        </p:nvSpPr>
        <p:spPr>
          <a:xfrm>
            <a:off x="777240" y="941832"/>
            <a:ext cx="10634472" cy="274320"/>
          </a:xfrm>
          <a:prstGeom prst="rect">
            <a:avLst/>
          </a:prstGeom>
          <a:noFill/>
          <a:ln/>
        </p:spPr>
        <p:txBody>
          <a:bodyPr wrap="square" lIns="0" tIns="0" rIns="0" bIns="0" rtlCol="0" anchor="t"/>
          <a:lstStyle/>
          <a:p>
            <a:pPr marL="0" indent="0">
              <a:buNone/>
            </a:pPr>
            <a:r>
              <a:rPr lang="en-US" sz="1200" b="1" dirty="0">
                <a:solidFill>
                  <a:srgbClr val="355D64"/>
                </a:solidFill>
                <a:latin typeface="Arial" pitchFamily="34" charset="0"/>
                <a:ea typeface="Arial" pitchFamily="34" charset="-122"/>
                <a:cs typeface="Arial" pitchFamily="34" charset="-120"/>
              </a:rPr>
              <a:t>Están en la hoja oficial. Corríjanlas con lápiz</a:t>
            </a:r>
            <a:endParaRPr lang="en-US" sz="1200" dirty="0"/>
          </a:p>
        </p:txBody>
      </p:sp>
      <p:sp>
        <p:nvSpPr>
          <p:cNvPr id="5" name="Shape 3"/>
          <p:cNvSpPr/>
          <p:nvPr/>
        </p:nvSpPr>
        <p:spPr>
          <a:xfrm>
            <a:off x="797118" y="1606826"/>
            <a:ext cx="10381355" cy="3707958"/>
          </a:xfrm>
          <a:prstGeom prst="rect">
            <a:avLst/>
          </a:prstGeom>
          <a:solidFill>
            <a:srgbClr val="EDEDED"/>
          </a:solidFill>
          <a:ln/>
        </p:spPr>
      </p:sp>
      <p:sp>
        <p:nvSpPr>
          <p:cNvPr id="6" name="Shape 4"/>
          <p:cNvSpPr/>
          <p:nvPr/>
        </p:nvSpPr>
        <p:spPr>
          <a:xfrm>
            <a:off x="671223" y="1613452"/>
            <a:ext cx="148093" cy="3741088"/>
          </a:xfrm>
          <a:prstGeom prst="rect">
            <a:avLst/>
          </a:prstGeom>
          <a:solidFill>
            <a:srgbClr val="4BABA0"/>
          </a:solidFill>
          <a:ln/>
        </p:spPr>
      </p:sp>
      <p:sp>
        <p:nvSpPr>
          <p:cNvPr id="7" name="Text 5"/>
          <p:cNvSpPr txBox="1"/>
          <p:nvPr/>
        </p:nvSpPr>
        <p:spPr>
          <a:xfrm>
            <a:off x="996696" y="1737360"/>
            <a:ext cx="4855464" cy="292608"/>
          </a:xfrm>
          <a:prstGeom prst="rect">
            <a:avLst/>
          </a:prstGeom>
          <a:noFill/>
          <a:ln/>
        </p:spPr>
        <p:txBody>
          <a:bodyPr wrap="square" lIns="0" tIns="0" rIns="0" bIns="0" rtlCol="0" anchor="t"/>
          <a:lstStyle/>
          <a:p>
            <a:pPr marL="0" indent="0">
              <a:buNone/>
            </a:pPr>
            <a:r>
              <a:rPr lang="en-US" sz="2000" b="1" dirty="0">
                <a:solidFill>
                  <a:srgbClr val="DE6B12"/>
                </a:solidFill>
                <a:latin typeface="Arial"/>
                <a:ea typeface="Arial" pitchFamily="34" charset="-122"/>
                <a:cs typeface="Arial"/>
              </a:rPr>
              <a:t>1 · Unidades mezcladas</a:t>
            </a:r>
            <a:endParaRPr lang="en-US" sz="2000">
              <a:latin typeface="Arial"/>
              <a:ea typeface="Calibri"/>
              <a:cs typeface="Calibri"/>
            </a:endParaRPr>
          </a:p>
        </p:txBody>
      </p:sp>
      <p:sp>
        <p:nvSpPr>
          <p:cNvPr id="8" name="Text 6"/>
          <p:cNvSpPr txBox="1"/>
          <p:nvPr/>
        </p:nvSpPr>
        <p:spPr>
          <a:xfrm>
            <a:off x="996696" y="2442641"/>
            <a:ext cx="6763777" cy="986624"/>
          </a:xfrm>
          <a:prstGeom prst="rect">
            <a:avLst/>
          </a:prstGeom>
          <a:noFill/>
          <a:ln/>
        </p:spPr>
        <p:txBody>
          <a:bodyPr wrap="square" lIns="0" tIns="0" rIns="0" bIns="0" rtlCol="0" anchor="t"/>
          <a:lstStyle/>
          <a:p>
            <a:pPr marL="0" indent="0">
              <a:lnSpc>
                <a:spcPct val="116000"/>
              </a:lnSpc>
              <a:buNone/>
            </a:pPr>
            <a:r>
              <a:rPr lang="en-US" dirty="0">
                <a:solidFill>
                  <a:srgbClr val="1A1A1A"/>
                </a:solidFill>
                <a:latin typeface="Arial"/>
                <a:ea typeface="Arial" pitchFamily="34" charset="-122"/>
                <a:cs typeface="Arial"/>
              </a:rPr>
              <a:t>Declara 1 GB = 1.024 MB, pero la pauta calcula en decimal. Usen </a:t>
            </a:r>
            <a:r>
              <a:rPr lang="en-US" b="1" dirty="0">
                <a:solidFill>
                  <a:srgbClr val="DE6B12"/>
                </a:solidFill>
                <a:latin typeface="Arial"/>
                <a:ea typeface="Arial" pitchFamily="34" charset="-122"/>
                <a:cs typeface="Arial"/>
              </a:rPr>
              <a:t>÷1.000</a:t>
            </a:r>
            <a:r>
              <a:rPr lang="en-US" dirty="0">
                <a:solidFill>
                  <a:srgbClr val="1A1A1A"/>
                </a:solidFill>
                <a:latin typeface="Arial"/>
                <a:ea typeface="Arial" pitchFamily="34" charset="-122"/>
                <a:cs typeface="Arial"/>
              </a:rPr>
              <a:t> y escriban el supuesto.</a:t>
            </a:r>
            <a:endParaRPr lang="en-US">
              <a:solidFill>
                <a:srgbClr val="000000"/>
              </a:solidFill>
              <a:latin typeface="Calibri"/>
              <a:ea typeface="Calibri"/>
              <a:cs typeface="Calibri"/>
            </a:endParaRPr>
          </a:p>
          <a:p>
            <a:pPr>
              <a:lnSpc>
                <a:spcPct val="115999"/>
              </a:lnSpc>
            </a:pPr>
            <a:endParaRPr lang="en-US" dirty="0">
              <a:solidFill>
                <a:srgbClr val="1A1A1A"/>
              </a:solidFill>
              <a:latin typeface="Arial"/>
              <a:ea typeface="Calibri"/>
              <a:cs typeface="Arial"/>
            </a:endParaRPr>
          </a:p>
          <a:p>
            <a:pPr>
              <a:lnSpc>
                <a:spcPct val="115999"/>
              </a:lnSpc>
            </a:pPr>
            <a:r>
              <a:rPr lang="en-US" dirty="0">
                <a:solidFill>
                  <a:srgbClr val="1A1A1A"/>
                </a:solidFill>
                <a:latin typeface="Arial"/>
                <a:ea typeface="Calibri"/>
                <a:cs typeface="Arial"/>
              </a:rPr>
              <a:t>1 TB = 1.024 GB, </a:t>
            </a:r>
            <a:r>
              <a:rPr lang="en-US" dirty="0" err="1">
                <a:solidFill>
                  <a:srgbClr val="1A1A1A"/>
                </a:solidFill>
                <a:latin typeface="Arial"/>
                <a:ea typeface="Calibri"/>
                <a:cs typeface="Arial"/>
              </a:rPr>
              <a:t>pero</a:t>
            </a:r>
            <a:r>
              <a:rPr lang="en-US" dirty="0">
                <a:solidFill>
                  <a:srgbClr val="1A1A1A"/>
                </a:solidFill>
                <a:latin typeface="Arial"/>
                <a:ea typeface="Calibri"/>
                <a:cs typeface="Arial"/>
              </a:rPr>
              <a:t> </a:t>
            </a:r>
            <a:r>
              <a:rPr lang="en-US" dirty="0" err="1">
                <a:solidFill>
                  <a:srgbClr val="1A1A1A"/>
                </a:solidFill>
                <a:latin typeface="Arial"/>
                <a:ea typeface="Calibri"/>
                <a:cs typeface="Arial"/>
              </a:rPr>
              <a:t>tambien</a:t>
            </a:r>
            <a:r>
              <a:rPr lang="en-US" dirty="0">
                <a:solidFill>
                  <a:srgbClr val="1A1A1A"/>
                </a:solidFill>
                <a:latin typeface="Arial"/>
                <a:ea typeface="Calibri"/>
                <a:cs typeface="Arial"/>
              </a:rPr>
              <a:t> </a:t>
            </a:r>
            <a:r>
              <a:rPr lang="en-US" dirty="0" err="1">
                <a:solidFill>
                  <a:srgbClr val="1A1A1A"/>
                </a:solidFill>
                <a:latin typeface="Arial"/>
                <a:ea typeface="Calibri"/>
                <a:cs typeface="Arial"/>
              </a:rPr>
              <a:t>pueden</a:t>
            </a:r>
            <a:r>
              <a:rPr lang="en-US" dirty="0">
                <a:solidFill>
                  <a:srgbClr val="1A1A1A"/>
                </a:solidFill>
                <a:latin typeface="Arial"/>
                <a:ea typeface="Calibri"/>
                <a:cs typeface="Arial"/>
              </a:rPr>
              <a:t> usar 1.000 GB</a:t>
            </a:r>
          </a:p>
        </p:txBody>
      </p:sp>
      <p:sp>
        <p:nvSpPr>
          <p:cNvPr id="21" name="Shape 19"/>
          <p:cNvSpPr/>
          <p:nvPr/>
        </p:nvSpPr>
        <p:spPr>
          <a:xfrm>
            <a:off x="777240" y="5742432"/>
            <a:ext cx="10634472" cy="621792"/>
          </a:xfrm>
          <a:prstGeom prst="rect">
            <a:avLst/>
          </a:prstGeom>
          <a:solidFill>
            <a:srgbClr val="EDEDED"/>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0">
    <p:bg>
      <p:bgPr>
        <a:solidFill>
          <a:srgbClr val="83C8BD"/>
        </a:solidFill>
        <a:effectLst/>
      </p:bgPr>
    </p:bg>
    <p:spTree>
      <p:nvGrpSpPr>
        <p:cNvPr id="1" name=""/>
        <p:cNvGrpSpPr/>
        <p:nvPr/>
      </p:nvGrpSpPr>
      <p:grpSpPr>
        <a:xfrm>
          <a:off x="0" y="0"/>
          <a:ext cx="0" cy="0"/>
          <a:chOff x="0" y="0"/>
          <a:chExt cx="0" cy="0"/>
        </a:xfrm>
      </p:grpSpPr>
      <p:sp>
        <p:nvSpPr>
          <p:cNvPr id="2" name="Shape 0"/>
          <p:cNvSpPr/>
          <p:nvPr/>
        </p:nvSpPr>
        <p:spPr>
          <a:xfrm>
            <a:off x="292608" y="201168"/>
            <a:ext cx="11603736" cy="6455664"/>
          </a:xfrm>
          <a:prstGeom prst="roundRect">
            <a:avLst>
              <a:gd name="adj" fmla="val 779"/>
            </a:avLst>
          </a:prstGeom>
          <a:solidFill>
            <a:srgbClr val="FFFFFF"/>
          </a:solidFill>
          <a:ln w="50800">
            <a:solidFill>
              <a:srgbClr val="5A99D1"/>
            </a:solidFill>
            <a:prstDash val="solid"/>
          </a:ln>
        </p:spPr>
      </p:sp>
      <p:sp>
        <p:nvSpPr>
          <p:cNvPr id="3" name="Text 1"/>
          <p:cNvSpPr txBox="1"/>
          <p:nvPr/>
        </p:nvSpPr>
        <p:spPr>
          <a:xfrm>
            <a:off x="777240" y="420624"/>
            <a:ext cx="10634472" cy="502920"/>
          </a:xfrm>
          <a:prstGeom prst="rect">
            <a:avLst/>
          </a:prstGeom>
          <a:noFill/>
          <a:ln/>
        </p:spPr>
        <p:txBody>
          <a:bodyPr wrap="square" lIns="0" tIns="0" rIns="0" bIns="0" rtlCol="0" anchor="t"/>
          <a:lstStyle/>
          <a:p>
            <a:pPr marL="0" indent="0">
              <a:buNone/>
            </a:pPr>
            <a:r>
              <a:rPr lang="en-US" sz="3000" b="1" dirty="0">
                <a:solidFill>
                  <a:srgbClr val="DE6B12"/>
                </a:solidFill>
                <a:latin typeface="Arial" pitchFamily="34" charset="0"/>
                <a:ea typeface="Arial" pitchFamily="34" charset="-122"/>
                <a:cs typeface="Arial" pitchFamily="34" charset="-120"/>
              </a:rPr>
              <a:t>Las 5 trampas</a:t>
            </a:r>
            <a:endParaRPr lang="en-US" sz="3000" dirty="0"/>
          </a:p>
        </p:txBody>
      </p:sp>
      <p:sp>
        <p:nvSpPr>
          <p:cNvPr id="4" name="Text 2"/>
          <p:cNvSpPr txBox="1"/>
          <p:nvPr/>
        </p:nvSpPr>
        <p:spPr>
          <a:xfrm>
            <a:off x="777240" y="941832"/>
            <a:ext cx="10634472" cy="274320"/>
          </a:xfrm>
          <a:prstGeom prst="rect">
            <a:avLst/>
          </a:prstGeom>
          <a:noFill/>
          <a:ln/>
        </p:spPr>
        <p:txBody>
          <a:bodyPr wrap="square" lIns="0" tIns="0" rIns="0" bIns="0" rtlCol="0" anchor="t"/>
          <a:lstStyle/>
          <a:p>
            <a:pPr marL="0" indent="0">
              <a:buNone/>
            </a:pPr>
            <a:r>
              <a:rPr lang="en-US" sz="1200" b="1" dirty="0">
                <a:solidFill>
                  <a:srgbClr val="355D64"/>
                </a:solidFill>
                <a:latin typeface="Arial" pitchFamily="34" charset="0"/>
                <a:ea typeface="Arial" pitchFamily="34" charset="-122"/>
                <a:cs typeface="Arial" pitchFamily="34" charset="-120"/>
              </a:rPr>
              <a:t>Revísenlas antes de entregar la prueba</a:t>
            </a:r>
            <a:endParaRPr lang="en-US" sz="1200" dirty="0"/>
          </a:p>
        </p:txBody>
      </p:sp>
      <p:sp>
        <p:nvSpPr>
          <p:cNvPr id="5" name="Shape 3"/>
          <p:cNvSpPr/>
          <p:nvPr/>
        </p:nvSpPr>
        <p:spPr>
          <a:xfrm>
            <a:off x="777240" y="1463040"/>
            <a:ext cx="384048" cy="384048"/>
          </a:xfrm>
          <a:prstGeom prst="ellipse">
            <a:avLst/>
          </a:prstGeom>
          <a:solidFill>
            <a:srgbClr val="DE6B12"/>
          </a:solidFill>
          <a:ln/>
        </p:spPr>
      </p:sp>
      <p:sp>
        <p:nvSpPr>
          <p:cNvPr id="6" name="Text 4"/>
          <p:cNvSpPr txBox="1"/>
          <p:nvPr/>
        </p:nvSpPr>
        <p:spPr>
          <a:xfrm>
            <a:off x="777240" y="1517904"/>
            <a:ext cx="384048" cy="274320"/>
          </a:xfrm>
          <a:prstGeom prst="rect">
            <a:avLst/>
          </a:prstGeom>
          <a:noFill/>
          <a:ln/>
        </p:spPr>
        <p:txBody>
          <a:bodyPr wrap="square" lIns="0" tIns="0" rIns="0" bIns="0" rtlCol="0" anchor="t"/>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1325880" y="1517904"/>
            <a:ext cx="6858000" cy="457200"/>
          </a:xfrm>
          <a:prstGeom prst="rect">
            <a:avLst/>
          </a:prstGeom>
          <a:noFill/>
          <a:ln/>
        </p:spPr>
        <p:txBody>
          <a:bodyPr wrap="square" lIns="0" tIns="0" rIns="0" bIns="0" rtlCol="0" anchor="t"/>
          <a:lstStyle/>
          <a:p>
            <a:pPr marL="0" indent="0">
              <a:lnSpc>
                <a:spcPct val="112000"/>
              </a:lnSpc>
              <a:buNone/>
            </a:pPr>
            <a:r>
              <a:rPr lang="en-US" sz="1300" dirty="0">
                <a:solidFill>
                  <a:srgbClr val="1A1A1A"/>
                </a:solidFill>
                <a:latin typeface="Arial" pitchFamily="34" charset="0"/>
                <a:ea typeface="Arial" pitchFamily="34" charset="-122"/>
                <a:cs typeface="Arial" pitchFamily="34" charset="-120"/>
              </a:rPr>
              <a:t>Lee el </a:t>
            </a:r>
            <a:r>
              <a:rPr lang="en-US" sz="1300" b="1" dirty="0">
                <a:solidFill>
                  <a:srgbClr val="355D64"/>
                </a:solidFill>
                <a:latin typeface="Arial" pitchFamily="34" charset="0"/>
                <a:ea typeface="Arial" pitchFamily="34" charset="-122"/>
                <a:cs typeface="Arial" pitchFamily="34" charset="-120"/>
              </a:rPr>
              <a:t>factor de replicación del enunciado</a:t>
            </a:r>
            <a:r>
              <a:rPr lang="en-US" sz="1300" dirty="0">
                <a:solidFill>
                  <a:srgbClr val="1A1A1A"/>
                </a:solidFill>
                <a:latin typeface="Arial" pitchFamily="34" charset="0"/>
                <a:ea typeface="Arial" pitchFamily="34" charset="-122"/>
                <a:cs typeface="Arial" pitchFamily="34" charset="-120"/>
              </a:rPr>
              <a:t>. El 3 es solo el valor por defecto.</a:t>
            </a:r>
            <a:endParaRPr lang="en-US" sz="1300" dirty="0"/>
          </a:p>
        </p:txBody>
      </p:sp>
      <p:sp>
        <p:nvSpPr>
          <p:cNvPr id="8" name="Shape 6"/>
          <p:cNvSpPr/>
          <p:nvPr/>
        </p:nvSpPr>
        <p:spPr>
          <a:xfrm>
            <a:off x="777240" y="2231136"/>
            <a:ext cx="384048" cy="384048"/>
          </a:xfrm>
          <a:prstGeom prst="ellipse">
            <a:avLst/>
          </a:prstGeom>
          <a:solidFill>
            <a:srgbClr val="DE6B12"/>
          </a:solidFill>
          <a:ln/>
        </p:spPr>
      </p:sp>
      <p:sp>
        <p:nvSpPr>
          <p:cNvPr id="9" name="Text 7"/>
          <p:cNvSpPr txBox="1"/>
          <p:nvPr/>
        </p:nvSpPr>
        <p:spPr>
          <a:xfrm>
            <a:off x="777240" y="2286000"/>
            <a:ext cx="384048" cy="274320"/>
          </a:xfrm>
          <a:prstGeom prst="rect">
            <a:avLst/>
          </a:prstGeom>
          <a:noFill/>
          <a:ln/>
        </p:spPr>
        <p:txBody>
          <a:bodyPr wrap="square" lIns="0" tIns="0" rIns="0" bIns="0" rtlCol="0" anchor="t"/>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325880" y="2286000"/>
            <a:ext cx="6858000" cy="457200"/>
          </a:xfrm>
          <a:prstGeom prst="rect">
            <a:avLst/>
          </a:prstGeom>
          <a:noFill/>
          <a:ln/>
        </p:spPr>
        <p:txBody>
          <a:bodyPr wrap="square" lIns="0" tIns="0" rIns="0" bIns="0" rtlCol="0" anchor="t"/>
          <a:lstStyle/>
          <a:p>
            <a:pPr marL="0" indent="0">
              <a:lnSpc>
                <a:spcPct val="112000"/>
              </a:lnSpc>
              <a:buNone/>
            </a:pPr>
            <a:r>
              <a:rPr lang="en-US" sz="1300" b="1" dirty="0">
                <a:solidFill>
                  <a:srgbClr val="355D64"/>
                </a:solidFill>
                <a:latin typeface="Arial" pitchFamily="34" charset="0"/>
                <a:ea typeface="Arial" pitchFamily="34" charset="-122"/>
                <a:cs typeface="Arial" pitchFamily="34" charset="-120"/>
              </a:rPr>
              <a:t>Redondea hacia arriba</a:t>
            </a:r>
            <a:r>
              <a:rPr lang="en-US" sz="1300" dirty="0">
                <a:solidFill>
                  <a:srgbClr val="1A1A1A"/>
                </a:solidFill>
                <a:latin typeface="Arial" pitchFamily="34" charset="0"/>
                <a:ea typeface="Arial" pitchFamily="34" charset="-122"/>
                <a:cs typeface="Arial" pitchFamily="34" charset="-120"/>
              </a:rPr>
              <a:t> nodos, bloques de HDFS y altura del árbol. Siempre.</a:t>
            </a:r>
            <a:endParaRPr lang="en-US" sz="1300" dirty="0"/>
          </a:p>
        </p:txBody>
      </p:sp>
      <p:sp>
        <p:nvSpPr>
          <p:cNvPr id="11" name="Shape 9"/>
          <p:cNvSpPr/>
          <p:nvPr/>
        </p:nvSpPr>
        <p:spPr>
          <a:xfrm>
            <a:off x="777240" y="2999232"/>
            <a:ext cx="384048" cy="384048"/>
          </a:xfrm>
          <a:prstGeom prst="ellipse">
            <a:avLst/>
          </a:prstGeom>
          <a:solidFill>
            <a:srgbClr val="DE6B12"/>
          </a:solidFill>
          <a:ln/>
        </p:spPr>
      </p:sp>
      <p:sp>
        <p:nvSpPr>
          <p:cNvPr id="12" name="Text 10"/>
          <p:cNvSpPr txBox="1"/>
          <p:nvPr/>
        </p:nvSpPr>
        <p:spPr>
          <a:xfrm>
            <a:off x="777240" y="3054096"/>
            <a:ext cx="384048" cy="274320"/>
          </a:xfrm>
          <a:prstGeom prst="rect">
            <a:avLst/>
          </a:prstGeom>
          <a:noFill/>
          <a:ln/>
        </p:spPr>
        <p:txBody>
          <a:bodyPr wrap="square" lIns="0" tIns="0" rIns="0" bIns="0" rtlCol="0" anchor="t"/>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3" name="Text 11"/>
          <p:cNvSpPr txBox="1"/>
          <p:nvPr/>
        </p:nvSpPr>
        <p:spPr>
          <a:xfrm>
            <a:off x="1325880" y="3054096"/>
            <a:ext cx="6858000" cy="457200"/>
          </a:xfrm>
          <a:prstGeom prst="rect">
            <a:avLst/>
          </a:prstGeom>
          <a:noFill/>
          <a:ln/>
        </p:spPr>
        <p:txBody>
          <a:bodyPr wrap="square" lIns="0" tIns="0" rIns="0" bIns="0" rtlCol="0" anchor="t"/>
          <a:lstStyle/>
          <a:p>
            <a:pPr marL="0" indent="0">
              <a:lnSpc>
                <a:spcPct val="112000"/>
              </a:lnSpc>
              <a:buNone/>
            </a:pPr>
            <a:r>
              <a:rPr lang="en-US" sz="1300" dirty="0">
                <a:solidFill>
                  <a:srgbClr val="1A1A1A"/>
                </a:solidFill>
                <a:latin typeface="Arial" pitchFamily="34" charset="0"/>
                <a:ea typeface="Arial" pitchFamily="34" charset="-122"/>
                <a:cs typeface="Arial" pitchFamily="34" charset="-120"/>
              </a:rPr>
              <a:t>El </a:t>
            </a:r>
            <a:r>
              <a:rPr lang="en-US" sz="1300" b="1" dirty="0">
                <a:solidFill>
                  <a:srgbClr val="355D64"/>
                </a:solidFill>
                <a:latin typeface="Arial" pitchFamily="34" charset="0"/>
                <a:ea typeface="Arial" pitchFamily="34" charset="-122"/>
                <a:cs typeface="Arial" pitchFamily="34" charset="-120"/>
              </a:rPr>
              <a:t>último bloque de HDFS</a:t>
            </a:r>
            <a:r>
              <a:rPr lang="en-US" sz="1300" dirty="0">
                <a:solidFill>
                  <a:srgbClr val="1A1A1A"/>
                </a:solidFill>
                <a:latin typeface="Arial" pitchFamily="34" charset="0"/>
                <a:ea typeface="Arial" pitchFamily="34" charset="-122"/>
                <a:cs typeface="Arial" pitchFamily="34" charset="-120"/>
              </a:rPr>
              <a:t> no ocupa 128 MB: ocupa lo que mide.</a:t>
            </a:r>
            <a:endParaRPr lang="en-US" sz="1300" dirty="0"/>
          </a:p>
        </p:txBody>
      </p:sp>
      <p:sp>
        <p:nvSpPr>
          <p:cNvPr id="14" name="Shape 12"/>
          <p:cNvSpPr/>
          <p:nvPr/>
        </p:nvSpPr>
        <p:spPr>
          <a:xfrm>
            <a:off x="777240" y="3767328"/>
            <a:ext cx="384048" cy="384048"/>
          </a:xfrm>
          <a:prstGeom prst="ellipse">
            <a:avLst/>
          </a:prstGeom>
          <a:solidFill>
            <a:srgbClr val="DE6B12"/>
          </a:solidFill>
          <a:ln/>
        </p:spPr>
      </p:sp>
      <p:sp>
        <p:nvSpPr>
          <p:cNvPr id="15" name="Text 13"/>
          <p:cNvSpPr txBox="1"/>
          <p:nvPr/>
        </p:nvSpPr>
        <p:spPr>
          <a:xfrm>
            <a:off x="777240" y="3822192"/>
            <a:ext cx="384048" cy="274320"/>
          </a:xfrm>
          <a:prstGeom prst="rect">
            <a:avLst/>
          </a:prstGeom>
          <a:noFill/>
          <a:ln/>
        </p:spPr>
        <p:txBody>
          <a:bodyPr wrap="square" lIns="0" tIns="0" rIns="0" bIns="0" rtlCol="0" anchor="t"/>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6" name="Text 14"/>
          <p:cNvSpPr txBox="1"/>
          <p:nvPr/>
        </p:nvSpPr>
        <p:spPr>
          <a:xfrm>
            <a:off x="1325880" y="3822192"/>
            <a:ext cx="6858000" cy="457200"/>
          </a:xfrm>
          <a:prstGeom prst="rect">
            <a:avLst/>
          </a:prstGeom>
          <a:noFill/>
          <a:ln/>
        </p:spPr>
        <p:txBody>
          <a:bodyPr wrap="square" lIns="0" tIns="0" rIns="0" bIns="0" rtlCol="0" anchor="t"/>
          <a:lstStyle/>
          <a:p>
            <a:pPr marL="0" indent="0">
              <a:lnSpc>
                <a:spcPct val="112000"/>
              </a:lnSpc>
              <a:buNone/>
            </a:pPr>
            <a:r>
              <a:rPr lang="en-US" sz="1300" b="1" dirty="0">
                <a:solidFill>
                  <a:srgbClr val="355D64"/>
                </a:solidFill>
                <a:latin typeface="Arial" pitchFamily="34" charset="0"/>
                <a:ea typeface="Arial" pitchFamily="34" charset="-122"/>
                <a:cs typeface="Arial" pitchFamily="34" charset="-120"/>
              </a:rPr>
              <a:t>CA no existe</a:t>
            </a:r>
            <a:r>
              <a:rPr lang="en-US" sz="1300" dirty="0">
                <a:solidFill>
                  <a:srgbClr val="1A1A1A"/>
                </a:solidFill>
                <a:latin typeface="Arial" pitchFamily="34" charset="0"/>
                <a:ea typeface="Arial" pitchFamily="34" charset="-122"/>
                <a:cs typeface="Arial" pitchFamily="34" charset="-120"/>
              </a:rPr>
              <a:t> en un sistema distribuido. La P no se elige.</a:t>
            </a:r>
            <a:endParaRPr lang="en-US" sz="1300" dirty="0"/>
          </a:p>
        </p:txBody>
      </p:sp>
      <p:pic>
        <p:nvPicPr>
          <p:cNvPr id="20" name="Image 0" descr="/home/claude/memes/gato_ok.png"/>
          <p:cNvPicPr>
            <a:picLocks noChangeAspect="1"/>
          </p:cNvPicPr>
          <p:nvPr/>
        </p:nvPicPr>
        <p:blipFill>
          <a:blip r:embed="rId3"/>
          <a:stretch>
            <a:fillRect/>
          </a:stretch>
        </p:blipFill>
        <p:spPr>
          <a:xfrm>
            <a:off x="8732520" y="1325880"/>
            <a:ext cx="2514600" cy="3154680"/>
          </a:xfrm>
          <a:prstGeom prst="rect">
            <a:avLst/>
          </a:prstGeom>
        </p:spPr>
      </p:pic>
      <p:sp>
        <p:nvSpPr>
          <p:cNvPr id="21" name="Shape 18"/>
          <p:cNvSpPr/>
          <p:nvPr/>
        </p:nvSpPr>
        <p:spPr>
          <a:xfrm>
            <a:off x="777240" y="5742432"/>
            <a:ext cx="10634472" cy="621792"/>
          </a:xfrm>
          <a:prstGeom prst="rect">
            <a:avLst/>
          </a:prstGeom>
          <a:solidFill>
            <a:srgbClr val="4BABA0"/>
          </a:solidFill>
          <a:ln/>
        </p:spPr>
      </p:sp>
      <p:sp>
        <p:nvSpPr>
          <p:cNvPr id="22" name="Text 19"/>
          <p:cNvSpPr txBox="1"/>
          <p:nvPr/>
        </p:nvSpPr>
        <p:spPr>
          <a:xfrm>
            <a:off x="978408" y="5815584"/>
            <a:ext cx="10232136" cy="475488"/>
          </a:xfrm>
          <a:prstGeom prst="rect">
            <a:avLst/>
          </a:prstGeom>
          <a:noFill/>
          <a:ln/>
        </p:spPr>
        <p:txBody>
          <a:bodyPr wrap="square" lIns="0" tIns="0" rIns="0" bIns="0" rtlCol="0" anchor="ctr"/>
          <a:lstStyle/>
          <a:p>
            <a:pPr marL="0" indent="0">
              <a:buNone/>
            </a:pPr>
            <a:r>
              <a:rPr lang="en-US" sz="1350" b="1" dirty="0">
                <a:solidFill>
                  <a:srgbClr val="FFFFFF"/>
                </a:solidFill>
                <a:latin typeface="Arial"/>
                <a:ea typeface="Arial" pitchFamily="34" charset="-122"/>
                <a:cs typeface="Arial"/>
              </a:rPr>
              <a:t>Y la </a:t>
            </a:r>
            <a:r>
              <a:rPr lang="en-US" sz="1350" b="1" dirty="0" err="1">
                <a:solidFill>
                  <a:srgbClr val="FFFFFF"/>
                </a:solidFill>
                <a:latin typeface="Arial"/>
                <a:ea typeface="Arial" pitchFamily="34" charset="-122"/>
                <a:cs typeface="Arial"/>
              </a:rPr>
              <a:t>regla</a:t>
            </a:r>
            <a:r>
              <a:rPr lang="en-US" sz="1350" b="1" dirty="0">
                <a:solidFill>
                  <a:srgbClr val="FFFFFF"/>
                </a:solidFill>
                <a:latin typeface="Arial"/>
                <a:ea typeface="Arial" pitchFamily="34" charset="-122"/>
                <a:cs typeface="Arial"/>
              </a:rPr>
              <a:t> transversal: </a:t>
            </a:r>
            <a:r>
              <a:rPr lang="en-US" sz="1350" b="1" dirty="0" err="1">
                <a:solidFill>
                  <a:srgbClr val="FFFFFF"/>
                </a:solidFill>
                <a:latin typeface="Arial"/>
                <a:ea typeface="Arial" pitchFamily="34" charset="-122"/>
                <a:cs typeface="Arial"/>
              </a:rPr>
              <a:t>declara</a:t>
            </a:r>
            <a:r>
              <a:rPr lang="en-US" sz="1350" b="1" dirty="0">
                <a:solidFill>
                  <a:srgbClr val="FFFFFF"/>
                </a:solidFill>
                <a:latin typeface="Arial"/>
                <a:ea typeface="Arial" pitchFamily="34" charset="-122"/>
                <a:cs typeface="Arial"/>
              </a:rPr>
              <a:t> el </a:t>
            </a:r>
            <a:r>
              <a:rPr lang="en-US" sz="1350" b="1" dirty="0" err="1">
                <a:solidFill>
                  <a:srgbClr val="FFFFFF"/>
                </a:solidFill>
                <a:latin typeface="Arial"/>
                <a:ea typeface="Arial" pitchFamily="34" charset="-122"/>
                <a:cs typeface="Arial"/>
              </a:rPr>
              <a:t>supuesto</a:t>
            </a:r>
            <a:r>
              <a:rPr lang="en-US" sz="1350" b="1" dirty="0">
                <a:solidFill>
                  <a:srgbClr val="FFFFFF"/>
                </a:solidFill>
                <a:latin typeface="Arial"/>
                <a:ea typeface="Arial" pitchFamily="34" charset="-122"/>
                <a:cs typeface="Arial"/>
              </a:rPr>
              <a:t> </a:t>
            </a:r>
            <a:r>
              <a:rPr lang="en-US" sz="1350" b="1" dirty="0" err="1">
                <a:solidFill>
                  <a:srgbClr val="FFFFFF"/>
                </a:solidFill>
                <a:latin typeface="Arial"/>
                <a:ea typeface="Arial" pitchFamily="34" charset="-122"/>
                <a:cs typeface="Arial"/>
              </a:rPr>
              <a:t>por</a:t>
            </a:r>
            <a:r>
              <a:rPr lang="en-US" sz="1350" b="1" dirty="0">
                <a:solidFill>
                  <a:srgbClr val="FFFFFF"/>
                </a:solidFill>
                <a:latin typeface="Arial"/>
                <a:ea typeface="Arial" pitchFamily="34" charset="-122"/>
                <a:cs typeface="Arial"/>
              </a:rPr>
              <a:t> </a:t>
            </a:r>
            <a:r>
              <a:rPr lang="en-US" sz="1350" b="1" dirty="0" err="1">
                <a:solidFill>
                  <a:srgbClr val="FFFFFF"/>
                </a:solidFill>
                <a:latin typeface="Arial"/>
                <a:ea typeface="Arial" pitchFamily="34" charset="-122"/>
                <a:cs typeface="Arial"/>
              </a:rPr>
              <a:t>escrito</a:t>
            </a:r>
            <a:r>
              <a:rPr lang="en-US" sz="1350" b="1" dirty="0">
                <a:solidFill>
                  <a:srgbClr val="FFFFFF"/>
                </a:solidFill>
                <a:latin typeface="Arial"/>
                <a:ea typeface="Arial" pitchFamily="34" charset="-122"/>
                <a:cs typeface="Arial"/>
              </a:rPr>
              <a:t>.</a:t>
            </a:r>
            <a:endParaRPr lang="en-US" sz="1350" dirty="0">
              <a:latin typeface="Arial"/>
              <a:cs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1">
    <p:bg>
      <p:bgPr>
        <a:solidFill>
          <a:srgbClr val="83C8BD"/>
        </a:solidFill>
        <a:effectLst/>
      </p:bgPr>
    </p:bg>
    <p:spTree>
      <p:nvGrpSpPr>
        <p:cNvPr id="1" name=""/>
        <p:cNvGrpSpPr/>
        <p:nvPr/>
      </p:nvGrpSpPr>
      <p:grpSpPr>
        <a:xfrm>
          <a:off x="0" y="0"/>
          <a:ext cx="0" cy="0"/>
          <a:chOff x="0" y="0"/>
          <a:chExt cx="0" cy="0"/>
        </a:xfrm>
      </p:grpSpPr>
      <p:sp>
        <p:nvSpPr>
          <p:cNvPr id="2" name="Shape 0"/>
          <p:cNvSpPr/>
          <p:nvPr/>
        </p:nvSpPr>
        <p:spPr>
          <a:xfrm>
            <a:off x="292608" y="201168"/>
            <a:ext cx="11603736" cy="6455664"/>
          </a:xfrm>
          <a:prstGeom prst="roundRect">
            <a:avLst>
              <a:gd name="adj" fmla="val 850"/>
            </a:avLst>
          </a:prstGeom>
          <a:solidFill>
            <a:srgbClr val="FFFFFF"/>
          </a:solidFill>
          <a:ln w="50800">
            <a:solidFill>
              <a:srgbClr val="5A99D1"/>
            </a:solidFill>
            <a:prstDash val="solid"/>
          </a:ln>
        </p:spPr>
      </p:sp>
      <p:sp>
        <p:nvSpPr>
          <p:cNvPr id="3" name="Text 1"/>
          <p:cNvSpPr txBox="1"/>
          <p:nvPr/>
        </p:nvSpPr>
        <p:spPr>
          <a:xfrm>
            <a:off x="914400" y="2331720"/>
            <a:ext cx="10360152" cy="914400"/>
          </a:xfrm>
          <a:prstGeom prst="rect">
            <a:avLst/>
          </a:prstGeom>
          <a:noFill/>
          <a:ln/>
        </p:spPr>
        <p:txBody>
          <a:bodyPr wrap="square" lIns="0" tIns="0" rIns="0" bIns="0" rtlCol="0" anchor="t"/>
          <a:lstStyle/>
          <a:p>
            <a:pPr marL="0" indent="0" algn="ctr">
              <a:buNone/>
            </a:pPr>
            <a:r>
              <a:rPr lang="en-US" sz="6000" b="1" dirty="0">
                <a:solidFill>
                  <a:srgbClr val="DE6B12"/>
                </a:solidFill>
                <a:latin typeface="Arial" pitchFamily="34" charset="0"/>
                <a:ea typeface="Arial" pitchFamily="34" charset="-122"/>
                <a:cs typeface="Arial" pitchFamily="34" charset="-120"/>
              </a:rPr>
              <a:t>ÉXITO!!!!</a:t>
            </a:r>
            <a:endParaRPr lang="en-US" sz="6000" dirty="0"/>
          </a:p>
        </p:txBody>
      </p:sp>
      <p:sp>
        <p:nvSpPr>
          <p:cNvPr id="4" name="Shape 2"/>
          <p:cNvSpPr/>
          <p:nvPr/>
        </p:nvSpPr>
        <p:spPr>
          <a:xfrm>
            <a:off x="4206240" y="3429000"/>
            <a:ext cx="3776472" cy="438912"/>
          </a:xfrm>
          <a:prstGeom prst="rect">
            <a:avLst/>
          </a:prstGeom>
          <a:solidFill>
            <a:srgbClr val="4BABA0"/>
          </a:solidFill>
          <a:ln/>
        </p:spPr>
      </p:sp>
      <p:sp>
        <p:nvSpPr>
          <p:cNvPr id="5" name="Text 3"/>
          <p:cNvSpPr txBox="1"/>
          <p:nvPr/>
        </p:nvSpPr>
        <p:spPr>
          <a:xfrm>
            <a:off x="4206240" y="3538728"/>
            <a:ext cx="3776472" cy="274320"/>
          </a:xfrm>
          <a:prstGeom prst="rect">
            <a:avLst/>
          </a:prstGeom>
          <a:noFill/>
          <a:ln/>
        </p:spPr>
        <p:txBody>
          <a:bodyPr wrap="square" lIns="0" tIns="0" rIns="0" bIns="0" rtlCol="0" anchor="t"/>
          <a:lstStyle/>
          <a:p>
            <a:pPr marL="0" indent="0" algn="ctr">
              <a:buNone/>
            </a:pPr>
            <a:r>
              <a:rPr lang="en-US" sz="1300" b="1" dirty="0">
                <a:solidFill>
                  <a:srgbClr val="FFFFFF"/>
                </a:solidFill>
                <a:latin typeface="Arial" pitchFamily="34" charset="0"/>
                <a:ea typeface="Arial" pitchFamily="34" charset="-122"/>
                <a:cs typeface="Arial" pitchFamily="34" charset="-120"/>
              </a:rPr>
              <a:t>Dudas: escríbanme antes de la solemne</a:t>
            </a:r>
            <a:endParaRPr lang="en-US" sz="1300" dirty="0"/>
          </a:p>
        </p:txBody>
      </p:sp>
      <p:pic>
        <p:nvPicPr>
          <p:cNvPr id="6" name="Image 0" descr="/home/claude/memes/perro_exito.png"/>
          <p:cNvPicPr>
            <a:picLocks noChangeAspect="1"/>
          </p:cNvPicPr>
          <p:nvPr/>
        </p:nvPicPr>
        <p:blipFill>
          <a:blip r:embed="rId3"/>
          <a:stretch>
            <a:fillRect/>
          </a:stretch>
        </p:blipFill>
        <p:spPr>
          <a:xfrm>
            <a:off x="9464040" y="4160520"/>
            <a:ext cx="2148840" cy="21305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Panorámica</PresentationFormat>
  <Paragraphs>0</Paragraphs>
  <Slides>24</Slides>
  <Notes>24</Notes>
  <HiddenSlides>0</HiddenSlides>
  <MMClips>0</MMClips>
  <ScaleCrop>false</ScaleCrop>
  <HeadingPairs>
    <vt:vector size="4" baseType="variant">
      <vt:variant>
        <vt:lpstr>Tema</vt:lpstr>
      </vt:variant>
      <vt:variant>
        <vt:i4>1</vt:i4>
      </vt:variant>
      <vt:variant>
        <vt:lpstr>Títulos de diapositiva</vt:lpstr>
      </vt:variant>
      <vt:variant>
        <vt:i4>24</vt:i4>
      </vt:variant>
    </vt:vector>
  </HeadingPairs>
  <TitlesOfParts>
    <vt:vector size="25" baseType="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Repaso Solemne 1 - Big Data</dc:title>
  <dc:subject>PptxGenJS Presentation</dc:subject>
  <dc:creator>Roberto Ibaceta Cisternas</dc:creator>
  <cp:lastModifiedBy>Roberto Ibaceta Cisternas</cp:lastModifiedBy>
  <cp:revision>76</cp:revision>
  <dcterms:created xsi:type="dcterms:W3CDTF">2026-09-22T19:05:09Z</dcterms:created>
  <dcterms:modified xsi:type="dcterms:W3CDTF">2026-09-22T19:36:29Z</dcterms:modified>
</cp:coreProperties>
</file>